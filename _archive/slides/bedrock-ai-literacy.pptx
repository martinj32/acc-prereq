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Bedrock:
AI Literacy</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SELF-PACED</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at a command post terminal reviewing AI-generated analysis on a dual-monitor workstation]</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An LLM predicts text from learned patterns — not rules, not memory, not live data. That single fact explains its extraordinary capability and its exact failure modes.</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(6 sections)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State what an LLM actually does and why it is not the same as knowing</a:t>
            </a:r>
          </a:p>
          <a:p>
            <a:pPr algn="l">
              <a:spcBef>
                <a:spcPts val="400"/>
              </a:spcBef>
            </a:pPr>
            <a:r>
              <a:rPr sz="1300" b="0">
                <a:solidFill>
                  <a:srgbClr val="A8B4C8"/>
                </a:solidFill>
                <a:latin typeface="Calibri"/>
              </a:rPr>
              <a:t>  ›  Explain tokens and context windows in plain terms</a:t>
            </a:r>
          </a:p>
          <a:p>
            <a:pPr algn="l">
              <a:spcBef>
                <a:spcPts val="400"/>
              </a:spcBef>
            </a:pPr>
            <a:r>
              <a:rPr sz="1300" b="0">
                <a:solidFill>
                  <a:srgbClr val="A8B4C8"/>
                </a:solidFill>
                <a:latin typeface="Calibri"/>
              </a:rPr>
              <a:t>  ›  Name the four failure modes and produce a hallucination on demand</a:t>
            </a:r>
          </a:p>
          <a:p>
            <a:pPr algn="l">
              <a:spcBef>
                <a:spcPts val="400"/>
              </a:spcBef>
            </a:pPr>
            <a:r>
              <a:rPr sz="1300" b="0">
                <a:solidFill>
                  <a:srgbClr val="A8B4C8"/>
                </a:solidFill>
                <a:latin typeface="Calibri"/>
              </a:rPr>
              <a:t>  ›  Write a deliberate, structured prompt using the four-element framework</a:t>
            </a:r>
          </a:p>
          <a:p>
            <a:pPr algn="l">
              <a:spcBef>
                <a:spcPts val="400"/>
              </a:spcBef>
            </a:pPr>
            <a:r>
              <a:rPr sz="1300" b="0">
                <a:solidFill>
                  <a:srgbClr val="A8B4C8"/>
                </a:solidFill>
                <a:latin typeface="Calibri"/>
              </a:rPr>
              <a:t>  ›  Identify how AI is delivered and paid for — and why model choice has a cost</a:t>
            </a:r>
          </a:p>
          <a:p>
            <a:pPr algn="l">
              <a:spcBef>
                <a:spcPts val="400"/>
              </a:spcBef>
            </a:pPr>
            <a:r>
              <a:rPr sz="1300" b="0">
                <a:solidFill>
                  <a:srgbClr val="A8B4C8"/>
                </a:solidFill>
                <a:latin typeface="Calibri"/>
              </a:rPr>
              <a:t>  ›  Apply the classify-before-you-paste rule to content you handle every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What an LLM
Actually Is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model predicts what comes next — not rules, not memory, not a lookup table. Fluent output is not the same as correct output.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reading a training manual — learning patterns, not memorizing rules]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Prediction, Not Lookup</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reads a sequence of text and predicts what comes next — one chunk at a time.</a:t>
            </a:r>
          </a:p>
          <a:p>
            <a:pPr algn="l">
              <a:spcBef>
                <a:spcPts val="700"/>
              </a:spcBef>
            </a:pPr>
            <a:r>
              <a:rPr sz="1500" b="0">
                <a:solidFill>
                  <a:srgbClr val="FFFFFF"/>
                </a:solidFill>
                <a:latin typeface="Calibri"/>
              </a:rPr>
              <a:t>  ›  No lookup table. No truth check. No rules written by a programmer.</a:t>
            </a:r>
          </a:p>
          <a:p>
            <a:pPr algn="l">
              <a:spcBef>
                <a:spcPts val="700"/>
              </a:spcBef>
            </a:pPr>
            <a:r>
              <a:rPr sz="1500" b="0">
                <a:solidFill>
                  <a:srgbClr val="FFFFFF"/>
                </a:solidFill>
                <a:latin typeface="Calibri"/>
              </a:rPr>
              <a:t>  ›  Given everything written so far: what is the statistically most likely next piece?</a:t>
            </a:r>
          </a:p>
          <a:p>
            <a:pPr algn="l">
              <a:spcBef>
                <a:spcPts val="700"/>
              </a:spcBef>
            </a:pPr>
            <a:r>
              <a:rPr sz="1500" b="0">
                <a:solidFill>
                  <a:srgbClr val="FFFFFF"/>
                </a:solidFill>
                <a:latin typeface="Calibri"/>
              </a:rPr>
              <a:t>  ›  Trained, not programmed.</a:t>
            </a:r>
          </a:p>
          <a:p>
            <a:pPr algn="l">
              <a:spcBef>
                <a:spcPts val="300"/>
              </a:spcBef>
            </a:pPr>
            <a:r>
              <a:rPr sz="1300" b="0">
                <a:solidFill>
                  <a:srgbClr val="A8B4C8"/>
                </a:solidFill>
                <a:latin typeface="Calibri"/>
              </a:rPr>
              <a:t>      ◦  No one wrote 'Paris is the capital of France.' The model trained on enough text that it became the likely completion.</a:t>
            </a:r>
          </a:p>
          <a:p>
            <a:pPr algn="l">
              <a:spcBef>
                <a:spcPts val="300"/>
              </a:spcBef>
            </a:pPr>
            <a:r>
              <a:rPr sz="1300" b="0">
                <a:solidFill>
                  <a:srgbClr val="A8B4C8"/>
                </a:solidFill>
                <a:latin typeface="Calibri"/>
              </a:rPr>
              <a:t>      ◦  Upside: it generalizes across almost any domain.</a:t>
            </a:r>
          </a:p>
          <a:p>
            <a:pPr algn="l">
              <a:spcBef>
                <a:spcPts val="300"/>
              </a:spcBef>
            </a:pPr>
            <a:r>
              <a:rPr sz="1300" b="0">
                <a:solidFill>
                  <a:srgbClr val="A8B4C8"/>
                </a:solidFill>
                <a:latin typeface="Calibri"/>
              </a:rPr>
              <a:t>      ◦  Failure mode: if training data was wrong or thin in some area, the model learned those patterns too.</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only accurate verb is 'predicts.' The model does not know, want, think, or lie. Catch yourself using those words and swap in 'predicts.'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LLM Is the Engine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By itself, the LLM is a brain in a jar.</a:t>
            </a:r>
          </a:p>
          <a:p>
            <a:pPr algn="l">
              <a:spcBef>
                <a:spcPts val="700"/>
              </a:spcBef>
            </a:pPr>
            <a:r>
              <a:rPr sz="1500" b="0">
                <a:solidFill>
                  <a:srgbClr val="FFFFFF"/>
                </a:solidFill>
                <a:latin typeface="Calibri"/>
              </a:rPr>
              <a:t>  ›  Capable of reasoning in text — incapable of acting on its own.</a:t>
            </a:r>
          </a:p>
          <a:p>
            <a:pPr algn="l">
              <a:spcBef>
                <a:spcPts val="700"/>
              </a:spcBef>
            </a:pPr>
            <a:r>
              <a:rPr sz="1500" b="0">
                <a:solidFill>
                  <a:srgbClr val="FFFFFF"/>
                </a:solidFill>
                <a:latin typeface="Calibri"/>
              </a:rPr>
              <a:t>  ›  No body. No memory between chats. No live connection to the world.</a:t>
            </a:r>
          </a:p>
          <a:p>
            <a:pPr algn="l">
              <a:spcBef>
                <a:spcPts val="700"/>
              </a:spcBef>
            </a:pPr>
            <a:r>
              <a:rPr sz="1500" b="0">
                <a:solidFill>
                  <a:srgbClr val="FFFFFF"/>
                </a:solidFill>
                <a:latin typeface="Calibri"/>
              </a:rPr>
              <a:t>  ›  Fluent, confident output is not the same as correct output.</a:t>
            </a:r>
          </a:p>
          <a:p>
            <a:pPr algn="l">
              <a:spcBef>
                <a:spcPts val="700"/>
              </a:spcBef>
            </a:pPr>
            <a:r>
              <a:rPr sz="1500" b="0">
                <a:solidFill>
                  <a:srgbClr val="FFFFFF"/>
                </a:solidFill>
                <a:latin typeface="Calibri"/>
              </a:rPr>
              <a:t>  ›  Both are true simultaneously — that is the working mental model.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Warning: Anthropomorphism is a wired cognitive shortcut. 'It knew the answer' will feel natural and will mislead you at every later step. The accurate frame is: it predicted a statistically likely completion.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The model just gave you a confident-sounding answer.
What would it take to verify it? Where would you check?
A language model was never given a rule that says 'Paris is the capital of France.' How does it produce that answer?
Think through: training on patterns vs. looked up vs. hard-coded rule — which is it, and what does that mean for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What an LLM Actually Is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Type an incomplete sentence on a topic you know well and submit it. Read what the model predicts.</a:t>
            </a:r>
          </a:p>
          <a:p>
            <a:pPr algn="l">
              <a:spcBef>
                <a:spcPts val="1000"/>
              </a:spcBef>
            </a:pPr>
            <a:r>
              <a:rPr sz="1400" b="0">
                <a:solidFill>
                  <a:srgbClr val="FFFFFF"/>
                </a:solidFill>
                <a:latin typeface="Calibri"/>
              </a:rPr>
              <a:t>  2.   Add the word 'definitely' or 'obviously' to the same sentence and submit again. Does the completion change?</a:t>
            </a:r>
          </a:p>
          <a:p>
            <a:pPr algn="l">
              <a:spcBef>
                <a:spcPts val="1000"/>
              </a:spcBef>
            </a:pPr>
            <a:r>
              <a:rPr sz="1400" b="0">
                <a:solidFill>
                  <a:srgbClr val="FFFFFF"/>
                </a:solidFill>
                <a:latin typeface="Calibri"/>
              </a:rPr>
              <a:t>  3.   Ask the model a factual question you already know the answer to. Check the output for accuracy.</a:t>
            </a:r>
          </a:p>
          <a:p>
            <a:pPr algn="l">
              <a:spcBef>
                <a:spcPts val="1000"/>
              </a:spcBef>
            </a:pPr>
            <a:r>
              <a:rPr sz="1400" b="0">
                <a:solidFill>
                  <a:srgbClr val="FFFFFF"/>
                </a:solidFill>
                <a:latin typeface="Calibri"/>
              </a:rPr>
              <a:t>  4.   Ask the exact same question in a new chat. Is the answer identical, or slightly different?</a:t>
            </a:r>
          </a:p>
          <a:p>
            <a:pPr algn="l">
              <a:spcBef>
                <a:spcPts val="1000"/>
              </a:spcBef>
            </a:pPr>
            <a:r>
              <a:rPr sz="1400" b="0">
                <a:solidFill>
                  <a:srgbClr val="FFFFFF"/>
                </a:solidFill>
                <a:latin typeface="Calibri"/>
              </a:rPr>
              <a:t>  5.   Ask yourself: 'How would I verify any of these outputs if I did not already know the answer?'</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testing radio frequencies — observing how small input changes affect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What an LLM Actually Is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model predicts what comes next — statistically likely, not looked up or rule-based.</a:t>
            </a:r>
          </a:p>
          <a:p>
            <a:pPr algn="l">
              <a:spcBef>
                <a:spcPts val="1400"/>
              </a:spcBef>
            </a:pPr>
            <a:r>
              <a:rPr sz="1600" b="0">
                <a:solidFill>
                  <a:srgbClr val="FFFFFF"/>
                </a:solidFill>
                <a:latin typeface="Calibri"/>
              </a:rPr>
              <a:t>  ›  Trained, not programmed: it learned patterns from text, including the wrong ones.</a:t>
            </a:r>
          </a:p>
          <a:p>
            <a:pPr algn="l">
              <a:spcBef>
                <a:spcPts val="1400"/>
              </a:spcBef>
            </a:pPr>
            <a:r>
              <a:rPr sz="1600" b="0">
                <a:solidFill>
                  <a:srgbClr val="FFFFFF"/>
                </a:solidFill>
                <a:latin typeface="Calibri"/>
              </a:rPr>
              <a:t>  ›  Fluent and confident output is not the same as correct output.</a:t>
            </a:r>
          </a:p>
          <a:p>
            <a:pPr algn="l">
              <a:spcBef>
                <a:spcPts val="1400"/>
              </a:spcBef>
            </a:pPr>
            <a:r>
              <a:rPr sz="1600" b="0">
                <a:solidFill>
                  <a:srgbClr val="FFFFFF"/>
                </a:solidFill>
                <a:latin typeface="Calibri"/>
              </a:rPr>
              <a:t>  ›  The only accurate verb is 'predicts' — not knows, thinks, or remembers.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Tokens and
Context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model reads in tokens — roughly 0.75 of a word each — and can only hold a fixed number at once. Fill that limit and earlier content starts to fall out.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Tactical whiteboard filling up with overlapping mission graphics — running out of space]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Token?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The model does not read words — it reads chunks of text called tokens.</a:t>
            </a:r>
          </a:p>
          <a:p>
            <a:pPr algn="l">
              <a:spcBef>
                <a:spcPts val="700"/>
              </a:spcBef>
            </a:pPr>
            <a:r>
              <a:rPr sz="1500" b="0">
                <a:solidFill>
                  <a:srgbClr val="FFFFFF"/>
                </a:solidFill>
                <a:latin typeface="Calibri"/>
              </a:rPr>
              <a:t>  ›  In English prose, one token is roughly three-quarters of a word.</a:t>
            </a:r>
          </a:p>
          <a:p>
            <a:pPr algn="l">
              <a:spcBef>
                <a:spcPts val="700"/>
              </a:spcBef>
            </a:pPr>
            <a:r>
              <a:rPr sz="1500" b="0">
                <a:solidFill>
                  <a:srgbClr val="FFFFFF"/>
                </a:solidFill>
                <a:latin typeface="Calibri"/>
              </a:rPr>
              <a:t>  ›  Code and non-English text tokenize less efficiently — more tokens per word.</a:t>
            </a:r>
          </a:p>
          <a:p>
            <a:pPr algn="l">
              <a:spcBef>
                <a:spcPts val="700"/>
              </a:spcBef>
            </a:pPr>
            <a:r>
              <a:rPr sz="1500" b="0">
                <a:solidFill>
                  <a:srgbClr val="FFFFFF"/>
                </a:solidFill>
                <a:latin typeface="Calibri"/>
              </a:rPr>
              <a:t>  ›  You do not need to count tokens precisely.</a:t>
            </a:r>
          </a:p>
          <a:p>
            <a:pPr algn="l">
              <a:spcBef>
                <a:spcPts val="700"/>
              </a:spcBef>
            </a:pPr>
            <a:r>
              <a:rPr sz="1500" b="0">
                <a:solidFill>
                  <a:srgbClr val="FFFFFF"/>
                </a:solidFill>
                <a:latin typeface="Calibri"/>
              </a:rPr>
              <a:t>  ›  The instinct to keep input focused is the deliverable from this section.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Context Window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Every model has a hard ceiling on tokens it can hold in a single conversation.</a:t>
            </a:r>
          </a:p>
          <a:p>
            <a:pPr algn="l">
              <a:spcBef>
                <a:spcPts val="700"/>
              </a:spcBef>
            </a:pPr>
            <a:r>
              <a:rPr sz="1500" b="0">
                <a:solidFill>
                  <a:srgbClr val="FFFFFF"/>
                </a:solidFill>
                <a:latin typeface="Calibri"/>
              </a:rPr>
              <a:t>  ›  That ceiling is the context window — a whiteboard with finite space.</a:t>
            </a:r>
          </a:p>
          <a:p>
            <a:pPr algn="l">
              <a:spcBef>
                <a:spcPts val="700"/>
              </a:spcBef>
            </a:pPr>
            <a:r>
              <a:rPr sz="1500" b="0">
                <a:solidFill>
                  <a:srgbClr val="FFFFFF"/>
                </a:solidFill>
                <a:latin typeface="Calibri"/>
              </a:rPr>
              <a:t>  ›  New writing crowds out old writing once it fills.</a:t>
            </a:r>
          </a:p>
          <a:p>
            <a:pPr algn="l">
              <a:spcBef>
                <a:spcPts val="700"/>
              </a:spcBef>
            </a:pPr>
            <a:r>
              <a:rPr sz="1500" b="0">
                <a:solidFill>
                  <a:srgbClr val="FFFFFF"/>
                </a:solidFill>
                <a:latin typeface="Calibri"/>
              </a:rPr>
              <a:t>  ›  Current approximate sizes (verify before teaching — these change with releases):</a:t>
            </a:r>
          </a:p>
          <a:p>
            <a:pPr algn="l">
              <a:spcBef>
                <a:spcPts val="300"/>
              </a:spcBef>
            </a:pPr>
            <a:r>
              <a:rPr sz="1300" b="0">
                <a:solidFill>
                  <a:srgbClr val="A8B4C8"/>
                </a:solidFill>
                <a:latin typeface="Calibri"/>
              </a:rPr>
              <a:t>      ◦  Claude: 200,000 tokens</a:t>
            </a:r>
          </a:p>
          <a:p>
            <a:pPr algn="l">
              <a:spcBef>
                <a:spcPts val="300"/>
              </a:spcBef>
            </a:pPr>
            <a:r>
              <a:rPr sz="1300" b="0">
                <a:solidFill>
                  <a:srgbClr val="A8B4C8"/>
                </a:solidFill>
                <a:latin typeface="Calibri"/>
              </a:rPr>
              <a:t>      ◦  GPT-4o: 128,000 tokens</a:t>
            </a:r>
          </a:p>
          <a:p>
            <a:pPr algn="l">
              <a:spcBef>
                <a:spcPts val="300"/>
              </a:spcBef>
            </a:pPr>
            <a:r>
              <a:rPr sz="1300" b="0">
                <a:solidFill>
                  <a:srgbClr val="A8B4C8"/>
                </a:solidFill>
                <a:latin typeface="Calibri"/>
              </a:rPr>
              <a:t>      ◦  Gemini 2.0: 1,000,000+ tokens (bigger is not always better — quality degrades in the middle)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What a full window looks like: the model starts hedging. It contradicts something it said confidently ten turns ago. It forgets a constraint you set at the start. That is not a bug — it is the whiteboard running out of space.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Two Rules for Fresh Chats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Start a fresh chat when:</a:t>
            </a:r>
          </a:p>
          <a:p>
            <a:pPr algn="l">
              <a:spcBef>
                <a:spcPts val="300"/>
              </a:spcBef>
            </a:pPr>
            <a:r>
              <a:rPr sz="1300" b="0">
                <a:solidFill>
                  <a:srgbClr val="A8B4C8"/>
                </a:solidFill>
                <a:latin typeface="Calibri"/>
              </a:rPr>
              <a:t>      ◦  Rule 1: The task has changed direction and earlier turns are dead weight.</a:t>
            </a:r>
          </a:p>
          <a:p>
            <a:pPr algn="l">
              <a:spcBef>
                <a:spcPts val="300"/>
              </a:spcBef>
            </a:pPr>
            <a:r>
              <a:rPr sz="1300" b="0">
                <a:solidFill>
                  <a:srgbClr val="A8B4C8"/>
                </a:solidFill>
                <a:latin typeface="Calibri"/>
              </a:rPr>
              <a:t>      ◦  Rule 2: The model is drifting — hedging on things it stated confidently before.</a:t>
            </a:r>
          </a:p>
          <a:p>
            <a:pPr algn="l">
              <a:spcBef>
                <a:spcPts val="700"/>
              </a:spcBef>
            </a:pPr>
            <a:r>
              <a:rPr sz="1500" b="0">
                <a:solidFill>
                  <a:srgbClr val="FFFFFF"/>
                </a:solidFill>
                <a:latin typeface="Calibri"/>
              </a:rPr>
              <a:t>  ›  Models attend better to the beginning and end of their context window than to the middle.</a:t>
            </a:r>
          </a:p>
          <a:p>
            <a:pPr algn="l">
              <a:spcBef>
                <a:spcPts val="700"/>
              </a:spcBef>
            </a:pPr>
            <a:r>
              <a:rPr sz="1500" b="0">
                <a:solidFill>
                  <a:srgbClr val="FFFFFF"/>
                </a:solidFill>
                <a:latin typeface="Calibri"/>
              </a:rPr>
              <a:t>  ›  Critical instructions buried mid-conversation may be partially ignored.</a:t>
            </a:r>
          </a:p>
          <a:p>
            <a:pPr algn="l">
              <a:spcBef>
                <a:spcPts val="700"/>
              </a:spcBef>
            </a:pPr>
            <a:r>
              <a:rPr sz="1500" b="0">
                <a:solidFill>
                  <a:srgbClr val="FFFFFF"/>
                </a:solidFill>
                <a:latin typeface="Calibri"/>
              </a:rPr>
              <a:t>  ›  Proactive session management is a skill — not a sign that something is wrong.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practical rule: start fresh before you need to, not after you notice the degradation. A ten-minute-old constraint buried in a long chat is weaker than a constraint in a fresh session.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set an important constraint at the start of a long conversation. Ten exchanges later, the model seems to have forgotten it.
What happened, and what would you do differently next time?
You are in a long chat and the model starts contradicting instructions you gave at the start. What is the most likely cause?
A) The model changed its mind
B) You used the wrong model for this task
C) Earlier content has been crowded out of the context window
D) The model is testing whether you notice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Tokens and Context</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a fresh chat and paste several paragraphs of dense text.</a:t>
            </a:r>
          </a:p>
          <a:p>
            <a:pPr algn="l">
              <a:spcBef>
                <a:spcPts val="1000"/>
              </a:spcBef>
            </a:pPr>
            <a:r>
              <a:rPr sz="1400" b="0">
                <a:solidFill>
                  <a:srgbClr val="FFFFFF"/>
                </a:solidFill>
                <a:latin typeface="Calibri"/>
              </a:rPr>
              <a:t>  2.   Ask the model to summarize just the first paragraph.</a:t>
            </a:r>
          </a:p>
          <a:p>
            <a:pPr algn="l">
              <a:spcBef>
                <a:spcPts val="1000"/>
              </a:spcBef>
            </a:pPr>
            <a:r>
              <a:rPr sz="1400" b="0">
                <a:solidFill>
                  <a:srgbClr val="FFFFFF"/>
                </a:solidFill>
                <a:latin typeface="Calibri"/>
              </a:rPr>
              <a:t>  3.   In the same chat, ask about something from the end of what you pasted.</a:t>
            </a:r>
          </a:p>
          <a:p>
            <a:pPr algn="l">
              <a:spcBef>
                <a:spcPts val="1000"/>
              </a:spcBef>
            </a:pPr>
            <a:r>
              <a:rPr sz="1400" b="0">
                <a:solidFill>
                  <a:srgbClr val="FFFFFF"/>
                </a:solidFill>
                <a:latin typeface="Calibri"/>
              </a:rPr>
              <a:t>  4.   Start a new chat and ask the same question about the end. Compare the quality.</a:t>
            </a:r>
          </a:p>
          <a:p>
            <a:pPr algn="l">
              <a:spcBef>
                <a:spcPts val="1000"/>
              </a:spcBef>
            </a:pPr>
            <a:r>
              <a:rPr sz="1400" b="0">
                <a:solidFill>
                  <a:srgbClr val="FFFFFF"/>
                </a:solidFill>
                <a:latin typeface="Calibri"/>
              </a:rPr>
              <a:t>  5.   Notice: does the model attend differently to content at the top vs. buried in the middle?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reviewing a long operation log — noting what has been forgotten or dropped off the bottom]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Tokens and Context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model reads in tokens — roughly 0.75 of an English word each.</a:t>
            </a:r>
          </a:p>
          <a:p>
            <a:pPr algn="l">
              <a:spcBef>
                <a:spcPts val="1400"/>
              </a:spcBef>
            </a:pPr>
            <a:r>
              <a:rPr sz="1600" b="0">
                <a:solidFill>
                  <a:srgbClr val="FFFFFF"/>
                </a:solidFill>
                <a:latin typeface="Calibri"/>
              </a:rPr>
              <a:t>  ›  Every model has a context window — a finite whiteboard that fills up.</a:t>
            </a:r>
          </a:p>
          <a:p>
            <a:pPr algn="l">
              <a:spcBef>
                <a:spcPts val="1400"/>
              </a:spcBef>
            </a:pPr>
            <a:r>
              <a:rPr sz="1600" b="0">
                <a:solidFill>
                  <a:srgbClr val="FFFFFF"/>
                </a:solidFill>
                <a:latin typeface="Calibri"/>
              </a:rPr>
              <a:t>  ›  When the window fills, earlier content falls out silently. Instructions drift.</a:t>
            </a:r>
          </a:p>
          <a:p>
            <a:pPr algn="l">
              <a:spcBef>
                <a:spcPts val="1400"/>
              </a:spcBef>
            </a:pPr>
            <a:r>
              <a:rPr sz="1600" b="0">
                <a:solidFill>
                  <a:srgbClr val="FFFFFF"/>
                </a:solidFill>
                <a:latin typeface="Calibri"/>
              </a:rPr>
              <a:t>  ›  Start fresh when the task changes or the model begins to hedge on prior statements.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How LLMs
Fail</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model will state false things with total confidence, give different answers to the same question, and know nothing past its training cutoff. None of this is a malfunction.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double-checking map coordinates before calling in a grid — verification before action]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 1: Hallucination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has no truth-checking step.</a:t>
            </a:r>
          </a:p>
          <a:p>
            <a:pPr algn="l">
              <a:spcBef>
                <a:spcPts val="700"/>
              </a:spcBef>
            </a:pPr>
            <a:r>
              <a:rPr sz="1500" b="0">
                <a:solidFill>
                  <a:srgbClr val="FFFFFF"/>
                </a:solidFill>
                <a:latin typeface="Calibri"/>
              </a:rPr>
              <a:t>  ›  It generates tokens that are statistically likely to follow prior context.</a:t>
            </a:r>
          </a:p>
          <a:p>
            <a:pPr algn="l">
              <a:spcBef>
                <a:spcPts val="700"/>
              </a:spcBef>
            </a:pPr>
            <a:r>
              <a:rPr sz="1500" b="0">
                <a:solidFill>
                  <a:srgbClr val="FFFFFF"/>
                </a:solidFill>
                <a:latin typeface="Calibri"/>
              </a:rPr>
              <a:t>  ›  It cannot distinguish accurate training data from plausible completion.</a:t>
            </a:r>
          </a:p>
          <a:p>
            <a:pPr algn="l">
              <a:spcBef>
                <a:spcPts val="700"/>
              </a:spcBef>
            </a:pPr>
            <a:r>
              <a:rPr sz="1500" b="0">
                <a:solidFill>
                  <a:srgbClr val="FFFFFF"/>
                </a:solidFill>
                <a:latin typeface="Calibri"/>
              </a:rPr>
              <a:t>  ›  Confident output and correct output are entirely unrelated.</a:t>
            </a:r>
          </a:p>
          <a:p>
            <a:pPr algn="l">
              <a:spcBef>
                <a:spcPts val="700"/>
              </a:spcBef>
            </a:pPr>
            <a:r>
              <a:rPr sz="1500" b="0">
                <a:solidFill>
                  <a:srgbClr val="FFFFFF"/>
                </a:solidFill>
                <a:latin typeface="Calibri"/>
              </a:rPr>
              <a:t>  ›  This is expected behavior of the system — not a rare bug.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goal is calibrated trust, not distrust. The model is extraordinarily capable AND it hallucinates. Both are true simultaneously.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Modes 2, 3, and 4</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Confident-Wrong — hallucination is not always dramatic.</a:t>
            </a:r>
          </a:p>
          <a:p>
            <a:pPr algn="l">
              <a:spcBef>
                <a:spcPts val="300"/>
              </a:spcBef>
            </a:pPr>
            <a:r>
              <a:rPr sz="1300" b="0">
                <a:solidFill>
                  <a:srgbClr val="A8B4C8"/>
                </a:solidFill>
                <a:latin typeface="Calibri"/>
              </a:rPr>
              <a:t>      ◦  Subtly wrong dates, wrong statistics, plausible-sounding citations that do not exist.</a:t>
            </a:r>
          </a:p>
          <a:p>
            <a:pPr algn="l">
              <a:spcBef>
                <a:spcPts val="300"/>
              </a:spcBef>
            </a:pPr>
            <a:r>
              <a:rPr sz="1300" b="0">
                <a:solidFill>
                  <a:srgbClr val="A8B4C8"/>
                </a:solidFill>
                <a:latin typeface="Calibri"/>
              </a:rPr>
              <a:t>      ◦  Tone stays equally confident whether the claim is right or wrong.</a:t>
            </a:r>
          </a:p>
          <a:p>
            <a:pPr algn="l">
              <a:spcBef>
                <a:spcPts val="700"/>
              </a:spcBef>
            </a:pPr>
            <a:r>
              <a:rPr sz="1500" b="0">
                <a:solidFill>
                  <a:srgbClr val="FFFFFF"/>
                </a:solidFill>
                <a:latin typeface="Calibri"/>
              </a:rPr>
              <a:t>  ›  Nondeterminism — temperature introduces variation by design.</a:t>
            </a:r>
          </a:p>
          <a:p>
            <a:pPr algn="l">
              <a:spcBef>
                <a:spcPts val="300"/>
              </a:spcBef>
            </a:pPr>
            <a:r>
              <a:rPr sz="1300" b="0">
                <a:solidFill>
                  <a:srgbClr val="A8B4C8"/>
                </a:solidFill>
                <a:latin typeface="Calibri"/>
              </a:rPr>
              <a:t>      ◦  Same prompt, different run, different result. Do not treat one output as 'the answer.'</a:t>
            </a:r>
          </a:p>
          <a:p>
            <a:pPr algn="l">
              <a:spcBef>
                <a:spcPts val="700"/>
              </a:spcBef>
            </a:pPr>
            <a:r>
              <a:rPr sz="1500" b="0">
                <a:solidFill>
                  <a:srgbClr val="FFFFFF"/>
                </a:solidFill>
                <a:latin typeface="Calibri"/>
              </a:rPr>
              <a:t>  ›  Knowledge Cutoff — the model was trained to a point in time.</a:t>
            </a:r>
          </a:p>
          <a:p>
            <a:pPr algn="l">
              <a:spcBef>
                <a:spcPts val="300"/>
              </a:spcBef>
            </a:pPr>
            <a:r>
              <a:rPr sz="1300" b="0">
                <a:solidFill>
                  <a:srgbClr val="A8B4C8"/>
                </a:solidFill>
                <a:latin typeface="Calibri"/>
              </a:rPr>
              <a:t>      ◦  Ask about a recent event: it may refuse, guess, or confidently describe something that did not happen.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Build the verification reflex now. Anything that matters gets checked before you act on it — not because the model is bad at its job, but because this is how the system works.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just watched the model invent a source.
What does that mean for the next time it gives you a fact you have not heard before?
You run the same prompt twice in two separate chats and get different answers. What is the most accurate explanation?
A) One of the chats had a longer context window
B) The model updated itself between the two runs
C) The model uses randomness by design — the same input does not guarantee the same output
D) You phrased the prompt slightly differently without noticing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How LLMs Fail</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the model for 5 peer-reviewed sources on a specific narrow topic — with author names, journal names, and publication years.</a:t>
            </a:r>
          </a:p>
          <a:p>
            <a:pPr algn="l">
              <a:spcBef>
                <a:spcPts val="1000"/>
              </a:spcBef>
            </a:pPr>
            <a:r>
              <a:rPr sz="1400" b="0">
                <a:solidFill>
                  <a:srgbClr val="FFFFFF"/>
                </a:solidFill>
                <a:latin typeface="Calibri"/>
              </a:rPr>
              <a:t>  2.   Pick one citation and try to verify it exists. Search the journal's website or a database.</a:t>
            </a:r>
          </a:p>
          <a:p>
            <a:pPr algn="l">
              <a:spcBef>
                <a:spcPts val="1000"/>
              </a:spcBef>
            </a:pPr>
            <a:r>
              <a:rPr sz="1400" b="0">
                <a:solidFill>
                  <a:srgbClr val="FFFFFF"/>
                </a:solidFill>
                <a:latin typeface="Calibri"/>
              </a:rPr>
              <a:t>  3.   Ask the same question in a new chat. Compare the two citation lists — are they identical?</a:t>
            </a:r>
          </a:p>
          <a:p>
            <a:pPr algn="l">
              <a:spcBef>
                <a:spcPts val="1000"/>
              </a:spcBef>
            </a:pPr>
            <a:r>
              <a:rPr sz="1400" b="0">
                <a:solidFill>
                  <a:srgbClr val="FFFFFF"/>
                </a:solidFill>
                <a:latin typeface="Calibri"/>
              </a:rPr>
              <a:t>  4.   Ask about something you know happened recently. Watch how it responds to events past its cutoff.</a:t>
            </a:r>
          </a:p>
          <a:p>
            <a:pPr algn="l">
              <a:spcBef>
                <a:spcPts val="1000"/>
              </a:spcBef>
            </a:pPr>
            <a:r>
              <a:rPr sz="1400" b="0">
                <a:solidFill>
                  <a:srgbClr val="FFFFFF"/>
                </a:solidFill>
                <a:latin typeface="Calibri"/>
              </a:rPr>
              <a:t>  5.   You have just demonstrated all four failure modes. Name which step showed which mode.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Analyst comparing two documents side by side — verifying source vs. model output]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How LLMs Fail</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Hallucination: the model completes plausibly, not accurately. No truth-checking step.</a:t>
            </a:r>
          </a:p>
          <a:p>
            <a:pPr algn="l">
              <a:spcBef>
                <a:spcPts val="1400"/>
              </a:spcBef>
            </a:pPr>
            <a:r>
              <a:rPr sz="1600" b="0">
                <a:solidFill>
                  <a:srgbClr val="FFFFFF"/>
                </a:solidFill>
                <a:latin typeface="Calibri"/>
              </a:rPr>
              <a:t>  ›  Confident-Wrong: tone stays equally confident for right and wrong claims — never use confidence as a signal.</a:t>
            </a:r>
          </a:p>
          <a:p>
            <a:pPr algn="l">
              <a:spcBef>
                <a:spcPts val="1400"/>
              </a:spcBef>
            </a:pPr>
            <a:r>
              <a:rPr sz="1600" b="0">
                <a:solidFill>
                  <a:srgbClr val="FFFFFF"/>
                </a:solidFill>
                <a:latin typeface="Calibri"/>
              </a:rPr>
              <a:t>  ›  Nondeterminism: same prompt, different run, different result — by design.</a:t>
            </a:r>
          </a:p>
          <a:p>
            <a:pPr algn="l">
              <a:spcBef>
                <a:spcPts val="1400"/>
              </a:spcBef>
            </a:pPr>
            <a:r>
              <a:rPr sz="1600" b="0">
                <a:solidFill>
                  <a:srgbClr val="FFFFFF"/>
                </a:solidFill>
                <a:latin typeface="Calibri"/>
              </a:rPr>
              <a:t>  ›  Knowledge cutoff: confident answers about events past training may be wrong.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Prompt
Engineering</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vague prompt is a vague order — and a vague order gets a vague result from a junior who fills the gaps with assumptions.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NCO handing a clearly written OPORD to a soldier — specific orders, specific results]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Four Elements of a Deliberate Prompt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The model meets you halfway the moment you give it structure.</a:t>
            </a:r>
          </a:p>
          <a:p>
            <a:pPr algn="l">
              <a:spcBef>
                <a:spcPts val="700"/>
              </a:spcBef>
            </a:pPr>
            <a:r>
              <a:rPr sz="1500" b="0">
                <a:solidFill>
                  <a:srgbClr val="FFFFFF"/>
                </a:solidFill>
                <a:latin typeface="Calibri"/>
              </a:rPr>
              <a:t>  ›  Without context, it guesses: who you are, what you need, what good looks like.</a:t>
            </a:r>
          </a:p>
          <a:p>
            <a:pPr algn="l">
              <a:spcBef>
                <a:spcPts val="700"/>
              </a:spcBef>
            </a:pPr>
            <a:r>
              <a:rPr sz="1500" b="0">
                <a:solidFill>
                  <a:srgbClr val="FFFFFF"/>
                </a:solidFill>
                <a:latin typeface="Calibri"/>
              </a:rPr>
              <a:t>  ›  Role — tell the model who to be.</a:t>
            </a:r>
          </a:p>
          <a:p>
            <a:pPr algn="l">
              <a:spcBef>
                <a:spcPts val="300"/>
              </a:spcBef>
            </a:pPr>
            <a:r>
              <a:rPr sz="1300" b="0">
                <a:solidFill>
                  <a:srgbClr val="A8B4C8"/>
                </a:solidFill>
                <a:latin typeface="Calibri"/>
              </a:rPr>
              <a:t>      ◦  'You are a plain-language editor' produces different output than no framing at all.</a:t>
            </a:r>
          </a:p>
          <a:p>
            <a:pPr algn="l">
              <a:spcBef>
                <a:spcPts val="700"/>
              </a:spcBef>
            </a:pPr>
            <a:r>
              <a:rPr sz="1500" b="0">
                <a:solidFill>
                  <a:srgbClr val="FFFFFF"/>
                </a:solidFill>
                <a:latin typeface="Calibri"/>
              </a:rPr>
              <a:t>  ›  Context — tell it what it needs to know that it cannot infer.</a:t>
            </a:r>
          </a:p>
          <a:p>
            <a:pPr algn="l">
              <a:spcBef>
                <a:spcPts val="300"/>
              </a:spcBef>
            </a:pPr>
            <a:r>
              <a:rPr sz="1300" b="0">
                <a:solidFill>
                  <a:srgbClr val="A8B4C8"/>
                </a:solidFill>
                <a:latin typeface="Calibri"/>
              </a:rPr>
              <a:t>      ◦  What is the task, who is the audience, what constraints apply.</a:t>
            </a:r>
          </a:p>
          <a:p>
            <a:pPr algn="l">
              <a:spcBef>
                <a:spcPts val="700"/>
              </a:spcBef>
            </a:pPr>
            <a:r>
              <a:rPr sz="1500" b="0">
                <a:solidFill>
                  <a:srgbClr val="FFFFFF"/>
                </a:solidFill>
                <a:latin typeface="Calibri"/>
              </a:rPr>
              <a:t>  ›  Example — show it what good output looks like before asking for it.</a:t>
            </a:r>
          </a:p>
          <a:p>
            <a:pPr algn="l">
              <a:spcBef>
                <a:spcPts val="300"/>
              </a:spcBef>
            </a:pPr>
            <a:r>
              <a:rPr sz="1300" b="0">
                <a:solidFill>
                  <a:srgbClr val="A8B4C8"/>
                </a:solidFill>
                <a:latin typeface="Calibri"/>
              </a:rPr>
              <a:t>      ◦  One strong example beats three paragraphs of description.</a:t>
            </a:r>
          </a:p>
          <a:p>
            <a:pPr algn="l">
              <a:spcBef>
                <a:spcPts val="700"/>
              </a:spcBef>
            </a:pPr>
            <a:r>
              <a:rPr sz="1500" b="0">
                <a:solidFill>
                  <a:srgbClr val="FFFFFF"/>
                </a:solidFill>
                <a:latin typeface="Calibri"/>
              </a:rPr>
              <a:t>  ›  Output Spec — tell it the format, length, and tone you want.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Before and After: The Same Model, Different Brief</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Weak prompt:</a:t>
            </a:r>
          </a:p>
          <a:p>
            <a:pPr algn="l">
              <a:spcBef>
                <a:spcPts val="300"/>
              </a:spcBef>
            </a:pPr>
            <a:r>
              <a:rPr sz="1300" b="0">
                <a:solidFill>
                  <a:srgbClr val="A8B4C8"/>
                </a:solidFill>
                <a:latin typeface="Calibri"/>
              </a:rPr>
              <a:t>      ◦  "Write me a summary."</a:t>
            </a:r>
          </a:p>
          <a:p>
            <a:pPr algn="l">
              <a:spcBef>
                <a:spcPts val="700"/>
              </a:spcBef>
            </a:pPr>
            <a:r>
              <a:rPr sz="1500" b="0">
                <a:solidFill>
                  <a:srgbClr val="FFFFFF"/>
                </a:solidFill>
                <a:latin typeface="Calibri"/>
              </a:rPr>
              <a:t>  ›  Strong prompt:</a:t>
            </a:r>
          </a:p>
          <a:p>
            <a:pPr algn="l">
              <a:spcBef>
                <a:spcPts val="300"/>
              </a:spcBef>
            </a:pPr>
            <a:r>
              <a:rPr sz="1300" b="0">
                <a:solidFill>
                  <a:srgbClr val="A8B4C8"/>
                </a:solidFill>
                <a:latin typeface="Calibri"/>
              </a:rPr>
              <a:t>      ◦  "You are summarizing this for a senior leader who has two minutes. Pull out the three most important points. Use bullet points. No jargon. Max 100 words."</a:t>
            </a:r>
          </a:p>
          <a:p>
            <a:pPr algn="l">
              <a:spcBef>
                <a:spcPts val="700"/>
              </a:spcBef>
            </a:pPr>
            <a:r>
              <a:rPr sz="1500" b="0">
                <a:solidFill>
                  <a:srgbClr val="FFFFFF"/>
                </a:solidFill>
                <a:latin typeface="Calibri"/>
              </a:rPr>
              <a:t>  ›  Same model. Different brief. Different result.</a:t>
            </a:r>
          </a:p>
          <a:p>
            <a:pPr algn="l">
              <a:spcBef>
                <a:spcPts val="700"/>
              </a:spcBef>
            </a:pPr>
            <a:r>
              <a:rPr sz="1500" b="0">
                <a:solidFill>
                  <a:srgbClr val="FFFFFF"/>
                </a:solidFill>
                <a:latin typeface="Calibri"/>
              </a:rPr>
              <a:t>  ›  The iterative habit matters more than the perfect prompt.</a:t>
            </a:r>
          </a:p>
          <a:p>
            <a:pPr algn="l">
              <a:spcBef>
                <a:spcPts val="700"/>
              </a:spcBef>
            </a:pPr>
            <a:r>
              <a:rPr sz="1500" b="0">
                <a:solidFill>
                  <a:srgbClr val="FFFFFF"/>
                </a:solidFill>
                <a:latin typeface="Calibri"/>
              </a:rPr>
              <a:t>  ›  A rough ask the model can build on beats silence. Read the output, tighten the next ask, repeat.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four elements are a structure, not a script to recite. The durable skill is clarity — giving the model what it needs to not guess. How you deliver that varies by task.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When You Are Stuck</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If you do not know how to frame the prompt, ask the model to interview you.</a:t>
            </a:r>
          </a:p>
          <a:p>
            <a:pPr algn="l">
              <a:spcBef>
                <a:spcPts val="300"/>
              </a:spcBef>
            </a:pPr>
            <a:r>
              <a:rPr sz="1300" b="0">
                <a:solidFill>
                  <a:srgbClr val="A8B4C8"/>
                </a:solidFill>
                <a:latin typeface="Calibri"/>
              </a:rPr>
              <a:t>      ◦  "I need help with [task]. Ask me the questions you need answered before you start."</a:t>
            </a:r>
          </a:p>
          <a:p>
            <a:pPr algn="l">
              <a:spcBef>
                <a:spcPts val="300"/>
              </a:spcBef>
            </a:pPr>
            <a:r>
              <a:rPr sz="1300" b="0">
                <a:solidFill>
                  <a:srgbClr val="A8B4C8"/>
                </a:solidFill>
                <a:latin typeface="Calibri"/>
              </a:rPr>
              <a:t>      ◦  The model surfaces what context it is missing.</a:t>
            </a:r>
          </a:p>
          <a:p>
            <a:pPr algn="l">
              <a:spcBef>
                <a:spcPts val="300"/>
              </a:spcBef>
            </a:pPr>
            <a:r>
              <a:rPr sz="1300" b="0">
                <a:solidFill>
                  <a:srgbClr val="A8B4C8"/>
                </a:solidFill>
                <a:latin typeface="Calibri"/>
              </a:rPr>
              <a:t>      ◦  Answer the questions, then ask it to proceed.</a:t>
            </a:r>
          </a:p>
          <a:p>
            <a:pPr algn="l">
              <a:spcBef>
                <a:spcPts val="700"/>
              </a:spcBef>
            </a:pPr>
            <a:r>
              <a:rPr sz="1500" b="0">
                <a:solidFill>
                  <a:srgbClr val="FFFFFF"/>
                </a:solidFill>
                <a:latin typeface="Calibri"/>
              </a:rPr>
              <a:t>  ›  The template trap: four elements are a structure, not a script.</a:t>
            </a:r>
          </a:p>
          <a:p>
            <a:pPr algn="l">
              <a:spcBef>
                <a:spcPts val="700"/>
              </a:spcBef>
            </a:pPr>
            <a:r>
              <a:rPr sz="1500" b="0">
                <a:solidFill>
                  <a:srgbClr val="FFFFFF"/>
                </a:solidFill>
                <a:latin typeface="Calibri"/>
              </a:rPr>
              <a:t>  ›  Magic phrases are not the lesson. Clarity is the lesson.</a:t>
            </a:r>
          </a:p>
          <a:p>
            <a:pPr algn="l">
              <a:spcBef>
                <a:spcPts val="700"/>
              </a:spcBef>
            </a:pPr>
            <a:r>
              <a:rPr sz="1500" b="0">
                <a:solidFill>
                  <a:srgbClr val="FFFFFF"/>
                </a:solidFill>
                <a:latin typeface="Calibri"/>
              </a:rPr>
              <a:t>  ›  Students who focus on tricks over structure hit a ceiling fast.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What specifically changed between a one-line prompt and a structured prompt?
Which of the four elements made the biggest difference for your task?
You ask the model to 'write a report.' It produces something generic and too long. What is the most effective fix?
A) Switch to a more powerful model
B) Ask the same question again and hope for a better result
C) Add role, context, an example of good output, and a length/format spec to the prompt
D) Break the report into smaller pieces and ask for each separately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Prompt Engineering</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Pick a real task you need help with right now.</a:t>
            </a:r>
          </a:p>
          <a:p>
            <a:pPr algn="l">
              <a:spcBef>
                <a:spcPts val="1000"/>
              </a:spcBef>
            </a:pPr>
            <a:r>
              <a:rPr sz="1400" b="0">
                <a:solidFill>
                  <a:srgbClr val="FFFFFF"/>
                </a:solidFill>
                <a:latin typeface="Calibri"/>
              </a:rPr>
              <a:t>  2.   Write a one-line version of the request. Submit it. Save the output.</a:t>
            </a:r>
          </a:p>
          <a:p>
            <a:pPr algn="l">
              <a:spcBef>
                <a:spcPts val="1000"/>
              </a:spcBef>
            </a:pPr>
            <a:r>
              <a:rPr sz="1400" b="0">
                <a:solidFill>
                  <a:srgbClr val="FFFFFF"/>
                </a:solidFill>
                <a:latin typeface="Calibri"/>
              </a:rPr>
              <a:t>  3.   Add role, context, an example of what good looks like, and an output spec. Submit again.</a:t>
            </a:r>
          </a:p>
          <a:p>
            <a:pPr algn="l">
              <a:spcBef>
                <a:spcPts val="1000"/>
              </a:spcBef>
            </a:pPr>
            <a:r>
              <a:rPr sz="1400" b="0">
                <a:solidFill>
                  <a:srgbClr val="FFFFFF"/>
                </a:solidFill>
                <a:latin typeface="Calibri"/>
              </a:rPr>
              <a:t>  4.   Compare the two outputs side by side. Which required fewer follow-up exchanges?</a:t>
            </a:r>
          </a:p>
          <a:p>
            <a:pPr algn="l">
              <a:spcBef>
                <a:spcPts val="1000"/>
              </a:spcBef>
            </a:pPr>
            <a:r>
              <a:rPr sz="1400" b="0">
                <a:solidFill>
                  <a:srgbClr val="FFFFFF"/>
                </a:solidFill>
                <a:latin typeface="Calibri"/>
              </a:rPr>
              <a:t>  5.   Optional: if stuck, type 'I need help with [task]. Ask me the questions you need answered before you start.'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Two mission briefs side by side — one a wall of text, one a clean 5-paragraph OPORD format]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Prompt Engineering</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Four elements: Role, Context, Example, Output Spec — give the model what it needs to not guess.</a:t>
            </a:r>
          </a:p>
          <a:p>
            <a:pPr algn="l">
              <a:spcBef>
                <a:spcPts val="1400"/>
              </a:spcBef>
            </a:pPr>
            <a:r>
              <a:rPr sz="1600" b="0">
                <a:solidFill>
                  <a:srgbClr val="FFFFFF"/>
                </a:solidFill>
                <a:latin typeface="Calibri"/>
              </a:rPr>
              <a:t>  ›  A vague prompt is a vague order. Structured prompts reduce the surface area for wrong assumptions.</a:t>
            </a:r>
          </a:p>
          <a:p>
            <a:pPr algn="l">
              <a:spcBef>
                <a:spcPts val="1400"/>
              </a:spcBef>
            </a:pPr>
            <a:r>
              <a:rPr sz="1600" b="0">
                <a:solidFill>
                  <a:srgbClr val="FFFFFF"/>
                </a:solidFill>
                <a:latin typeface="Calibri"/>
              </a:rPr>
              <a:t>  ›  The iterative habit matters more than the perfect prompt — read, tighten, repeat.</a:t>
            </a:r>
          </a:p>
          <a:p>
            <a:pPr algn="l">
              <a:spcBef>
                <a:spcPts val="1400"/>
              </a:spcBef>
            </a:pPr>
            <a:r>
              <a:rPr sz="1600" b="0">
                <a:solidFill>
                  <a:srgbClr val="FFFFFF"/>
                </a:solidFill>
                <a:latin typeface="Calibri"/>
              </a:rPr>
              <a:t>  ›  If stuck, ask the model to interview you before it starts.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How AI Is
Delivered and
Paid For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same model reaches you through different doors — flat-rate app, pay-per-token API, or your organization's key. Tokens cost money, and model choice has a price.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Supply sergeant reviewing a billing ledger against available budget — resource accountability]</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Delivery Models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Subscription App — flat monthly fee, model access included.</a:t>
            </a:r>
          </a:p>
          <a:p>
            <a:pPr algn="l">
              <a:spcBef>
                <a:spcPts val="300"/>
              </a:spcBef>
            </a:pPr>
            <a:r>
              <a:rPr sz="1300" b="0">
                <a:solidFill>
                  <a:srgbClr val="A8B4C8"/>
                </a:solidFill>
                <a:latin typeface="Calibri"/>
              </a:rPr>
              <a:t>      ◦  Example: ChatGPT Plus, Claude.ai Pro</a:t>
            </a:r>
          </a:p>
          <a:p>
            <a:pPr algn="l">
              <a:spcBef>
                <a:spcPts val="700"/>
              </a:spcBef>
            </a:pPr>
            <a:r>
              <a:rPr sz="1500" b="0">
                <a:solidFill>
                  <a:srgbClr val="FFFFFF"/>
                </a:solidFill>
                <a:latin typeface="Calibri"/>
              </a:rPr>
              <a:t>  ›  Pay-Per-Token API — you pay per token sent and received.</a:t>
            </a:r>
          </a:p>
          <a:p>
            <a:pPr algn="l">
              <a:spcBef>
                <a:spcPts val="300"/>
              </a:spcBef>
            </a:pPr>
            <a:r>
              <a:rPr sz="1300" b="0">
                <a:solidFill>
                  <a:srgbClr val="A8B4C8"/>
                </a:solidFill>
                <a:latin typeface="Calibri"/>
              </a:rPr>
              <a:t>      ◦  Example: Anthropic API, OpenAI API</a:t>
            </a:r>
          </a:p>
          <a:p>
            <a:pPr algn="l">
              <a:spcBef>
                <a:spcPts val="700"/>
              </a:spcBef>
            </a:pPr>
            <a:r>
              <a:rPr sz="1500" b="0">
                <a:solidFill>
                  <a:srgbClr val="FFFFFF"/>
                </a:solidFill>
                <a:latin typeface="Calibri"/>
              </a:rPr>
              <a:t>  ›  Bring-Your-Own-Key — your organization's API key foots the bill.</a:t>
            </a:r>
          </a:p>
          <a:p>
            <a:pPr algn="l">
              <a:spcBef>
                <a:spcPts val="300"/>
              </a:spcBef>
            </a:pPr>
            <a:r>
              <a:rPr sz="1300" b="0">
                <a:solidFill>
                  <a:srgbClr val="A8B4C8"/>
                </a:solidFill>
                <a:latin typeface="Calibri"/>
              </a:rPr>
              <a:t>      ◦  Example: Enterprise deployments, Claude Code</a:t>
            </a:r>
          </a:p>
          <a:p>
            <a:pPr algn="l">
              <a:spcBef>
                <a:spcPts val="700"/>
              </a:spcBef>
            </a:pPr>
            <a:r>
              <a:rPr sz="1500" b="0">
                <a:solidFill>
                  <a:srgbClr val="FFFFFF"/>
                </a:solidFill>
                <a:latin typeface="Calibri"/>
              </a:rPr>
              <a:t>  ›  Know which model you are on before you start a long or expensive task.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Cloud vs. Local Delivery</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Most models run in the cloud — your input goes to a remote server, the response comes back.</a:t>
            </a:r>
          </a:p>
          <a:p>
            <a:pPr algn="l">
              <a:spcBef>
                <a:spcPts val="700"/>
              </a:spcBef>
            </a:pPr>
            <a:r>
              <a:rPr sz="1500" b="0">
                <a:solidFill>
                  <a:srgbClr val="FFFFFF"/>
                </a:solidFill>
                <a:latin typeface="Calibri"/>
              </a:rPr>
              <a:t>  ›  Some smaller models can run entirely on your machine.</a:t>
            </a:r>
          </a:p>
          <a:p>
            <a:pPr algn="l">
              <a:spcBef>
                <a:spcPts val="700"/>
              </a:spcBef>
            </a:pPr>
            <a:r>
              <a:rPr sz="1500" b="0">
                <a:solidFill>
                  <a:srgbClr val="FFFFFF"/>
                </a:solidFill>
                <a:latin typeface="Calibri"/>
              </a:rPr>
              <a:t>  ›  Local delivery: no connectivity required, data stays local.</a:t>
            </a:r>
          </a:p>
          <a:p>
            <a:pPr algn="l">
              <a:spcBef>
                <a:spcPts val="700"/>
              </a:spcBef>
            </a:pPr>
            <a:r>
              <a:rPr sz="1500" b="0">
                <a:solidFill>
                  <a:srgbClr val="FFFFFF"/>
                </a:solidFill>
                <a:latin typeface="Calibri"/>
              </a:rPr>
              <a:t>  ›  Trade-off: local models are smaller and less capable than frontier cloud models.</a:t>
            </a:r>
          </a:p>
          <a:p>
            <a:pPr algn="l">
              <a:spcBef>
                <a:spcPts val="700"/>
              </a:spcBef>
            </a:pPr>
            <a:r>
              <a:rPr sz="1500" b="0">
                <a:solidFill>
                  <a:srgbClr val="FFFFFF"/>
                </a:solidFill>
                <a:latin typeface="Calibri"/>
              </a:rPr>
              <a:t>  ›  The cost ladder — token cost scales with model size and reasoning effort.</a:t>
            </a:r>
          </a:p>
          <a:p>
            <a:pPr algn="l">
              <a:spcBef>
                <a:spcPts val="300"/>
              </a:spcBef>
            </a:pPr>
            <a:r>
              <a:rPr sz="1300" b="0">
                <a:solidFill>
                  <a:srgbClr val="A8B4C8"/>
                </a:solidFill>
                <a:latin typeface="Calibri"/>
              </a:rPr>
              <a:t>      ◦  Small, fast model: less per token. Large frontier model: more per token.</a:t>
            </a:r>
          </a:p>
          <a:p>
            <a:pPr algn="l">
              <a:spcBef>
                <a:spcPts val="300"/>
              </a:spcBef>
            </a:pPr>
            <a:r>
              <a:rPr sz="1300" b="0">
                <a:solidFill>
                  <a:srgbClr val="A8B4C8"/>
                </a:solidFill>
                <a:latin typeface="Calibri"/>
              </a:rPr>
              <a:t>      ◦  'Always use the biggest model' is wrong — match the model to the job.</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Do not teach specific token prices — they change with every major release. Teach the structure: tokens cost money, bigger models cost more, match the model to the 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Match the Model to the Job</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Selecting the right tier for each task</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WRONG APPROACH:</a:t>
            </a:r>
          </a:p>
          <a:p>
            <a:pPr algn="l">
              <a:spcBef>
                <a:spcPts val="300"/>
              </a:spcBef>
            </a:pPr>
            <a:r>
              <a:rPr sz="1200" b="0">
                <a:solidFill>
                  <a:srgbClr val="A8B4C8"/>
                </a:solidFill>
                <a:latin typeface="Calibri"/>
              </a:rPr>
              <a:t>  Use the most powerful model for everything.</a:t>
            </a:r>
          </a:p>
          <a:p>
            <a:pPr algn="l">
              <a:spcBef>
                <a:spcPts val="300"/>
              </a:spcBef>
            </a:pPr>
            <a:r>
              <a:rPr sz="1200" b="0">
                <a:solidFill>
                  <a:srgbClr val="A8B4C8"/>
                </a:solidFill>
                <a:latin typeface="Calibri"/>
              </a:rPr>
              <a:t>  Like running a diesel generator to charge a phone — the capability is real, the waste is real.</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RIGHT APPROACH — Match the tier to the task:</a:t>
            </a:r>
          </a:p>
          <a:p>
            <a:pPr algn="l">
              <a:spcBef>
                <a:spcPts val="300"/>
              </a:spcBef>
            </a:pPr>
            <a:r>
              <a:rPr sz="1200" b="0">
                <a:solidFill>
                  <a:srgbClr val="A8B4C8"/>
                </a:solidFill>
                <a:latin typeface="Calibri"/>
              </a:rPr>
              <a:t>  Drafting a quick message: small, fast model.</a:t>
            </a:r>
          </a:p>
          <a:p>
            <a:pPr algn="l">
              <a:spcBef>
                <a:spcPts val="300"/>
              </a:spcBef>
            </a:pPr>
            <a:r>
              <a:rPr sz="1200" b="0">
                <a:solidFill>
                  <a:srgbClr val="A8B4C8"/>
                </a:solidFill>
                <a:latin typeface="Calibri"/>
              </a:rPr>
              <a:t>  Analyzing a complex document: larger model.</a:t>
            </a:r>
          </a:p>
          <a:p>
            <a:pPr algn="l">
              <a:spcBef>
                <a:spcPts val="300"/>
              </a:spcBef>
            </a:pPr>
            <a:r>
              <a:rPr sz="1200" b="0">
                <a:solidFill>
                  <a:srgbClr val="A8B4C8"/>
                </a:solidFill>
                <a:latin typeface="Calibri"/>
              </a:rPr>
              <a:t>  Writing and running code in an agentic environment: frontier model with tool use.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Know your billing model before you start a long task on a pay-per-token plan.</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Army equipment lineup — different tools selected for different mission requirements]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need to run an analysis task with a very long document and several back-and-forth exchanges.
What factors determine the cost of that task, and how would you reduce it?
Why is 'always use the most powerful model' not good advice?
A) Powerful models make more mistakes than smaller ones
B) Powerful models are slower and less reliable
C) Larger models cost more per token — for simple tasks, the cost is not justified by the capability difference
D) You can only access the most powerful models through a paid subscription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How AI Is Delivered and Paid For</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your chatbot's settings or account page. Find which model you are currently using. Note the name.</a:t>
            </a:r>
          </a:p>
          <a:p>
            <a:pPr algn="l">
              <a:spcBef>
                <a:spcPts val="1000"/>
              </a:spcBef>
            </a:pPr>
            <a:r>
              <a:rPr sz="1400" b="0">
                <a:solidFill>
                  <a:srgbClr val="FFFFFF"/>
                </a:solidFill>
                <a:latin typeface="Calibri"/>
              </a:rPr>
              <a:t>  2.   Open anthropic.com/pricing (or your provider's equivalent). Find two models — one fast/small, one large/powerful. Read the price difference. Notice the structure, not the numbers.</a:t>
            </a:r>
          </a:p>
          <a:p>
            <a:pPr algn="l">
              <a:spcBef>
                <a:spcPts val="1000"/>
              </a:spcBef>
            </a:pPr>
            <a:r>
              <a:rPr sz="1400" b="0">
                <a:solidFill>
                  <a:srgbClr val="FFFFFF"/>
                </a:solidFill>
                <a:latin typeface="Calibri"/>
              </a:rPr>
              <a:t>  3.   Identify which delivery model you are on: subscription app, pay-per-token API, or organization-managed key.</a:t>
            </a:r>
          </a:p>
          <a:p>
            <a:pPr algn="l">
              <a:spcBef>
                <a:spcPts val="1000"/>
              </a:spcBef>
            </a:pPr>
            <a:r>
              <a:rPr sz="1400" b="0">
                <a:solidFill>
                  <a:srgbClr val="FFFFFF"/>
                </a:solidFill>
                <a:latin typeface="Calibri"/>
              </a:rPr>
              <a:t>  4.   Optional: paste a paragraph into a tokenizer tool. Count the tokens. Compare to the word count.</a:t>
            </a:r>
          </a:p>
          <a:p>
            <a:pPr algn="l">
              <a:spcBef>
                <a:spcPts val="1000"/>
              </a:spcBef>
            </a:pPr>
            <a:r>
              <a:rPr sz="1400" b="0">
                <a:solidFill>
                  <a:srgbClr val="FFFFFF"/>
                </a:solidFill>
                <a:latin typeface="Calibri"/>
              </a:rPr>
              <a:t>  5.   Pick one task you might use AI for this week. Decide which model tier is appropriate and write one sentence explaining why.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cross-referencing a field manual with a digital screen — selecting the right reference for the task]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How AI Is Delivered and Paid For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delivery models: subscription app, pay-per-token API, organization-managed key.</a:t>
            </a:r>
          </a:p>
          <a:p>
            <a:pPr algn="l">
              <a:spcBef>
                <a:spcPts val="1400"/>
              </a:spcBef>
            </a:pPr>
            <a:r>
              <a:rPr sz="1600" b="0">
                <a:solidFill>
                  <a:srgbClr val="FFFFFF"/>
                </a:solidFill>
                <a:latin typeface="Calibri"/>
              </a:rPr>
              <a:t>  ›  Most models run in the cloud — local models trade capability for privacy and offline access.</a:t>
            </a:r>
          </a:p>
          <a:p>
            <a:pPr algn="l">
              <a:spcBef>
                <a:spcPts val="1400"/>
              </a:spcBef>
            </a:pPr>
            <a:r>
              <a:rPr sz="1600" b="0">
                <a:solidFill>
                  <a:srgbClr val="FFFFFF"/>
                </a:solidFill>
                <a:latin typeface="Calibri"/>
              </a:rPr>
              <a:t>  ›  Token cost scales with model size. Bigger is not always better — match the model to the job.</a:t>
            </a:r>
          </a:p>
          <a:p>
            <a:pPr algn="l">
              <a:spcBef>
                <a:spcPts val="1400"/>
              </a:spcBef>
            </a:pPr>
            <a:r>
              <a:rPr sz="1600" b="0">
                <a:solidFill>
                  <a:srgbClr val="FFFFFF"/>
                </a:solidFill>
                <a:latin typeface="Calibri"/>
              </a:rPr>
              <a:t>  ›  Know your billing model before starting any long or high-volume task.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Data Handling:
What Never to
Paste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Once you are pasting real work into a cloud-connected tool, what you paste matters. This rule does not expire under time pressure.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locking a classified document safe before using a civilian computer terminal]</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Authorization Is a Property of the System</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Authorization is a property of the system — not the impressiveness of the tool.</a:t>
            </a:r>
          </a:p>
          <a:p>
            <a:pPr algn="l">
              <a:spcBef>
                <a:spcPts val="700"/>
              </a:spcBef>
            </a:pPr>
            <a:r>
              <a:rPr sz="1500" b="0">
                <a:solidFill>
                  <a:srgbClr val="FFFFFF"/>
                </a:solidFill>
                <a:latin typeface="Calibri"/>
              </a:rPr>
              <a:t>  ›  A highly capable model on an unauthorized system does not become authorized because it is impressive.</a:t>
            </a:r>
          </a:p>
          <a:p>
            <a:pPr algn="l">
              <a:spcBef>
                <a:spcPts val="700"/>
              </a:spcBef>
            </a:pPr>
            <a:r>
              <a:rPr sz="1500" b="0">
                <a:solidFill>
                  <a:srgbClr val="FFFFFF"/>
                </a:solidFill>
                <a:latin typeface="Calibri"/>
              </a:rPr>
              <a:t>  ›  The boundary is set by policy, not capability.</a:t>
            </a:r>
          </a:p>
          <a:p>
            <a:pPr algn="l">
              <a:spcBef>
                <a:spcPts val="700"/>
              </a:spcBef>
            </a:pPr>
            <a:r>
              <a:rPr sz="1500" b="0">
                <a:solidFill>
                  <a:srgbClr val="FFFFFF"/>
                </a:solidFill>
                <a:latin typeface="Calibri"/>
              </a:rPr>
              <a:t>  ›  What must never go into an unauthorized system:</a:t>
            </a:r>
          </a:p>
          <a:p>
            <a:pPr algn="l">
              <a:spcBef>
                <a:spcPts val="300"/>
              </a:spcBef>
            </a:pPr>
            <a:r>
              <a:rPr sz="1300" b="0">
                <a:solidFill>
                  <a:srgbClr val="A8B4C8"/>
                </a:solidFill>
                <a:latin typeface="Calibri"/>
              </a:rPr>
              <a:t>      ◦  Personally identifiable information (PII): names combined with identifiers, SSNs, DOBs, home addresses</a:t>
            </a:r>
          </a:p>
          <a:p>
            <a:pPr algn="l">
              <a:spcBef>
                <a:spcPts val="300"/>
              </a:spcBef>
            </a:pPr>
            <a:r>
              <a:rPr sz="1300" b="0">
                <a:solidFill>
                  <a:srgbClr val="A8B4C8"/>
                </a:solidFill>
                <a:latin typeface="Calibri"/>
              </a:rPr>
              <a:t>      ◦  Sensitive, controlled, or classified material of any kind</a:t>
            </a:r>
          </a:p>
          <a:p>
            <a:pPr algn="l">
              <a:spcBef>
                <a:spcPts val="300"/>
              </a:spcBef>
            </a:pPr>
            <a:r>
              <a:rPr sz="1300" b="0">
                <a:solidFill>
                  <a:srgbClr val="A8B4C8"/>
                </a:solidFill>
                <a:latin typeface="Calibri"/>
              </a:rPr>
              <a:t>      ◦  Anything above the system's authorization ceiling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applies to military and civilian audiences alike. For a military audience: state it explicitly, including the 'paraphrase and summarize' loophole — which does not exist. For civilian: medical records, financial data, HR files, client information.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Default Posture and the Classify-Before-You-Paste Habit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Default posture: when in doubt, do not paste.</a:t>
            </a:r>
          </a:p>
          <a:p>
            <a:pPr algn="l">
              <a:spcBef>
                <a:spcPts val="700"/>
              </a:spcBef>
            </a:pPr>
            <a:r>
              <a:rPr sz="1500" b="0">
                <a:solidFill>
                  <a:srgbClr val="FFFFFF"/>
                </a:solidFill>
                <a:latin typeface="Calibri"/>
              </a:rPr>
              <a:t>  ›  Ask someone who can authorize it before you proceed.</a:t>
            </a:r>
          </a:p>
          <a:p>
            <a:pPr algn="l">
              <a:spcBef>
                <a:spcPts val="700"/>
              </a:spcBef>
            </a:pPr>
            <a:r>
              <a:rPr sz="1500" b="0">
                <a:solidFill>
                  <a:srgbClr val="FFFFFF"/>
                </a:solidFill>
                <a:latin typeface="Calibri"/>
              </a:rPr>
              <a:t>  ›  Classify before you paste — before pasting anything into an AI tool, take two seconds:</a:t>
            </a:r>
          </a:p>
          <a:p>
            <a:pPr algn="l">
              <a:spcBef>
                <a:spcPts val="300"/>
              </a:spcBef>
            </a:pPr>
            <a:r>
              <a:rPr sz="1300" b="0">
                <a:solidFill>
                  <a:srgbClr val="A8B4C8"/>
                </a:solidFill>
                <a:latin typeface="Calibri"/>
              </a:rPr>
              <a:t>      ◦  What is this content?</a:t>
            </a:r>
          </a:p>
          <a:p>
            <a:pPr algn="l">
              <a:spcBef>
                <a:spcPts val="300"/>
              </a:spcBef>
            </a:pPr>
            <a:r>
              <a:rPr sz="1300" b="0">
                <a:solidFill>
                  <a:srgbClr val="A8B4C8"/>
                </a:solidFill>
                <a:latin typeface="Calibri"/>
              </a:rPr>
              <a:t>      ◦  Is this system authorized for it?</a:t>
            </a:r>
          </a:p>
          <a:p>
            <a:pPr algn="l">
              <a:spcBef>
                <a:spcPts val="300"/>
              </a:spcBef>
            </a:pPr>
            <a:r>
              <a:rPr sz="1300" b="0">
                <a:solidFill>
                  <a:srgbClr val="A8B4C8"/>
                </a:solidFill>
                <a:latin typeface="Calibri"/>
              </a:rPr>
              <a:t>      ◦  Build that pause until it is automatic.</a:t>
            </a:r>
          </a:p>
          <a:p>
            <a:pPr algn="l">
              <a:spcBef>
                <a:spcPts val="700"/>
              </a:spcBef>
            </a:pPr>
            <a:r>
              <a:rPr sz="1500" b="0">
                <a:solidFill>
                  <a:srgbClr val="FFFFFF"/>
                </a:solidFill>
                <a:latin typeface="Calibri"/>
              </a:rPr>
              <a:t>  ›  This bright line does not expire — not at the end of this course, not under time pressure.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One careless paste in an unauthorized system is the kind of mistake that has real and lasting consequences. Default to no until you hear yes from someone who can authorize it. Do not soften this.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under a deadline and want to paste a document into your AI tool to summarize it quickly. You are not sure whether the system is authorized for that content.
What do you do?
You have a borderline-sensitive document and an unauthorized but highly capable AI tool that would save hours of work. What is the correct call?
A) Paste it — the efficiency gain justifies a judgment call
B) Summarize the key points in your head first, then paste the summary
C) Do not paste. Authorization does not change based on capability or time pressure. Ask before proceeding.
D) Paste it, but delete the conversation immediately after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Data Handling: What Never to Paste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No prompting today. Think about the last three things you pasted into an AI tool.</a:t>
            </a:r>
          </a:p>
          <a:p>
            <a:pPr algn="l">
              <a:spcBef>
                <a:spcPts val="1000"/>
              </a:spcBef>
            </a:pPr>
            <a:r>
              <a:rPr sz="1400" b="0">
                <a:solidFill>
                  <a:srgbClr val="FFFFFF"/>
                </a:solidFill>
                <a:latin typeface="Calibri"/>
              </a:rPr>
              <a:t>  2.   For each one: was the system authorized for that type of content?</a:t>
            </a:r>
          </a:p>
          <a:p>
            <a:pPr algn="l">
              <a:spcBef>
                <a:spcPts val="1000"/>
              </a:spcBef>
            </a:pPr>
            <a:r>
              <a:rPr sz="1400" b="0">
                <a:solidFill>
                  <a:srgbClr val="FFFFFF"/>
                </a:solidFill>
                <a:latin typeface="Calibri"/>
              </a:rPr>
              <a:t>  3.   Identify one category of content you work with regularly that you will never paste into an unauthorized tool.</a:t>
            </a:r>
          </a:p>
          <a:p>
            <a:pPr algn="l">
              <a:spcBef>
                <a:spcPts val="1000"/>
              </a:spcBef>
            </a:pPr>
            <a:r>
              <a:rPr sz="1400" b="0">
                <a:solidFill>
                  <a:srgbClr val="FFFFFF"/>
                </a:solidFill>
                <a:latin typeface="Calibri"/>
              </a:rPr>
              <a:t>  4.   Write that category down. It is your personal bright line.</a:t>
            </a:r>
          </a:p>
          <a:p>
            <a:pPr algn="l">
              <a:spcBef>
                <a:spcPts val="1000"/>
              </a:spcBef>
            </a:pPr>
            <a:r>
              <a:rPr sz="1400" b="0">
                <a:solidFill>
                  <a:srgbClr val="FFFFFF"/>
                </a:solidFill>
                <a:latin typeface="Calibri"/>
              </a:rPr>
              <a:t>  5.   Keep it. It does not expire.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reviewing a checklist before using a terminal — deliberate pause before 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Data Handling: What Never to Paste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Authorization is a property of the system — not the tool's capability or your time pressure.</a:t>
            </a:r>
          </a:p>
          <a:p>
            <a:pPr algn="l">
              <a:spcBef>
                <a:spcPts val="1400"/>
              </a:spcBef>
            </a:pPr>
            <a:r>
              <a:rPr sz="1600" b="0">
                <a:solidFill>
                  <a:srgbClr val="FFFFFF"/>
                </a:solidFill>
                <a:latin typeface="Calibri"/>
              </a:rPr>
              <a:t>  ›  PII, sensitive, controlled, and classified material must never go into an unauthorized system.</a:t>
            </a:r>
          </a:p>
          <a:p>
            <a:pPr algn="l">
              <a:spcBef>
                <a:spcPts val="1400"/>
              </a:spcBef>
            </a:pPr>
            <a:r>
              <a:rPr sz="1600" b="0">
                <a:solidFill>
                  <a:srgbClr val="FFFFFF"/>
                </a:solidFill>
                <a:latin typeface="Calibri"/>
              </a:rPr>
              <a:t>  ›  Default posture: when in doubt, do not paste. Ask first.</a:t>
            </a:r>
          </a:p>
          <a:p>
            <a:pPr algn="l">
              <a:spcBef>
                <a:spcPts val="1400"/>
              </a:spcBef>
            </a:pPr>
            <a:r>
              <a:rPr sz="1600" b="0">
                <a:solidFill>
                  <a:srgbClr val="FFFFFF"/>
                </a:solidFill>
                <a:latin typeface="Calibri"/>
              </a:rPr>
              <a:t>  ›  Classify before you paste — build the two-second pause until it is automatic.</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AI Literacy — Six Core Concepts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CONCEPT</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What an LLM Is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Prediction from learned patterns</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Fluent output is not correct output. The only verb is 'predicts.'</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Tokens and Context</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Finite working memory — fill it and it fails</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Start fresh proactively. Instructions buried mid-chat drift.</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How LLMs Fail</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Four failure modes — all expected behavior</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Verify anything that matters. Confidence is not accuracy.</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Prompt Engineering</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Role, Context, Example, Output Spec</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Structure closes the gap. A vague prompt is a vague order.</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Delivery and Cost</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Three models, token pricing, model tiers</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Match the model to the job. Know your billing model.</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Data Handling</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Authorization is a property of the system</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When in doubt, do not paste. The bright line does not expire.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state in one sentence what an LLM does — using only the verb 'predicts'</a:t>
            </a:r>
          </a:p>
          <a:p>
            <a:pPr algn="l">
              <a:spcBef>
                <a:spcPts val="800"/>
              </a:spcBef>
            </a:pPr>
            <a:r>
              <a:rPr sz="1300" b="0">
                <a:solidFill>
                  <a:srgbClr val="A8B4C8"/>
                </a:solidFill>
                <a:latin typeface="Calibri"/>
              </a:rPr>
              <a:t>  ☐   I can explain 'trained not programmed' and what it means for accuracy</a:t>
            </a:r>
          </a:p>
          <a:p>
            <a:pPr algn="l">
              <a:spcBef>
                <a:spcPts val="800"/>
              </a:spcBef>
            </a:pPr>
            <a:r>
              <a:rPr sz="1300" b="0">
                <a:solidFill>
                  <a:srgbClr val="A8B4C8"/>
                </a:solidFill>
                <a:latin typeface="Calibri"/>
              </a:rPr>
              <a:t>  ☐   I can define a token and explain what happens when a context window fills</a:t>
            </a:r>
          </a:p>
          <a:p>
            <a:pPr algn="l">
              <a:spcBef>
                <a:spcPts val="800"/>
              </a:spcBef>
            </a:pPr>
            <a:r>
              <a:rPr sz="1300" b="0">
                <a:solidFill>
                  <a:srgbClr val="A8B4C8"/>
                </a:solidFill>
                <a:latin typeface="Calibri"/>
              </a:rPr>
              <a:t>  ☐   I can name the four failure modes and have produced a hallucination with my own hands</a:t>
            </a:r>
          </a:p>
          <a:p>
            <a:pPr algn="l">
              <a:spcBef>
                <a:spcPts val="800"/>
              </a:spcBef>
            </a:pPr>
            <a:r>
              <a:rPr sz="1300" b="0">
                <a:solidFill>
                  <a:srgbClr val="A8B4C8"/>
                </a:solidFill>
                <a:latin typeface="Calibri"/>
              </a:rPr>
              <a:t>  ☐   I can write a deliberate prompt using role, context, example, and output spec</a:t>
            </a:r>
          </a:p>
          <a:p>
            <a:pPr algn="l">
              <a:spcBef>
                <a:spcPts val="800"/>
              </a:spcBef>
            </a:pPr>
            <a:r>
              <a:rPr sz="1300" b="0">
                <a:solidFill>
                  <a:srgbClr val="A8B4C8"/>
                </a:solidFill>
                <a:latin typeface="Calibri"/>
              </a:rPr>
              <a:t>  ☐   I can name the three delivery models and explain why model choice has a cost</a:t>
            </a:r>
          </a:p>
          <a:p>
            <a:pPr algn="l">
              <a:spcBef>
                <a:spcPts val="800"/>
              </a:spcBef>
            </a:pPr>
            <a:r>
              <a:rPr sz="1300" b="0">
                <a:solidFill>
                  <a:srgbClr val="A8B4C8"/>
                </a:solidFill>
                <a:latin typeface="Calibri"/>
              </a:rPr>
              <a:t>  ☐   I know what must never go into an unauthorized system and I have identified my personal bright line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Bedrock:
AI Literacy</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Read this module twice — once to understand, once to internalize.</a:t>
            </a:r>
          </a:p>
          <a:p>
            <a:pPr algn="l">
              <a:spcBef>
                <a:spcPts val="1000"/>
              </a:spcBef>
            </a:pPr>
            <a:r>
              <a:rPr sz="1400" b="0">
                <a:solidFill>
                  <a:srgbClr val="A8B4C8"/>
                </a:solidFill>
                <a:latin typeface="Calibri"/>
              </a:rPr>
              <a:t>  2.   Produce a hallucination with your own hands before moving to the next module.</a:t>
            </a:r>
          </a:p>
          <a:p>
            <a:pPr algn="l">
              <a:spcBef>
                <a:spcPts val="1000"/>
              </a:spcBef>
            </a:pPr>
            <a:r>
              <a:rPr sz="1400" b="0">
                <a:solidFill>
                  <a:srgbClr val="A8B4C8"/>
                </a:solidFill>
                <a:latin typeface="Calibri"/>
              </a:rPr>
              <a:t>  3.   Write a before/after prompt comparison on a real task you currently have.</a:t>
            </a:r>
          </a:p>
          <a:p>
            <a:pPr algn="l">
              <a:spcBef>
                <a:spcPts val="1000"/>
              </a:spcBef>
            </a:pPr>
            <a:r>
              <a:rPr sz="1400" b="0">
                <a:solidFill>
                  <a:srgbClr val="A8B4C8"/>
                </a:solidFill>
                <a:latin typeface="Calibri"/>
              </a:rPr>
              <a:t>  4.   Identify your personal bright line for content you handle — and write it 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