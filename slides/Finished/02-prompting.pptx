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Module 2:
Briefing the Machine</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SELF-PACED</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NCO delivering a clear five-paragraph order to a soldier — a deliberate brief, not a vague request]</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Converting prompting-by-feel into method: tell the model who to be, give it context, show it an example, and say what good output looks like — then extend that clarity with intermediate structure. Brief it like a mission order, not a search box.</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(2 sections)</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Write a deliberate prompt using the four-element framework: Role, Context, Example, Output Spec</a:t>
            </a:r>
          </a:p>
          <a:p>
            <a:pPr algn="l">
              <a:spcBef>
                <a:spcPts val="400"/>
              </a:spcBef>
            </a:pPr>
            <a:r>
              <a:rPr sz="1300" b="0">
                <a:solidFill>
                  <a:srgbClr val="A8B4C8"/>
                </a:solidFill>
                <a:latin typeface="Calibri"/>
              </a:rPr>
              <a:t>  ›  Treat prompting as an iterative conversation, not a one-shot command</a:t>
            </a:r>
          </a:p>
          <a:p>
            <a:pPr algn="l">
              <a:spcBef>
                <a:spcPts val="400"/>
              </a:spcBef>
            </a:pPr>
            <a:r>
              <a:rPr sz="1300" b="0">
                <a:solidFill>
                  <a:srgbClr val="A8B4C8"/>
                </a:solidFill>
                <a:latin typeface="Calibri"/>
              </a:rPr>
              <a:t>  ›  Scrub real identifiers out of every prompt before sending it</a:t>
            </a:r>
          </a:p>
          <a:p>
            <a:pPr algn="l">
              <a:spcBef>
                <a:spcPts val="400"/>
              </a:spcBef>
            </a:pPr>
            <a:r>
              <a:rPr sz="1300" b="0">
                <a:solidFill>
                  <a:srgbClr val="A8B4C8"/>
                </a:solidFill>
                <a:latin typeface="Calibri"/>
              </a:rPr>
              <a:t>  ›  Use few-shot examples to pin down a pattern</a:t>
            </a:r>
          </a:p>
          <a:p>
            <a:pPr algn="l">
              <a:spcBef>
                <a:spcPts val="400"/>
              </a:spcBef>
            </a:pPr>
            <a:r>
              <a:rPr sz="1300" b="0">
                <a:solidFill>
                  <a:srgbClr val="A8B4C8"/>
                </a:solidFill>
                <a:latin typeface="Calibri"/>
              </a:rPr>
              <a:t>  ›  Use chain-of-thought to make reasoning auditable, not just to improve quality</a:t>
            </a:r>
          </a:p>
          <a:p>
            <a:pPr algn="l">
              <a:spcBef>
                <a:spcPts val="400"/>
              </a:spcBef>
            </a:pPr>
            <a:r>
              <a:rPr sz="1300" b="0">
                <a:solidFill>
                  <a:srgbClr val="A8B4C8"/>
                </a:solidFill>
                <a:latin typeface="Calibri"/>
              </a:rPr>
              <a:t>  ›  Decompose a big ask into ordered, verifiable steps</a:t>
            </a:r>
          </a:p>
          <a:p>
            <a:pPr algn="l">
              <a:spcBef>
                <a:spcPts val="400"/>
              </a:spcBef>
            </a:pPr>
            <a:r>
              <a:rPr sz="1300" b="0">
                <a:solidFill>
                  <a:srgbClr val="A8B4C8"/>
                </a:solidFill>
                <a:latin typeface="Calibri"/>
              </a:rPr>
              <a:t>  ›  Request structured output and use the schema to surface gaps; distinguish system vs. user prompt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Prompting as a
Mission Order</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vague prompt is a vague order — and a vague order gets a vague result from a junior who fills the gaps with assumptions.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Two mission briefs side by side — one a wall of text, one a clean five-paragraph OPORD]</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Four Elements of a Deliberate Prompt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meets you halfway the moment you give it structure.</a:t>
            </a:r>
          </a:p>
          <a:p>
            <a:pPr algn="l">
              <a:spcBef>
                <a:spcPts val="700"/>
              </a:spcBef>
            </a:pPr>
            <a:r>
              <a:rPr sz="1500" b="0">
                <a:solidFill>
                  <a:srgbClr val="FFFFFF"/>
                </a:solidFill>
                <a:latin typeface="Calibri"/>
              </a:rPr>
              <a:t>  ›  Without context it guesses: who you are, what you need, what 'good' looks like.</a:t>
            </a:r>
          </a:p>
          <a:p>
            <a:pPr algn="l">
              <a:spcBef>
                <a:spcPts val="700"/>
              </a:spcBef>
            </a:pPr>
            <a:r>
              <a:rPr sz="1500" b="0">
                <a:solidFill>
                  <a:srgbClr val="FFFFFF"/>
                </a:solidFill>
                <a:latin typeface="Calibri"/>
              </a:rPr>
              <a:t>  ›  Role — tell the model who to be.</a:t>
            </a:r>
          </a:p>
          <a:p>
            <a:pPr algn="l">
              <a:spcBef>
                <a:spcPts val="300"/>
              </a:spcBef>
            </a:pPr>
            <a:r>
              <a:rPr sz="1300" b="0">
                <a:solidFill>
                  <a:srgbClr val="A8B4C8"/>
                </a:solidFill>
                <a:latin typeface="Calibri"/>
              </a:rPr>
              <a:t>      ◦  'You are a plain-language editor' produces different output than no framing at all.</a:t>
            </a:r>
          </a:p>
          <a:p>
            <a:pPr algn="l">
              <a:spcBef>
                <a:spcPts val="700"/>
              </a:spcBef>
            </a:pPr>
            <a:r>
              <a:rPr sz="1500" b="0">
                <a:solidFill>
                  <a:srgbClr val="FFFFFF"/>
                </a:solidFill>
                <a:latin typeface="Calibri"/>
              </a:rPr>
              <a:t>  ›  Context — tell it what it needs to know that it cannot infer: task, audience, constraints.</a:t>
            </a:r>
          </a:p>
          <a:p>
            <a:pPr algn="l">
              <a:spcBef>
                <a:spcPts val="700"/>
              </a:spcBef>
            </a:pPr>
            <a:r>
              <a:rPr sz="1500" b="0">
                <a:solidFill>
                  <a:srgbClr val="FFFFFF"/>
                </a:solidFill>
                <a:latin typeface="Calibri"/>
              </a:rPr>
              <a:t>  ›  Example — show what good output looks like; one strong example beats three paragraphs of description.</a:t>
            </a:r>
          </a:p>
          <a:p>
            <a:pPr algn="l">
              <a:spcBef>
                <a:spcPts val="700"/>
              </a:spcBef>
            </a:pPr>
            <a:r>
              <a:rPr sz="1500" b="0">
                <a:solidFill>
                  <a:srgbClr val="FFFFFF"/>
                </a:solidFill>
                <a:latin typeface="Calibri"/>
              </a:rPr>
              <a:t>  ›  Output Spec — tell it the format, length, and tone you want.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four elements are a structure, not a script to recite. The durable skill is clarity — giving the model what it needs to not guess. How you deliver that varies by task.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Before and After: Same Model, Different Brief</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Asking for a summary</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WEAK PROMPT:</a:t>
            </a:r>
          </a:p>
          <a:p>
            <a:pPr algn="l">
              <a:spcBef>
                <a:spcPts val="300"/>
              </a:spcBef>
            </a:pPr>
            <a:r>
              <a:rPr sz="1200" b="0">
                <a:solidFill>
                  <a:srgbClr val="A8B4C8"/>
                </a:solidFill>
                <a:latin typeface="Calibri"/>
              </a:rPr>
              <a:t>  "Write me a summary."</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STRONG PROMPT:</a:t>
            </a:r>
          </a:p>
          <a:p>
            <a:pPr algn="l">
              <a:spcBef>
                <a:spcPts val="300"/>
              </a:spcBef>
            </a:pPr>
            <a:r>
              <a:rPr sz="1200" b="0">
                <a:solidFill>
                  <a:srgbClr val="A8B4C8"/>
                </a:solidFill>
                <a:latin typeface="Calibri"/>
              </a:rPr>
              <a:t>  "You are summarizing this for a senior leader who has two minutes.</a:t>
            </a:r>
          </a:p>
          <a:p>
            <a:pPr algn="l">
              <a:spcBef>
                <a:spcPts val="300"/>
              </a:spcBef>
            </a:pPr>
            <a:r>
              <a:rPr sz="1200" b="0">
                <a:solidFill>
                  <a:srgbClr val="A8B4C8"/>
                </a:solidFill>
                <a:latin typeface="Calibri"/>
              </a:rPr>
              <a:t>   Pull out the three most important points. Use bullet points.</a:t>
            </a:r>
          </a:p>
          <a:p>
            <a:pPr algn="l">
              <a:spcBef>
                <a:spcPts val="300"/>
              </a:spcBef>
            </a:pPr>
            <a:r>
              <a:rPr sz="1200" b="0">
                <a:solidFill>
                  <a:srgbClr val="A8B4C8"/>
                </a:solidFill>
                <a:latin typeface="Calibri"/>
              </a:rPr>
              <a:t>   No jargon. Max 100 words."</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Same model. Different brief. Different result.</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The iterative habit matters more than the perfect prompt:</a:t>
            </a:r>
          </a:p>
          <a:p>
            <a:pPr algn="l">
              <a:spcBef>
                <a:spcPts val="300"/>
              </a:spcBef>
            </a:pPr>
            <a:r>
              <a:rPr sz="1200" b="0">
                <a:solidFill>
                  <a:srgbClr val="A8B4C8"/>
                </a:solidFill>
                <a:latin typeface="Calibri"/>
              </a:rPr>
              <a:t>  a rough ask the model can build on beats silence.</a:t>
            </a:r>
          </a:p>
          <a:p>
            <a:pPr algn="l">
              <a:spcBef>
                <a:spcPts val="300"/>
              </a:spcBef>
            </a:pPr>
            <a:r>
              <a:rPr sz="1200" b="0">
                <a:solidFill>
                  <a:srgbClr val="A8B4C8"/>
                </a:solidFill>
                <a:latin typeface="Calibri"/>
              </a:rPr>
              <a:t>  Read the output, tighten the next ask, repeat.</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NCO handing a soldier a clearly written OPORD — specific orders, specific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Scrub Before You Brief, and When You Are Stuck</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Module 1's data-handling rule applies to EVERY prompt you write.</a:t>
            </a:r>
          </a:p>
          <a:p>
            <a:pPr algn="l">
              <a:spcBef>
                <a:spcPts val="300"/>
              </a:spcBef>
            </a:pPr>
            <a:r>
              <a:rPr sz="1300" b="0">
                <a:solidFill>
                  <a:srgbClr val="A8B4C8"/>
                </a:solidFill>
                <a:latin typeface="Calibri"/>
              </a:rPr>
              <a:t>      ◦  Real names, units, locations, grids, op-dates, credentials do not go into an unauthorized tool.</a:t>
            </a:r>
          </a:p>
          <a:p>
            <a:pPr algn="l">
              <a:spcBef>
                <a:spcPts val="300"/>
              </a:spcBef>
            </a:pPr>
            <a:r>
              <a:rPr sz="1300" b="0">
                <a:solidFill>
                  <a:srgbClr val="A8B4C8"/>
                </a:solidFill>
                <a:latin typeface="Calibri"/>
              </a:rPr>
              <a:t>      ◦  Use bracketed placeholders: [UNIT], [LOCATION], [NCO]. A scrubbed prompt works just as well.</a:t>
            </a:r>
          </a:p>
          <a:p>
            <a:pPr algn="l">
              <a:spcBef>
                <a:spcPts val="700"/>
              </a:spcBef>
            </a:pPr>
            <a:r>
              <a:rPr sz="1500" b="0">
                <a:solidFill>
                  <a:srgbClr val="FFFFFF"/>
                </a:solidFill>
                <a:latin typeface="Calibri"/>
              </a:rPr>
              <a:t>  ›  If you are stuck framing the prompt, ask the model to interview you:</a:t>
            </a:r>
          </a:p>
          <a:p>
            <a:pPr algn="l">
              <a:spcBef>
                <a:spcPts val="300"/>
              </a:spcBef>
            </a:pPr>
            <a:r>
              <a:rPr sz="1300" b="0">
                <a:solidFill>
                  <a:srgbClr val="A8B4C8"/>
                </a:solidFill>
                <a:latin typeface="Calibri"/>
              </a:rPr>
              <a:t>      ◦  'I need help with [task]. Ask me the questions you need answered before you start.'</a:t>
            </a:r>
          </a:p>
          <a:p>
            <a:pPr algn="l">
              <a:spcBef>
                <a:spcPts val="300"/>
              </a:spcBef>
            </a:pPr>
            <a:r>
              <a:rPr sz="1300" b="0">
                <a:solidFill>
                  <a:srgbClr val="A8B4C8"/>
                </a:solidFill>
                <a:latin typeface="Calibri"/>
              </a:rPr>
              <a:t>      ◦  Answer the questions, then tell it to proceed.</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template trap: the four elements are a structure, not a script. Magic phrases are not the lesson — clarity is. Students who chase tricks over structure hit a ceiling fast.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What specifically changed between your one-line prompt and your structured prompt?
Which of the four elements made the biggest difference for your task?
You ask the model to 'write a report.' It produces something generic and too long. What is the most effective fix?
A) Switch to a more powerful model
B) Ask the same question again and hope for a better result
C) Add role, context, an example of good output, and a length/format spec to the prompt
D) Break the report into smaller pieces and ask for each separately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Prompting as a Mission Order</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Pick a real task you need help with right now.</a:t>
            </a:r>
          </a:p>
          <a:p>
            <a:pPr algn="l">
              <a:spcBef>
                <a:spcPts val="1000"/>
              </a:spcBef>
            </a:pPr>
            <a:r>
              <a:rPr sz="1400" b="0">
                <a:solidFill>
                  <a:srgbClr val="FFFFFF"/>
                </a:solidFill>
                <a:latin typeface="Calibri"/>
              </a:rPr>
              <a:t>  2.   Write a one-line version of the request. Submit it. Save the output.</a:t>
            </a:r>
          </a:p>
          <a:p>
            <a:pPr algn="l">
              <a:spcBef>
                <a:spcPts val="1000"/>
              </a:spcBef>
            </a:pPr>
            <a:r>
              <a:rPr sz="1400" b="0">
                <a:solidFill>
                  <a:srgbClr val="FFFFFF"/>
                </a:solidFill>
                <a:latin typeface="Calibri"/>
              </a:rPr>
              <a:t>  3.   Add role, context, an example of what good looks like, and an output spec. Submit again.</a:t>
            </a:r>
          </a:p>
          <a:p>
            <a:pPr algn="l">
              <a:spcBef>
                <a:spcPts val="1000"/>
              </a:spcBef>
            </a:pPr>
            <a:r>
              <a:rPr sz="1400" b="0">
                <a:solidFill>
                  <a:srgbClr val="FFFFFF"/>
                </a:solidFill>
                <a:latin typeface="Calibri"/>
              </a:rPr>
              <a:t>  4.   Compare the two outputs side by side.</a:t>
            </a:r>
          </a:p>
          <a:p>
            <a:pPr algn="l">
              <a:spcBef>
                <a:spcPts val="1000"/>
              </a:spcBef>
            </a:pPr>
            <a:r>
              <a:rPr sz="1400" b="0">
                <a:solidFill>
                  <a:srgbClr val="FFFFFF"/>
                </a:solidFill>
                <a:latin typeface="Calibri"/>
              </a:rPr>
              <a:t>  5.   Optional: if stuck, type 'I need help with [task]. Ask me the questions you need answered before you start.'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comparing two drafts on a clipboard — vague request next to a deliberate brief]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Prompting as a Mission Order</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Four elements: Role, Context, Example, Output Spec — give the model what it needs to not guess.</a:t>
            </a:r>
          </a:p>
          <a:p>
            <a:pPr algn="l">
              <a:spcBef>
                <a:spcPts val="1400"/>
              </a:spcBef>
            </a:pPr>
            <a:r>
              <a:rPr sz="1600" b="0">
                <a:solidFill>
                  <a:srgbClr val="FFFFFF"/>
                </a:solidFill>
                <a:latin typeface="Calibri"/>
              </a:rPr>
              <a:t>  ›  A vague prompt is a vague order. Structure reduces the surface area for wrong assumptions.</a:t>
            </a:r>
          </a:p>
          <a:p>
            <a:pPr algn="l">
              <a:spcBef>
                <a:spcPts val="1400"/>
              </a:spcBef>
            </a:pPr>
            <a:r>
              <a:rPr sz="1600" b="0">
                <a:solidFill>
                  <a:srgbClr val="FFFFFF"/>
                </a:solidFill>
                <a:latin typeface="Calibri"/>
              </a:rPr>
              <a:t>  ›  The iterative habit matters more than the perfect prompt — read, tighten, repeat.</a:t>
            </a:r>
          </a:p>
          <a:p>
            <a:pPr algn="l">
              <a:spcBef>
                <a:spcPts val="1400"/>
              </a:spcBef>
            </a:pPr>
            <a:r>
              <a:rPr sz="1600" b="0">
                <a:solidFill>
                  <a:srgbClr val="FFFFFF"/>
                </a:solidFill>
                <a:latin typeface="Calibri"/>
              </a:rPr>
              <a:t>  ›  Scrub real identifiers out of every prompt; bracketed placeholders work just as well.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Intermediate
Prompting</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Five moves — few-shot, chain-of-thought, decomposition, structured output, system-vs-user. Each extends clarity. None is a trick.</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Commander handing off a complex multi-phase mission — structured beyond a single simple order]</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Few-Shot: Show the Pattern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Instead of describing what you want, SHOW it — with two, three, or more worked examples.</a:t>
            </a:r>
          </a:p>
          <a:p>
            <a:pPr algn="l">
              <a:spcBef>
                <a:spcPts val="700"/>
              </a:spcBef>
            </a:pPr>
            <a:r>
              <a:rPr sz="1500" b="0">
                <a:solidFill>
                  <a:srgbClr val="FFFFFF"/>
                </a:solidFill>
                <a:latin typeface="Calibri"/>
              </a:rPr>
              <a:t>  ›  One example is 'one-shot'; several is 'few-shot.'</a:t>
            </a:r>
          </a:p>
          <a:p>
            <a:pPr algn="l">
              <a:spcBef>
                <a:spcPts val="700"/>
              </a:spcBef>
            </a:pPr>
            <a:r>
              <a:rPr sz="1500" b="0">
                <a:solidFill>
                  <a:srgbClr val="FFFFFF"/>
                </a:solidFill>
                <a:latin typeface="Calibri"/>
              </a:rPr>
              <a:t>  ›  More examples pin down the pattern more tightly — the model matches the input-to-output shape.</a:t>
            </a:r>
          </a:p>
          <a:p>
            <a:pPr algn="l">
              <a:spcBef>
                <a:spcPts val="700"/>
              </a:spcBef>
            </a:pPr>
            <a:r>
              <a:rPr sz="1500" b="0">
                <a:solidFill>
                  <a:srgbClr val="FFFFFF"/>
                </a:solidFill>
                <a:latin typeface="Calibri"/>
              </a:rPr>
              <a:t>  ›  Use it when the task has a consistent format and one example leaves too much room to drift.</a:t>
            </a:r>
          </a:p>
          <a:p>
            <a:pPr algn="l">
              <a:spcBef>
                <a:spcPts val="700"/>
              </a:spcBef>
            </a:pPr>
            <a:r>
              <a:rPr sz="1500" b="0">
                <a:solidFill>
                  <a:srgbClr val="FFFFFF"/>
                </a:solidFill>
                <a:latin typeface="Calibri"/>
              </a:rPr>
              <a:t>  ›  Example — classify reports by urgency:</a:t>
            </a:r>
          </a:p>
          <a:p>
            <a:pPr algn="l">
              <a:spcBef>
                <a:spcPts val="300"/>
              </a:spcBef>
            </a:pPr>
            <a:r>
              <a:rPr sz="1300" b="0">
                <a:solidFill>
                  <a:srgbClr val="A8B4C8"/>
                </a:solidFill>
                <a:latin typeface="Calibri"/>
              </a:rPr>
              <a:t>      ◦  'Routine resupply completed.' -&gt; LOW   'Comms link intermittent 20 min.' -&gt; MEDIUM</a:t>
            </a:r>
          </a:p>
          <a:p>
            <a:pPr algn="l">
              <a:spcBef>
                <a:spcPts val="300"/>
              </a:spcBef>
            </a:pPr>
            <a:r>
              <a:rPr sz="1300" b="0">
                <a:solidFill>
                  <a:srgbClr val="A8B4C8"/>
                </a:solidFill>
                <a:latin typeface="Calibri"/>
              </a:rPr>
              <a:t>      ◦  'Unidentified vehicle breached the wire.' -&gt; HIGH   '[new report]' -&gt; ?</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Three examples teach the pattern far more reliably than the sentence 'classify these by how urgent they 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Chain-of-Thought: Reasoning You Can Audit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Ask the model to show its reasoning before its answer: 'Work through this step by step, then conclude.'</a:t>
            </a:r>
          </a:p>
          <a:p>
            <a:pPr algn="l">
              <a:spcBef>
                <a:spcPts val="700"/>
              </a:spcBef>
            </a:pPr>
            <a:r>
              <a:rPr sz="1500" b="0">
                <a:solidFill>
                  <a:srgbClr val="FFFFFF"/>
                </a:solidFill>
                <a:latin typeface="Calibri"/>
              </a:rPr>
              <a:t>  ›  Payoff 1: on multi-step problems, visible reasoning often improves the answer.</a:t>
            </a:r>
          </a:p>
          <a:p>
            <a:pPr algn="l">
              <a:spcBef>
                <a:spcPts val="700"/>
              </a:spcBef>
            </a:pPr>
            <a:r>
              <a:rPr sz="1500" b="0">
                <a:solidFill>
                  <a:srgbClr val="FFFFFF"/>
                </a:solidFill>
                <a:latin typeface="Calibri"/>
              </a:rPr>
              <a:t>  ›  Payoff 2 (the important one): the reasoning is now AUDITABLE.</a:t>
            </a:r>
          </a:p>
          <a:p>
            <a:pPr algn="l">
              <a:spcBef>
                <a:spcPts val="300"/>
              </a:spcBef>
            </a:pPr>
            <a:r>
              <a:rPr sz="1300" b="0">
                <a:solidFill>
                  <a:srgbClr val="A8B4C8"/>
                </a:solidFill>
                <a:latin typeface="Calibri"/>
              </a:rPr>
              <a:t>      ◦  You can see where it went wrong instead of accepting a bare answer.</a:t>
            </a:r>
          </a:p>
          <a:p>
            <a:pPr algn="l">
              <a:spcBef>
                <a:spcPts val="300"/>
              </a:spcBef>
            </a:pPr>
            <a:r>
              <a:rPr sz="1300" b="0">
                <a:solidFill>
                  <a:srgbClr val="A8B4C8"/>
                </a:solidFill>
                <a:latin typeface="Calibri"/>
              </a:rPr>
              <a:t>      ◦  That makes chain-of-thought a VERIFICATION aid, not just a quality aid.</a:t>
            </a:r>
          </a:p>
          <a:p>
            <a:pPr algn="l">
              <a:spcBef>
                <a:spcPts val="700"/>
              </a:spcBef>
            </a:pPr>
            <a:r>
              <a:rPr sz="1500" b="0">
                <a:solidFill>
                  <a:srgbClr val="FFFFFF"/>
                </a:solidFill>
                <a:latin typeface="Calibri"/>
              </a:rPr>
              <a:t>  ›  A bare answer you cannot trace is a black box.</a:t>
            </a:r>
          </a:p>
          <a:p>
            <a:pPr algn="l">
              <a:spcBef>
                <a:spcPts val="700"/>
              </a:spcBef>
            </a:pPr>
            <a:r>
              <a:rPr sz="1500" b="0">
                <a:solidFill>
                  <a:srgbClr val="FFFFFF"/>
                </a:solidFill>
                <a:latin typeface="Calibri"/>
              </a:rPr>
              <a:t>  ›  For anything consequential, ask for the reasoning so you can supervise it.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Anchor chain-of-thought to supervision, not magic: the reason an operator asks for visible reasoning is to CHECK it. That framing carries straight into the supervisor mindset in Module 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Decomposition and Structured Output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Decomposition — when the ask is big, break it into an ordered sequence of smaller asks.</a:t>
            </a:r>
          </a:p>
          <a:p>
            <a:pPr algn="l">
              <a:spcBef>
                <a:spcPts val="300"/>
              </a:spcBef>
            </a:pPr>
            <a:r>
              <a:rPr sz="1300" b="0">
                <a:solidFill>
                  <a:srgbClr val="A8B4C8"/>
                </a:solidFill>
                <a:latin typeface="Calibri"/>
              </a:rPr>
              <a:t>      ◦  Drive the steps yourself, or have the model lay out a plan and proceed with your approval.</a:t>
            </a:r>
          </a:p>
          <a:p>
            <a:pPr algn="l">
              <a:spcBef>
                <a:spcPts val="300"/>
              </a:spcBef>
            </a:pPr>
            <a:r>
              <a:rPr sz="1300" b="0">
                <a:solidFill>
                  <a:srgbClr val="A8B4C8"/>
                </a:solidFill>
                <a:latin typeface="Calibri"/>
              </a:rPr>
              <a:t>      ◦  Keeps each step verifiable; prevents the model collapsing a complex job into a shallow pass.</a:t>
            </a:r>
          </a:p>
          <a:p>
            <a:pPr algn="l">
              <a:spcBef>
                <a:spcPts val="700"/>
              </a:spcBef>
            </a:pPr>
            <a:r>
              <a:rPr sz="1500" b="0">
                <a:solidFill>
                  <a:srgbClr val="FFFFFF"/>
                </a:solidFill>
                <a:latin typeface="Calibri"/>
              </a:rPr>
              <a:t>  ›  Structured output — tell the model the exact shape: JSON object, Markdown table, fixed schema.</a:t>
            </a:r>
          </a:p>
          <a:p>
            <a:pPr algn="l">
              <a:spcBef>
                <a:spcPts val="300"/>
              </a:spcBef>
            </a:pPr>
            <a:r>
              <a:rPr sz="1300" b="0">
                <a:solidFill>
                  <a:srgbClr val="A8B4C8"/>
                </a:solidFill>
                <a:latin typeface="Calibri"/>
              </a:rPr>
              <a:t>      ◦  Makes output predictable AND forces the model to fill specific slots, which surfaces gaps.</a:t>
            </a:r>
          </a:p>
          <a:p>
            <a:pPr algn="l">
              <a:spcBef>
                <a:spcPts val="300"/>
              </a:spcBef>
            </a:pPr>
            <a:r>
              <a:rPr sz="1300" b="0">
                <a:solidFill>
                  <a:srgbClr val="A8B4C8"/>
                </a:solidFill>
                <a:latin typeface="Calibri"/>
              </a:rPr>
              <a:t>      ◦  Ask for a 'Source' column: an empty cell tells you the model has no source —</a:t>
            </a:r>
          </a:p>
          <a:p>
            <a:pPr algn="l">
              <a:spcBef>
                <a:spcPts val="300"/>
              </a:spcBef>
            </a:pPr>
            <a:r>
              <a:rPr sz="1300" b="0">
                <a:solidFill>
                  <a:srgbClr val="A8B4C8"/>
                </a:solidFill>
                <a:latin typeface="Calibri"/>
              </a:rPr>
              <a:t>      ◦  a gap a free-text paragraph would have hidden.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Structured output as a gap detector: a named-field schema forces missing information into the open. That connects prompting straight back to the verification reflex from Module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System vs. User Prompt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System prompt — standing instructions: who the model is, the rules, the constraints.</a:t>
            </a:r>
          </a:p>
          <a:p>
            <a:pPr algn="l">
              <a:spcBef>
                <a:spcPts val="300"/>
              </a:spcBef>
            </a:pPr>
            <a:r>
              <a:rPr sz="1300" b="0">
                <a:solidFill>
                  <a:srgbClr val="A8B4C8"/>
                </a:solidFill>
                <a:latin typeface="Calibri"/>
              </a:rPr>
              <a:t>      ◦  Loaded by the platform before the conversation begins; persists for the whole session.</a:t>
            </a:r>
          </a:p>
          <a:p>
            <a:pPr algn="l">
              <a:spcBef>
                <a:spcPts val="700"/>
              </a:spcBef>
            </a:pPr>
            <a:r>
              <a:rPr sz="1500" b="0">
                <a:solidFill>
                  <a:srgbClr val="FFFFFF"/>
                </a:solidFill>
                <a:latin typeface="Calibri"/>
              </a:rPr>
              <a:t>  ›  User prompt — each turn you type; the individual task.</a:t>
            </a:r>
          </a:p>
          <a:p>
            <a:pPr algn="l">
              <a:spcBef>
                <a:spcPts val="700"/>
              </a:spcBef>
            </a:pPr>
            <a:r>
              <a:rPr sz="1500" b="0">
                <a:solidFill>
                  <a:srgbClr val="FFFFFF"/>
                </a:solidFill>
                <a:latin typeface="Calibri"/>
              </a:rPr>
              <a:t>  ›  Standing order vs. task order.</a:t>
            </a:r>
          </a:p>
          <a:p>
            <a:pPr algn="l">
              <a:spcBef>
                <a:spcPts val="700"/>
              </a:spcBef>
            </a:pPr>
            <a:r>
              <a:rPr sz="1500" b="0">
                <a:solidFill>
                  <a:srgbClr val="FFFFFF"/>
                </a:solidFill>
                <a:latin typeface="Calibri"/>
              </a:rPr>
              <a:t>  ›  Typing 'You are a [role]' in your message is persona injection — it works, but it lives in the visible chat.</a:t>
            </a:r>
          </a:p>
          <a:p>
            <a:pPr algn="l">
              <a:spcBef>
                <a:spcPts val="300"/>
              </a:spcBef>
            </a:pPr>
            <a:r>
              <a:rPr sz="1300" b="0">
                <a:solidFill>
                  <a:srgbClr val="A8B4C8"/>
                </a:solidFill>
                <a:latin typeface="Calibri"/>
              </a:rPr>
              <a:t>      ◦  That is not the same as a true platform-level system prompt.</a:t>
            </a:r>
          </a:p>
          <a:p>
            <a:pPr algn="l">
              <a:spcBef>
                <a:spcPts val="700"/>
              </a:spcBef>
            </a:pPr>
            <a:r>
              <a:rPr sz="1500" b="0">
                <a:solidFill>
                  <a:srgbClr val="FFFFFF"/>
                </a:solidFill>
                <a:latin typeface="Calibri"/>
              </a:rPr>
              <a:t>  ›  Context files later in the course are durable standing orders in file form — same idea, made persistent.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Still not tricks: few-shot shows the pattern, chain-of-thought exposes reasoning, decomposition orders the work, structured output fixes the shape, system-vs-user separates standing rules from the task. If a 'technique' adds no clarity, it is folklore.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For your own most common AI task, which intermediate technique would help most — and is the help about output QUALITY or about your ability to VERIFY the output?
Why is asking the model to 'show its reasoning step by step' valuable to an operator who must defend the output?
A) It guarantees the answer is correct
B) It makes the model run faster
C) It makes the reasoning auditable, so you can inspect where it went wrong instead of accepting a bare answer
D) It removes the need to verify the output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Intermediate Prompting — Build Your Five Prompts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Few-shot: write a prompt with three worked examples plus a fourth unsolved item. Run it.</a:t>
            </a:r>
          </a:p>
          <a:p>
            <a:pPr algn="l">
              <a:spcBef>
                <a:spcPts val="1000"/>
              </a:spcBef>
            </a:pPr>
            <a:r>
              <a:rPr sz="1400" b="0">
                <a:solidFill>
                  <a:srgbClr val="FFFFFF"/>
                </a:solidFill>
                <a:latin typeface="Calibri"/>
              </a:rPr>
              <a:t>  2.   Chain-of-thought: ask for step-by-step reasoning then the answer. Could you catch an error in the steps?</a:t>
            </a:r>
          </a:p>
          <a:p>
            <a:pPr algn="l">
              <a:spcBef>
                <a:spcPts val="1000"/>
              </a:spcBef>
            </a:pPr>
            <a:r>
              <a:rPr sz="1400" b="0">
                <a:solidFill>
                  <a:srgbClr val="FFFFFF"/>
                </a:solidFill>
                <a:latin typeface="Calibri"/>
              </a:rPr>
              <a:t>  3.   Decomposition: take one big ask and break it into an ordered sequence of smaller prompts. Run them in turn.</a:t>
            </a:r>
          </a:p>
          <a:p>
            <a:pPr algn="l">
              <a:spcBef>
                <a:spcPts val="1000"/>
              </a:spcBef>
            </a:pPr>
            <a:r>
              <a:rPr sz="1400" b="0">
                <a:solidFill>
                  <a:srgbClr val="FFFFFF"/>
                </a:solidFill>
                <a:latin typeface="Calibri"/>
              </a:rPr>
              <a:t>  4.   Structured output: ask for a JSON object or table with named columns, including one the model may mark 'NONE.' See what gaps appear.</a:t>
            </a:r>
          </a:p>
          <a:p>
            <a:pPr algn="l">
              <a:spcBef>
                <a:spcPts val="1000"/>
              </a:spcBef>
            </a:pPr>
            <a:r>
              <a:rPr sz="1400" b="0">
                <a:solidFill>
                  <a:srgbClr val="FFFFFF"/>
                </a:solidFill>
                <a:latin typeface="Calibri"/>
              </a:rPr>
              <a:t>  5.   System vs. user: set a standing instruction first, then send several task prompts. Watch the standing order persist.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assembling five labeled prompt cards into a field reference binder]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Intermediate Prompting</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Few-shot: show several worked examples to pin down a pattern.</a:t>
            </a:r>
          </a:p>
          <a:p>
            <a:pPr algn="l">
              <a:spcBef>
                <a:spcPts val="1400"/>
              </a:spcBef>
            </a:pPr>
            <a:r>
              <a:rPr sz="1600" b="0">
                <a:solidFill>
                  <a:srgbClr val="FFFFFF"/>
                </a:solidFill>
                <a:latin typeface="Calibri"/>
              </a:rPr>
              <a:t>  ›  Chain-of-thought: 'show your reasoning' makes the output auditable — a verification aid.</a:t>
            </a:r>
          </a:p>
          <a:p>
            <a:pPr algn="l">
              <a:spcBef>
                <a:spcPts val="1400"/>
              </a:spcBef>
            </a:pPr>
            <a:r>
              <a:rPr sz="1600" b="0">
                <a:solidFill>
                  <a:srgbClr val="FFFFFF"/>
                </a:solidFill>
                <a:latin typeface="Calibri"/>
              </a:rPr>
              <a:t>  ›  Decomposition: break a big ask into ordered, verifiable steps.</a:t>
            </a:r>
          </a:p>
          <a:p>
            <a:pPr algn="l">
              <a:spcBef>
                <a:spcPts val="1400"/>
              </a:spcBef>
            </a:pPr>
            <a:r>
              <a:rPr sz="1600" b="0">
                <a:solidFill>
                  <a:srgbClr val="FFFFFF"/>
                </a:solidFill>
                <a:latin typeface="Calibri"/>
              </a:rPr>
              <a:t>  ›  Structured output surfaces gaps; system vs. user is standing order vs. task order.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Briefing the Machine — Prompting as a Mission Order</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CONCEPT</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Four Elements</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Role, Context, Example, Output Spec</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A vague prompt is a vague order. Structure stops the guessing.</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Iterate</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Read, tighten the next ask, repeat</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The iterative habit beats hunting for one perfect prompt.</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Few-Shot</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Show several worked examples</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Pins down a pattern one example leaves too loose.</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Chain-of-Thought</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'Show reasoning, then answer'</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Makes reasoning auditable — verification, not just quality.</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Decomposition</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Break a big ask into ordered steps</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Keeps each step verifiable; prevents a shallow single pass.</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2514600" cy="731520"/>
          </a:xfrm>
          <a:prstGeom prst="rect">
            <a:avLst/>
          </a:prstGeom>
          <a:noFill/>
        </p:spPr>
        <p:txBody>
          <a:bodyPr wrap="square">
            <a:spAutoFit/>
          </a:bodyPr>
          <a:lstStyle/>
          <a:p>
            <a:pPr algn="l"/>
            <a:r>
              <a:rPr sz="1100" b="1" i="0">
                <a:solidFill>
                  <a:srgbClr val="00B4FF"/>
                </a:solidFill>
                <a:latin typeface="Calibri"/>
              </a:rPr>
              <a:t>Structured Output</a:t>
            </a:r>
          </a:p>
        </p:txBody>
      </p:sp>
      <p:sp>
        <p:nvSpPr>
          <p:cNvPr id="39" name="TextBox 38"/>
          <p:cNvSpPr txBox="1"/>
          <p:nvPr/>
        </p:nvSpPr>
        <p:spPr>
          <a:xfrm>
            <a:off x="3310128" y="5641848"/>
            <a:ext cx="3886200" cy="731520"/>
          </a:xfrm>
          <a:prstGeom prst="rect">
            <a:avLst/>
          </a:prstGeom>
          <a:noFill/>
        </p:spPr>
        <p:txBody>
          <a:bodyPr wrap="square">
            <a:spAutoFit/>
          </a:bodyPr>
          <a:lstStyle/>
          <a:p>
            <a:pPr algn="l"/>
            <a:r>
              <a:rPr sz="1100" b="0" i="0">
                <a:solidFill>
                  <a:srgbClr val="FFFFFF"/>
                </a:solidFill>
                <a:latin typeface="Calibri"/>
              </a:rPr>
              <a:t>Ask for JSON / table / schema</a:t>
            </a:r>
          </a:p>
        </p:txBody>
      </p:sp>
      <p:sp>
        <p:nvSpPr>
          <p:cNvPr id="40" name="TextBox 39"/>
          <p:cNvSpPr txBox="1"/>
          <p:nvPr/>
        </p:nvSpPr>
        <p:spPr>
          <a:xfrm>
            <a:off x="7516368" y="5641848"/>
            <a:ext cx="4434840" cy="731520"/>
          </a:xfrm>
          <a:prstGeom prst="rect">
            <a:avLst/>
          </a:prstGeom>
          <a:noFill/>
        </p:spPr>
        <p:txBody>
          <a:bodyPr wrap="square">
            <a:spAutoFit/>
          </a:bodyPr>
          <a:lstStyle/>
          <a:p>
            <a:pPr algn="l"/>
            <a:r>
              <a:rPr sz="1100" b="0" i="0">
                <a:solidFill>
                  <a:srgbClr val="A8B4C8"/>
                </a:solidFill>
                <a:latin typeface="Calibri"/>
              </a:rPr>
              <a:t>Predictable shape, and named fields surface missing info.</a:t>
            </a:r>
          </a:p>
        </p:txBody>
      </p:sp>
      <p:sp>
        <p:nvSpPr>
          <p:cNvPr id="41" name="Rectangle 40"/>
          <p:cNvSpPr/>
          <p:nvPr/>
        </p:nvSpPr>
        <p:spPr>
          <a:xfrm>
            <a:off x="411480" y="6327648"/>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1480" y="632764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208" y="6400800"/>
            <a:ext cx="2514600" cy="731520"/>
          </a:xfrm>
          <a:prstGeom prst="rect">
            <a:avLst/>
          </a:prstGeom>
          <a:noFill/>
        </p:spPr>
        <p:txBody>
          <a:bodyPr wrap="square">
            <a:spAutoFit/>
          </a:bodyPr>
          <a:lstStyle/>
          <a:p>
            <a:pPr algn="l"/>
            <a:r>
              <a:rPr sz="1100" b="1" i="0">
                <a:solidFill>
                  <a:srgbClr val="00B4FF"/>
                </a:solidFill>
                <a:latin typeface="Calibri"/>
              </a:rPr>
              <a:t>System vs. User</a:t>
            </a:r>
          </a:p>
        </p:txBody>
      </p:sp>
      <p:sp>
        <p:nvSpPr>
          <p:cNvPr id="44" name="TextBox 43"/>
          <p:cNvSpPr txBox="1"/>
          <p:nvPr/>
        </p:nvSpPr>
        <p:spPr>
          <a:xfrm>
            <a:off x="3310128" y="6400800"/>
            <a:ext cx="3886200" cy="731520"/>
          </a:xfrm>
          <a:prstGeom prst="rect">
            <a:avLst/>
          </a:prstGeom>
          <a:noFill/>
        </p:spPr>
        <p:txBody>
          <a:bodyPr wrap="square">
            <a:spAutoFit/>
          </a:bodyPr>
          <a:lstStyle/>
          <a:p>
            <a:pPr algn="l"/>
            <a:r>
              <a:rPr sz="1100" b="0" i="0">
                <a:solidFill>
                  <a:srgbClr val="FFFFFF"/>
                </a:solidFill>
                <a:latin typeface="Calibri"/>
              </a:rPr>
              <a:t>Standing order vs. the task at hand</a:t>
            </a:r>
          </a:p>
        </p:txBody>
      </p:sp>
      <p:sp>
        <p:nvSpPr>
          <p:cNvPr id="45" name="TextBox 44"/>
          <p:cNvSpPr txBox="1"/>
          <p:nvPr/>
        </p:nvSpPr>
        <p:spPr>
          <a:xfrm>
            <a:off x="7516368" y="6400800"/>
            <a:ext cx="4434840" cy="731520"/>
          </a:xfrm>
          <a:prstGeom prst="rect">
            <a:avLst/>
          </a:prstGeom>
          <a:noFill/>
        </p:spPr>
        <p:txBody>
          <a:bodyPr wrap="square">
            <a:spAutoFit/>
          </a:bodyPr>
          <a:lstStyle/>
          <a:p>
            <a:pPr algn="l"/>
            <a:r>
              <a:rPr sz="1100" b="0" i="0">
                <a:solidFill>
                  <a:srgbClr val="A8B4C8"/>
                </a:solidFill>
                <a:latin typeface="Calibri"/>
              </a:rPr>
              <a:t>Sets up context files as durable standing orders later.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name the four elements of a deliberate prompt and ran a before/after comparison</a:t>
            </a:r>
          </a:p>
          <a:p>
            <a:pPr algn="l">
              <a:spcBef>
                <a:spcPts val="800"/>
              </a:spcBef>
            </a:pPr>
            <a:r>
              <a:rPr sz="1300" b="0">
                <a:solidFill>
                  <a:srgbClr val="A8B4C8"/>
                </a:solidFill>
                <a:latin typeface="Calibri"/>
              </a:rPr>
              <a:t>  ☐   I treat prompting as a conversation, not a one-shot command</a:t>
            </a:r>
          </a:p>
          <a:p>
            <a:pPr algn="l">
              <a:spcBef>
                <a:spcPts val="800"/>
              </a:spcBef>
            </a:pPr>
            <a:r>
              <a:rPr sz="1300" b="0">
                <a:solidFill>
                  <a:srgbClr val="A8B4C8"/>
                </a:solidFill>
                <a:latin typeface="Calibri"/>
              </a:rPr>
              <a:t>  ☐   I scrub real identifiers out of every prompt before sending it</a:t>
            </a:r>
          </a:p>
          <a:p>
            <a:pPr algn="l">
              <a:spcBef>
                <a:spcPts val="800"/>
              </a:spcBef>
            </a:pPr>
            <a:r>
              <a:rPr sz="1300" b="0">
                <a:solidFill>
                  <a:srgbClr val="A8B4C8"/>
                </a:solidFill>
                <a:latin typeface="Calibri"/>
              </a:rPr>
              <a:t>  ☐   I can use few-shot examples to pin down a pattern</a:t>
            </a:r>
          </a:p>
          <a:p>
            <a:pPr algn="l">
              <a:spcBef>
                <a:spcPts val="800"/>
              </a:spcBef>
            </a:pPr>
            <a:r>
              <a:rPr sz="1300" b="0">
                <a:solidFill>
                  <a:srgbClr val="A8B4C8"/>
                </a:solidFill>
                <a:latin typeface="Calibri"/>
              </a:rPr>
              <a:t>  ☐   I can ask for chain-of-thought reasoning and use it to verify, not just to improve quality</a:t>
            </a:r>
          </a:p>
          <a:p>
            <a:pPr algn="l">
              <a:spcBef>
                <a:spcPts val="800"/>
              </a:spcBef>
            </a:pPr>
            <a:r>
              <a:rPr sz="1300" b="0">
                <a:solidFill>
                  <a:srgbClr val="A8B4C8"/>
                </a:solidFill>
                <a:latin typeface="Calibri"/>
              </a:rPr>
              <a:t>  ☐   I can decompose a big ask into ordered, verifiable steps and request structured output to surface gaps</a:t>
            </a:r>
          </a:p>
          <a:p>
            <a:pPr algn="l">
              <a:spcBef>
                <a:spcPts val="800"/>
              </a:spcBef>
            </a:pPr>
            <a:r>
              <a:rPr sz="1300" b="0">
                <a:solidFill>
                  <a:srgbClr val="A8B4C8"/>
                </a:solidFill>
                <a:latin typeface="Calibri"/>
              </a:rPr>
              <a:t>  ☐   I can explain the difference between a system prompt and a user prompt, and I built five structured prompts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Module 2:
Briefing the Machine</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Keep your five structured prompts — they are your deliverable for this module.</a:t>
            </a:r>
          </a:p>
          <a:p>
            <a:pPr algn="l">
              <a:spcBef>
                <a:spcPts val="1000"/>
              </a:spcBef>
            </a:pPr>
            <a:r>
              <a:rPr sz="1400" b="0">
                <a:solidFill>
                  <a:srgbClr val="A8B4C8"/>
                </a:solidFill>
                <a:latin typeface="Calibri"/>
              </a:rPr>
              <a:t>  2.   Pick the one technique that helped most and make it a default habit on your real work.</a:t>
            </a:r>
          </a:p>
          <a:p>
            <a:pPr algn="l">
              <a:spcBef>
                <a:spcPts val="1000"/>
              </a:spcBef>
            </a:pPr>
            <a:r>
              <a:rPr sz="1400" b="0">
                <a:solidFill>
                  <a:srgbClr val="A8B4C8"/>
                </a:solidFill>
                <a:latin typeface="Calibri"/>
              </a:rPr>
              <a:t>  3.   Carry the chain-of-thought / structured-output instinct forward: both set up output to be verified and supervised.</a:t>
            </a:r>
          </a:p>
          <a:p>
            <a:pPr algn="l">
              <a:spcBef>
                <a:spcPts val="1000"/>
              </a:spcBef>
            </a:pPr>
            <a:r>
              <a:rPr sz="1400" b="0">
                <a:solidFill>
                  <a:srgbClr val="A8B4C8"/>
                </a:solidFill>
                <a:latin typeface="Calibri"/>
              </a:rPr>
              <a:t>  4.   Note where you used a standing instruction — that is the seed of the context files you will write in Module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