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The Proving
Ground:
Capstone Build</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INSTRUCTOR-LED  |  2-3 DAY BLOCK</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an operator at a range qualification table — the moment training becomes proof; everything earned, now demonstrated]</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Integrate every prior module into one real build — and prove you commanded it: a constraining CLAUDE.md, a full delegate-verify-own loop, and a clean recovery from a bad agent edit.</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180+ minutes  |  Graded on supervision, not just the artifact</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Scope and plan a real, demo-able project</a:t>
            </a:r>
          </a:p>
          <a:p>
            <a:pPr algn="l">
              <a:spcBef>
                <a:spcPts val="400"/>
              </a:spcBef>
            </a:pPr>
            <a:r>
              <a:rPr sz="1300" b="0">
                <a:solidFill>
                  <a:srgbClr val="A8B4C8"/>
                </a:solidFill>
                <a:latin typeface="Calibri"/>
              </a:rPr>
              <a:t>  ›  Author a CLAUDE.md that constrains a live agent run</a:t>
            </a:r>
          </a:p>
          <a:p>
            <a:pPr algn="l">
              <a:spcBef>
                <a:spcPts val="400"/>
              </a:spcBef>
            </a:pPr>
            <a:r>
              <a:rPr sz="1300" b="0">
                <a:solidFill>
                  <a:srgbClr val="A8B4C8"/>
                </a:solidFill>
                <a:latin typeface="Calibri"/>
              </a:rPr>
              <a:t>  ›  Run one full delegate-verify-own loop on the build</a:t>
            </a:r>
          </a:p>
          <a:p>
            <a:pPr algn="l">
              <a:spcBef>
                <a:spcPts val="400"/>
              </a:spcBef>
            </a:pPr>
            <a:r>
              <a:rPr sz="1300" b="0">
                <a:solidFill>
                  <a:srgbClr val="A8B4C8"/>
                </a:solidFill>
                <a:latin typeface="Calibri"/>
              </a:rPr>
              <a:t>  ›  Recover a deliberate bad agent edit with version control</a:t>
            </a:r>
          </a:p>
          <a:p>
            <a:pPr algn="l">
              <a:spcBef>
                <a:spcPts val="400"/>
              </a:spcBef>
            </a:pPr>
            <a:r>
              <a:rPr sz="1300" b="0">
                <a:solidFill>
                  <a:srgbClr val="A8B4C8"/>
                </a:solidFill>
                <a:latin typeface="Calibri"/>
              </a:rPr>
              <a:t>  ›  Document, push, and sign for a product that is yours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Mission</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Not a tutorial project — the integration of everything, graded on how you supervised it.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mission planning board with one objective circled; scoped tight enough to demo in two minutes]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Choose One Build Path — Keep It Two-Minute Small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Path A — CLI tool: password checker, MD-to-HTML, task logger</a:t>
            </a:r>
          </a:p>
          <a:p>
            <a:pPr algn="l">
              <a:spcBef>
                <a:spcPts val="300"/>
              </a:spcBef>
            </a:pPr>
            <a:r>
              <a:rPr sz="1300" b="0">
                <a:solidFill>
                  <a:srgbClr val="A8B4C8"/>
                </a:solidFill>
                <a:latin typeface="Calibri"/>
              </a:rPr>
              <a:t>      ◦  Input -&gt; logic -&gt; output, with a basic error handled</a:t>
            </a:r>
          </a:p>
          <a:p>
            <a:pPr algn="l">
              <a:spcBef>
                <a:spcPts val="700"/>
              </a:spcBef>
            </a:pPr>
            <a:r>
              <a:rPr sz="1500" b="0">
                <a:solidFill>
                  <a:srgbClr val="FFFFFF"/>
                </a:solidFill>
                <a:latin typeface="Calibri"/>
              </a:rPr>
              <a:t>  ›  Path B — Web app: note-taker, unit converter, quote generator</a:t>
            </a:r>
          </a:p>
          <a:p>
            <a:pPr algn="l">
              <a:spcBef>
                <a:spcPts val="300"/>
              </a:spcBef>
            </a:pPr>
            <a:r>
              <a:rPr sz="1300" b="0">
                <a:solidFill>
                  <a:srgbClr val="A8B4C8"/>
                </a:solidFill>
                <a:latin typeface="Calibri"/>
              </a:rPr>
              <a:t>      ◦  HTML/CSS/JS, takes input, does something, runs locally</a:t>
            </a:r>
          </a:p>
          <a:p>
            <a:pPr algn="l">
              <a:spcBef>
                <a:spcPts val="700"/>
              </a:spcBef>
            </a:pPr>
            <a:r>
              <a:rPr sz="1500" b="0">
                <a:solidFill>
                  <a:srgbClr val="FFFFFF"/>
                </a:solidFill>
                <a:latin typeface="Calibri"/>
              </a:rPr>
              <a:t>  ›  Path C — API integration: calls a free public API, handles errors</a:t>
            </a:r>
          </a:p>
          <a:p>
            <a:pPr algn="l">
              <a:spcBef>
                <a:spcPts val="700"/>
              </a:spcBef>
            </a:pPr>
            <a:r>
              <a:rPr sz="1500" b="0">
                <a:solidFill>
                  <a:srgbClr val="FFFFFF"/>
                </a:solidFill>
                <a:latin typeface="Calibri"/>
              </a:rPr>
              <a:t>  ›  Every path, same standard:</a:t>
            </a:r>
          </a:p>
          <a:p>
            <a:pPr algn="l">
              <a:spcBef>
                <a:spcPts val="300"/>
              </a:spcBef>
            </a:pPr>
            <a:r>
              <a:rPr sz="1300" b="0">
                <a:solidFill>
                  <a:srgbClr val="A8B4C8"/>
                </a:solidFill>
                <a:latin typeface="Calibri"/>
              </a:rPr>
              <a:t>      ◦  README, 5+ meaningful commits, no credentials in history, on GitHub</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two-minute test: if you can't demo it in two minutes, it's too big. A small build cleanly supervised beats an ambitious one you never finished verifying.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Your project has to be impressive AND leave room to verify the agent's work inside your time budget. When those conflict, which do you protect, and why is that the right call for THIS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The Mission</a:t>
            </a:r>
          </a:p>
        </p:txBody>
      </p:sp>
      <p:sp>
        <p:nvSpPr>
          <p:cNvPr id="7" name="Rectangle 6"/>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11091672" cy="5349240"/>
          </a:xfrm>
          <a:prstGeom prst="rect">
            <a:avLst/>
          </a:prstGeom>
          <a:noFill/>
        </p:spPr>
        <p:txBody>
          <a:bodyPr wrap="square">
            <a:spAutoFit/>
          </a:bodyPr>
          <a:lstStyle/>
          <a:p>
            <a:pPr algn="l">
              <a:spcBef>
                <a:spcPts val="1000"/>
              </a:spcBef>
            </a:pPr>
            <a:r>
              <a:rPr sz="1400" b="0">
                <a:solidFill>
                  <a:srgbClr val="FFFFFF"/>
                </a:solidFill>
                <a:latin typeface="Calibri"/>
              </a:rPr>
              <a:t>  1.   Pick a path. Write a one-paragraph description and list 3-5 features.</a:t>
            </a:r>
          </a:p>
          <a:p>
            <a:pPr algn="l">
              <a:spcBef>
                <a:spcPts val="1000"/>
              </a:spcBef>
            </a:pPr>
            <a:r>
              <a:rPr sz="1400" b="0">
                <a:solidFill>
                  <a:srgbClr val="FFFFFF"/>
                </a:solidFill>
                <a:latin typeface="Calibri"/>
              </a:rPr>
              <a:t>  2.   Apply the two-minute test out loud. Cut scope until it passes.</a:t>
            </a:r>
          </a:p>
          <a:p>
            <a:pPr algn="l">
              <a:spcBef>
                <a:spcPts val="1000"/>
              </a:spcBef>
            </a:pPr>
            <a:r>
              <a:rPr sz="1400" b="0">
                <a:solidFill>
                  <a:srgbClr val="FFFFFF"/>
                </a:solidFill>
                <a:latin typeface="Calibri"/>
              </a:rPr>
              <a:t>  3.   Commit the plan: git commit -m 'Initial project plan'.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Mission</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capstone certifies command of an agent, not hand-written code</a:t>
            </a:r>
          </a:p>
          <a:p>
            <a:pPr algn="l">
              <a:spcBef>
                <a:spcPts val="1400"/>
              </a:spcBef>
            </a:pPr>
            <a:r>
              <a:rPr sz="1600" b="0">
                <a:solidFill>
                  <a:srgbClr val="FFFFFF"/>
                </a:solidFill>
                <a:latin typeface="Calibri"/>
              </a:rPr>
              <a:t>  ›  Three build paths; same standard of README, commits, and a live product</a:t>
            </a:r>
          </a:p>
          <a:p>
            <a:pPr algn="l">
              <a:spcBef>
                <a:spcPts val="1400"/>
              </a:spcBef>
            </a:pPr>
            <a:r>
              <a:rPr sz="1600" b="0">
                <a:solidFill>
                  <a:srgbClr val="FFFFFF"/>
                </a:solidFill>
                <a:latin typeface="Calibri"/>
              </a:rPr>
              <a:t>  ›  Two-minute test keeps scope small enough to reach the verify loop</a:t>
            </a:r>
          </a:p>
          <a:p>
            <a:pPr algn="l">
              <a:spcBef>
                <a:spcPts val="1400"/>
              </a:spcBef>
            </a:pPr>
            <a:r>
              <a:rPr sz="1600" b="0">
                <a:solidFill>
                  <a:srgbClr val="FFFFFF"/>
                </a:solidFill>
                <a:latin typeface="Calibri"/>
              </a:rPr>
              <a:t>  ›  Under-scoping is recoverable; over-scoping kills the graded loop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Set the
Standing Orders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CLAUDE.md that actually binds the agent — real scope, real prohibitions, real read-only files.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posted operations order at the CP; the agent reads it before it touches the first file]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 CLAUDE.md That Constrains a Real Run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Scope boundary — what the project is AND what it is NOT</a:t>
            </a:r>
          </a:p>
          <a:p>
            <a:pPr algn="l">
              <a:spcBef>
                <a:spcPts val="700"/>
              </a:spcBef>
            </a:pPr>
            <a:r>
              <a:rPr sz="1500" b="0">
                <a:solidFill>
                  <a:srgbClr val="FFFFFF"/>
                </a:solidFill>
                <a:latin typeface="Calibri"/>
              </a:rPr>
              <a:t>  ›  Hard prohibitions — 2+ enforceable 'never' rules</a:t>
            </a:r>
          </a:p>
          <a:p>
            <a:pPr algn="l">
              <a:spcBef>
                <a:spcPts val="700"/>
              </a:spcBef>
            </a:pPr>
            <a:r>
              <a:rPr sz="1500" b="0">
                <a:solidFill>
                  <a:srgbClr val="FFFFFF"/>
                </a:solidFill>
                <a:latin typeface="Calibri"/>
              </a:rPr>
              <a:t>  ›  Modifiable surface — which files the agent may change vs read-only</a:t>
            </a:r>
          </a:p>
          <a:p>
            <a:pPr algn="l">
              <a:spcBef>
                <a:spcPts val="700"/>
              </a:spcBef>
            </a:pPr>
            <a:r>
              <a:rPr sz="1500" b="0">
                <a:solidFill>
                  <a:srgbClr val="FFFFFF"/>
                </a:solidFill>
                <a:latin typeface="Calibri"/>
              </a:rPr>
              <a:t>  ›  Done criteria — a finish line you and the agent share</a:t>
            </a:r>
          </a:p>
          <a:p>
            <a:pPr algn="l">
              <a:spcBef>
                <a:spcPts val="700"/>
              </a:spcBef>
            </a:pPr>
            <a:r>
              <a:rPr sz="1500" b="0">
                <a:solidFill>
                  <a:srgbClr val="FFFFFF"/>
                </a:solidFill>
                <a:latin typeface="Calibri"/>
              </a:rPr>
              <a:t>  ›  Conflict rule — which requirement wins (e.g. security beats speed)</a:t>
            </a:r>
          </a:p>
          <a:p>
            <a:pPr algn="l">
              <a:spcBef>
                <a:spcPts val="700"/>
              </a:spcBef>
            </a:pPr>
            <a:r>
              <a:rPr sz="1500" b="0">
                <a:solidFill>
                  <a:srgbClr val="FFFFFF"/>
                </a:solidFill>
                <a:latin typeface="Calibri"/>
              </a:rPr>
              <a:t>  ›  Set up the project context exactly as in Module 10:</a:t>
            </a:r>
          </a:p>
          <a:p>
            <a:pPr algn="l">
              <a:spcBef>
                <a:spcPts val="300"/>
              </a:spcBef>
            </a:pPr>
            <a:r>
              <a:rPr sz="1300" b="0">
                <a:solidFill>
                  <a:srgbClr val="A8B4C8"/>
                </a:solidFill>
                <a:latin typeface="Calibri"/>
              </a:rPr>
              <a:t>      ◦  .claude/ folder, your CLAUDE.md, your me.md — then confirm it's read</a:t>
            </a:r>
          </a:p>
          <a:p>
            <a:pPr algn="l">
              <a:spcBef>
                <a:spcPts val="700"/>
              </a:spcBef>
            </a:pPr>
            <a:r>
              <a:rPr sz="1500" b="0">
                <a:solidFill>
                  <a:srgbClr val="FFFFFF"/>
                </a:solidFill>
                <a:latin typeface="Calibri"/>
              </a:rPr>
              <a:t>  ›  NET-NEW: the build is now an agentic deliverable, not solo coding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 CLAUDE.md that constrains nothing is not graded as steering. Add a real read-only file and a rule that protects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 Constraint That Earns Its Place</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Graded evidence that your standing orders held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91672" cy="4663440"/>
          </a:xfrm>
          <a:prstGeom prst="rect">
            <a:avLst/>
          </a:prstGeom>
          <a:noFill/>
        </p:spPr>
        <p:txBody>
          <a:bodyPr wrap="square">
            <a:spAutoFit/>
          </a:bodyPr>
          <a:lstStyle/>
          <a:p>
            <a:pPr algn="l">
              <a:spcBef>
                <a:spcPts val="300"/>
              </a:spcBef>
            </a:pPr>
            <a:r>
              <a:rPr sz="1200" b="0">
                <a:solidFill>
                  <a:srgbClr val="FFFFFF"/>
                </a:solidFill>
                <a:latin typeface="Calibri"/>
              </a:rPr>
              <a:t>Add a read-only file to the project, e.g. config.example.json,</a:t>
            </a:r>
          </a:p>
          <a:p>
            <a:pPr algn="l">
              <a:spcBef>
                <a:spcPts val="300"/>
              </a:spcBef>
            </a:pPr>
            <a:r>
              <a:rPr sz="1200" b="0">
                <a:solidFill>
                  <a:srgbClr val="FFFFFF"/>
                </a:solidFill>
                <a:latin typeface="Calibri"/>
              </a:rPr>
              <a:t>and a CLAUDE.md rule:</a:t>
            </a:r>
          </a:p>
          <a:p>
            <a:pPr algn="l">
              <a:spcBef>
                <a:spcPts val="800"/>
              </a:spcBef>
            </a:pPr>
            <a:r>
              <a:rPr sz="1200" b="0">
                <a:solidFill>
                  <a:srgbClr val="FFFFFF"/>
                </a:solidFill>
                <a:latin typeface="Calibri"/>
              </a:rPr>
              <a:t/>
            </a:r>
          </a:p>
          <a:p>
            <a:pPr algn="l">
              <a:spcBef>
                <a:spcPts val="300"/>
              </a:spcBef>
            </a:pPr>
            <a:r>
              <a:rPr sz="1200" b="0">
                <a:solidFill>
                  <a:srgbClr val="A8B4C8"/>
                </a:solidFill>
                <a:latin typeface="Calibri"/>
              </a:rPr>
              <a:t>  'Never modify config.example.json;</a:t>
            </a:r>
          </a:p>
          <a:p>
            <a:pPr algn="l">
              <a:spcBef>
                <a:spcPts val="300"/>
              </a:spcBef>
            </a:pPr>
            <a:r>
              <a:rPr sz="1200" b="0">
                <a:solidFill>
                  <a:srgbClr val="A8B4C8"/>
                </a:solidFill>
                <a:latin typeface="Calibri"/>
              </a:rPr>
              <a:t>   it is the reference template.'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Later, ask the agent to 'update the config.'</a:t>
            </a:r>
          </a:p>
          <a:p>
            <a:pPr algn="l">
              <a:spcBef>
                <a:spcPts val="800"/>
              </a:spcBef>
            </a:pPr>
            <a:r>
              <a:rPr sz="1200" b="0">
                <a:solidFill>
                  <a:srgbClr val="FFFFFF"/>
                </a:solidFill>
                <a:latin typeface="Calibri"/>
              </a:rPr>
              <a:t/>
            </a:r>
          </a:p>
          <a:p>
            <a:pPr algn="l">
              <a:spcBef>
                <a:spcPts val="300"/>
              </a:spcBef>
            </a:pPr>
            <a:r>
              <a:rPr sz="1200" b="0">
                <a:solidFill>
                  <a:srgbClr val="A8B4C8"/>
                </a:solidFill>
                <a:latin typeface="Calibri"/>
              </a:rPr>
              <a:t>  A constrained agent refuses or asks.</a:t>
            </a:r>
          </a:p>
          <a:p>
            <a:pPr algn="l">
              <a:spcBef>
                <a:spcPts val="300"/>
              </a:spcBef>
            </a:pPr>
            <a:r>
              <a:rPr sz="1200" b="0">
                <a:solidFill>
                  <a:srgbClr val="A8B4C8"/>
                </a:solidFill>
                <a:latin typeface="Calibri"/>
              </a:rPr>
              <a:t>  An ungoverned agent edits the protected file.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That single interaction is graded proof the boundary held —</a:t>
            </a:r>
          </a:p>
          <a:p>
            <a:pPr algn="l">
              <a:spcBef>
                <a:spcPts val="300"/>
              </a:spcBef>
            </a:pPr>
            <a:r>
              <a:rPr sz="1200" b="0">
                <a:solidFill>
                  <a:srgbClr val="FFFFFF"/>
                </a:solidFill>
                <a:latin typeface="Calibri"/>
              </a:rPr>
              <a:t>or proof it didn't.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Context File Is Sent to the Provider</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CLAUDE.md and me.md ship with every request</a:t>
            </a:r>
          </a:p>
          <a:p>
            <a:pPr algn="l">
              <a:spcBef>
                <a:spcPts val="700"/>
              </a:spcBef>
            </a:pPr>
            <a:r>
              <a:rPr sz="1500" b="0">
                <a:solidFill>
                  <a:srgbClr val="FFFFFF"/>
                </a:solidFill>
                <a:latin typeface="Calibri"/>
              </a:rPr>
              <a:t>  ›  Data-handling bright line (Module 1) applies in full:</a:t>
            </a:r>
          </a:p>
          <a:p>
            <a:pPr algn="l">
              <a:spcBef>
                <a:spcPts val="300"/>
              </a:spcBef>
            </a:pPr>
            <a:r>
              <a:rPr sz="1300" b="0">
                <a:solidFill>
                  <a:srgbClr val="A8B4C8"/>
                </a:solidFill>
                <a:latin typeface="Calibri"/>
              </a:rPr>
              <a:t>      ◦  No real names, no real units, no credentials, nothing above the ceiling</a:t>
            </a:r>
          </a:p>
          <a:p>
            <a:pPr algn="l">
              <a:spcBef>
                <a:spcPts val="700"/>
              </a:spcBef>
            </a:pPr>
            <a:r>
              <a:rPr sz="1500" b="0">
                <a:solidFill>
                  <a:srgbClr val="FFFFFF"/>
                </a:solidFill>
                <a:latin typeface="Calibri"/>
              </a:rPr>
              <a:t>  ›  Not in the project, not in context files, not in your build prompts</a:t>
            </a:r>
          </a:p>
          <a:p>
            <a:pPr algn="l">
              <a:spcBef>
                <a:spcPts val="300"/>
              </a:spcBef>
            </a:pPr>
            <a:r>
              <a:rPr sz="1300" b="0">
                <a:solidFill>
                  <a:srgbClr val="A8B4C8"/>
                </a:solidFill>
                <a:latin typeface="Calibri"/>
              </a:rPr>
              <a:t>      ◦  This is graded — see the rubric</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before delivery: the scrub discipline reaches all the way into your context files and the prompts you give the agent mid-build.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ask the agent to 'clean up the config,' and your CLAUDE.md marks the reference config read-only. What should a correctly governed agent do — and what does it tell you if it edits the file anyway?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Standing Orders</a:t>
            </a:r>
          </a:p>
        </p:txBody>
      </p:sp>
      <p:sp>
        <p:nvSpPr>
          <p:cNvPr id="7" name="Rectangle 6"/>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11091672" cy="5349240"/>
          </a:xfrm>
          <a:prstGeom prst="rect">
            <a:avLst/>
          </a:prstGeom>
          <a:noFill/>
        </p:spPr>
        <p:txBody>
          <a:bodyPr wrap="square">
            <a:spAutoFit/>
          </a:bodyPr>
          <a:lstStyle/>
          <a:p>
            <a:pPr algn="l">
              <a:spcBef>
                <a:spcPts val="1000"/>
              </a:spcBef>
            </a:pPr>
            <a:r>
              <a:rPr sz="1400" b="0">
                <a:solidFill>
                  <a:srgbClr val="FFFFFF"/>
                </a:solidFill>
                <a:latin typeface="Calibri"/>
              </a:rPr>
              <a:t>  1.   Create the .claude/ folder; add your CLAUDE.md and me.md.</a:t>
            </a:r>
          </a:p>
          <a:p>
            <a:pPr algn="l">
              <a:spcBef>
                <a:spcPts val="1000"/>
              </a:spcBef>
            </a:pPr>
            <a:r>
              <a:rPr sz="1400" b="0">
                <a:solidFill>
                  <a:srgbClr val="FFFFFF"/>
                </a:solidFill>
                <a:latin typeface="Calibri"/>
              </a:rPr>
              <a:t>  2.   Write a CLAUDE.md: scope boundary, 2+ prohibitions, a named read-only file, done criteria, a conflict rule.</a:t>
            </a:r>
          </a:p>
          <a:p>
            <a:pPr algn="l">
              <a:spcBef>
                <a:spcPts val="1000"/>
              </a:spcBef>
            </a:pPr>
            <a:r>
              <a:rPr sz="1400" b="0">
                <a:solidFill>
                  <a:srgbClr val="FFFFFF"/>
                </a:solidFill>
                <a:latin typeface="Calibri"/>
              </a:rPr>
              <a:t>  3.   Add an actual read-only file the prohibition protects.</a:t>
            </a:r>
          </a:p>
          <a:p>
            <a:pPr algn="l">
              <a:spcBef>
                <a:spcPts val="1000"/>
              </a:spcBef>
            </a:pPr>
            <a:r>
              <a:rPr sz="1400" b="0">
                <a:solidFill>
                  <a:srgbClr val="FFFFFF"/>
                </a:solidFill>
                <a:latin typeface="Calibri"/>
              </a:rPr>
              <a:t>  4.   Run the agent; ask it to summarize the project; confirm it cites the CLAUDE.md.</a:t>
            </a:r>
          </a:p>
          <a:p>
            <a:pPr algn="l">
              <a:spcBef>
                <a:spcPts val="1000"/>
              </a:spcBef>
            </a:pPr>
            <a:r>
              <a:rPr sz="1400" b="0">
                <a:solidFill>
                  <a:srgbClr val="FFFFFF"/>
                </a:solidFill>
                <a:latin typeface="Calibri"/>
              </a:rPr>
              <a:t>  5.   Commit: git commit -m 'Project setup with constrained context files'.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Standing Orders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capstone CLAUDE.md must constrain a live agent, not describe it warmly</a:t>
            </a:r>
          </a:p>
          <a:p>
            <a:pPr algn="l">
              <a:spcBef>
                <a:spcPts val="1400"/>
              </a:spcBef>
            </a:pPr>
            <a:r>
              <a:rPr sz="1600" b="0">
                <a:solidFill>
                  <a:srgbClr val="FFFFFF"/>
                </a:solidFill>
                <a:latin typeface="Calibri"/>
              </a:rPr>
              <a:t>  ›  At least one testable prohibition and a named read-only file</a:t>
            </a:r>
          </a:p>
          <a:p>
            <a:pPr algn="l">
              <a:spcBef>
                <a:spcPts val="1400"/>
              </a:spcBef>
            </a:pPr>
            <a:r>
              <a:rPr sz="1600" b="0">
                <a:solidFill>
                  <a:srgbClr val="FFFFFF"/>
                </a:solidFill>
                <a:latin typeface="Calibri"/>
              </a:rPr>
              <a:t>  ›  Context files carry the Module 1 data-handling discipline — and it's graded</a:t>
            </a:r>
          </a:p>
          <a:p>
            <a:pPr algn="l">
              <a:spcBef>
                <a:spcPts val="1400"/>
              </a:spcBef>
            </a:pPr>
            <a:r>
              <a:rPr sz="1600" b="0">
                <a:solidFill>
                  <a:srgbClr val="FFFFFF"/>
                </a:solidFill>
                <a:latin typeface="Calibri"/>
              </a:rPr>
              <a:t>  ›  The build is an agentic deliverable: the context file is part of the proof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Loop:
Delegate,
Verify, Own</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graded heart of the capstone — performed deliberately and documented, not by reflex.</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three-station cycle diagram rendered as a fire-mission loop: call, confirm, sign for the effect]</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One Full Turn of the Loop, Made Explicit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DELEGATE — give a concrete, bounded task with the context it needs</a:t>
            </a:r>
          </a:p>
          <a:p>
            <a:pPr algn="l">
              <a:spcBef>
                <a:spcPts val="300"/>
              </a:spcBef>
            </a:pPr>
            <a:r>
              <a:rPr sz="1300" b="0">
                <a:solidFill>
                  <a:srgbClr val="A8B4C8"/>
                </a:solidFill>
                <a:latin typeface="Calibri"/>
              </a:rPr>
              <a:t>      ◦  Vague order, vague result — deliberate prompting still applies</a:t>
            </a:r>
          </a:p>
          <a:p>
            <a:pPr algn="l">
              <a:spcBef>
                <a:spcPts val="700"/>
              </a:spcBef>
            </a:pPr>
            <a:r>
              <a:rPr sz="1500" b="0">
                <a:solidFill>
                  <a:srgbClr val="FFFFFF"/>
                </a:solidFill>
                <a:latin typeface="Calibri"/>
              </a:rPr>
              <a:t>  ›  VERIFY — do not accept 'done' on the agent's word</a:t>
            </a:r>
          </a:p>
          <a:p>
            <a:pPr algn="l">
              <a:spcBef>
                <a:spcPts val="300"/>
              </a:spcBef>
            </a:pPr>
            <a:r>
              <a:rPr sz="1300" b="0">
                <a:solidFill>
                  <a:srgbClr val="A8B4C8"/>
                </a:solidFill>
                <a:latin typeface="Calibri"/>
              </a:rPr>
              <a:t>      ◦  Read the code and narrate it (Module 10); run it; confirm no rule broken</a:t>
            </a:r>
          </a:p>
          <a:p>
            <a:pPr algn="l">
              <a:spcBef>
                <a:spcPts val="300"/>
              </a:spcBef>
            </a:pPr>
            <a:r>
              <a:rPr sz="1300" b="0">
                <a:solidFill>
                  <a:srgbClr val="A8B4C8"/>
                </a:solidFill>
                <a:latin typeface="Calibri"/>
              </a:rPr>
              <a:t>      ◦  Check the files it CLAIMS it changed are the files it ACTUALLY changed</a:t>
            </a:r>
          </a:p>
          <a:p>
            <a:pPr algn="l">
              <a:spcBef>
                <a:spcPts val="300"/>
              </a:spcBef>
            </a:pPr>
            <a:r>
              <a:rPr sz="1300" b="0">
                <a:solidFill>
                  <a:srgbClr val="A8B4C8"/>
                </a:solidFill>
                <a:latin typeface="Calibri"/>
              </a:rPr>
              <a:t>      ◦  This is the 'verify after acting' reflex from M5/M7 — here it's graded</a:t>
            </a:r>
          </a:p>
          <a:p>
            <a:pPr algn="l">
              <a:spcBef>
                <a:spcPts val="700"/>
              </a:spcBef>
            </a:pPr>
            <a:r>
              <a:rPr sz="1500" b="0">
                <a:solidFill>
                  <a:srgbClr val="FFFFFF"/>
                </a:solidFill>
                <a:latin typeface="Calibri"/>
              </a:rPr>
              <a:t>  ›  OWN — you sign for the result; 'the agent did it' is no defense (M9)</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loop is the single highest-weighted rubric item — it is the skill the whole course exists to certify.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Verify Against the Work, Not the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diff is the evidence — the agent's 'done' is not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91672" cy="4663440"/>
          </a:xfrm>
          <a:prstGeom prst="rect">
            <a:avLst/>
          </a:prstGeom>
          <a:noFill/>
        </p:spPr>
        <p:txBody>
          <a:bodyPr wrap="square">
            <a:spAutoFit/>
          </a:bodyPr>
          <a:lstStyle/>
          <a:p>
            <a:pPr algn="l">
              <a:spcBef>
                <a:spcPts val="300"/>
              </a:spcBef>
            </a:pPr>
            <a:r>
              <a:rPr sz="1200" b="0">
                <a:solidFill>
                  <a:srgbClr val="FFFFFF"/>
                </a:solidFill>
                <a:latin typeface="Calibri"/>
              </a:rPr>
              <a:t>The agent reports:</a:t>
            </a:r>
          </a:p>
          <a:p>
            <a:pPr algn="l">
              <a:spcBef>
                <a:spcPts val="300"/>
              </a:spcBef>
            </a:pPr>
            <a:r>
              <a:rPr sz="1200" b="0">
                <a:solidFill>
                  <a:srgbClr val="A8B4C8"/>
                </a:solidFill>
                <a:latin typeface="Calibri"/>
              </a:rPr>
              <a:t>  'Done — added the feature and updated the tests.'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Trusting that sentence is not verification.</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Verifying means you:</a:t>
            </a:r>
          </a:p>
          <a:p>
            <a:pPr algn="l">
              <a:spcBef>
                <a:spcPts val="300"/>
              </a:spcBef>
            </a:pPr>
            <a:r>
              <a:rPr sz="1200" b="0">
                <a:solidFill>
                  <a:srgbClr val="A8B4C8"/>
                </a:solidFill>
                <a:latin typeface="Calibri"/>
              </a:rPr>
              <a:t>  - read what the code actually does and narrate it back</a:t>
            </a:r>
          </a:p>
          <a:p>
            <a:pPr algn="l">
              <a:spcBef>
                <a:spcPts val="300"/>
              </a:spcBef>
            </a:pPr>
            <a:r>
              <a:rPr sz="1200" b="0">
                <a:solidFill>
                  <a:srgbClr val="A8B4C8"/>
                </a:solidFill>
                <a:latin typeface="Calibri"/>
              </a:rPr>
              <a:t>  - run it and confirm it does the task</a:t>
            </a:r>
          </a:p>
          <a:p>
            <a:pPr algn="l">
              <a:spcBef>
                <a:spcPts val="300"/>
              </a:spcBef>
            </a:pPr>
            <a:r>
              <a:rPr sz="1200" b="0">
                <a:solidFill>
                  <a:srgbClr val="A8B4C8"/>
                </a:solidFill>
                <a:latin typeface="Calibri"/>
              </a:rPr>
              <a:t>  - confirm it broke no prohibition from your CLAUDE.md</a:t>
            </a:r>
          </a:p>
          <a:p>
            <a:pPr algn="l">
              <a:spcBef>
                <a:spcPts val="300"/>
              </a:spcBef>
            </a:pPr>
            <a:r>
              <a:rPr sz="1200" b="0">
                <a:solidFill>
                  <a:srgbClr val="A8B4C8"/>
                </a:solidFill>
                <a:latin typeface="Calibri"/>
              </a:rPr>
              <a:t>  - read the DIFF and confirm it matches the agent's claim</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most expensive capstone failures come from accepting a</a:t>
            </a:r>
          </a:p>
          <a:p>
            <a:pPr algn="l">
              <a:spcBef>
                <a:spcPts val="300"/>
              </a:spcBef>
            </a:pPr>
            <a:r>
              <a:rPr sz="1200" b="0">
                <a:solidFill>
                  <a:srgbClr val="FFFFFF"/>
                </a:solidFill>
                <a:latin typeface="Calibri"/>
              </a:rPr>
              <a:t>confident 'done' without checking the artifact underneath.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The agent says it changed only app.js, but the diff also shows an edit to a file your CLAUDE.md marked read-only. What does a correct OWNER do — and what does this tell you about trusting the agent's summary?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The Loop</a:t>
            </a:r>
          </a:p>
        </p:txBody>
      </p:sp>
      <p:sp>
        <p:nvSpPr>
          <p:cNvPr id="7" name="Rectangle 6"/>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11091672" cy="5349240"/>
          </a:xfrm>
          <a:prstGeom prst="rect">
            <a:avLst/>
          </a:prstGeom>
          <a:noFill/>
        </p:spPr>
        <p:txBody>
          <a:bodyPr wrap="square">
            <a:spAutoFit/>
          </a:bodyPr>
          <a:lstStyle/>
          <a:p>
            <a:pPr algn="l">
              <a:spcBef>
                <a:spcPts val="1000"/>
              </a:spcBef>
            </a:pPr>
            <a:r>
              <a:rPr sz="1400" b="0">
                <a:solidFill>
                  <a:srgbClr val="FFFFFF"/>
                </a:solidFill>
                <a:latin typeface="Calibri"/>
              </a:rPr>
              <a:t>  1.   DELEGATE: give the agent one concrete build task scoped by your CLAUDE.md.</a:t>
            </a:r>
          </a:p>
          <a:p>
            <a:pPr algn="l">
              <a:spcBef>
                <a:spcPts val="1000"/>
              </a:spcBef>
            </a:pPr>
            <a:r>
              <a:rPr sz="1400" b="0">
                <a:solidFill>
                  <a:srgbClr val="FFFFFF"/>
                </a:solidFill>
                <a:latin typeface="Calibri"/>
              </a:rPr>
              <a:t>  2.   VERIFY: read and narrate the code; run it; confirm no prohibition broken; check the diff matches the agent's claim.</a:t>
            </a:r>
          </a:p>
          <a:p>
            <a:pPr algn="l">
              <a:spcBef>
                <a:spcPts val="1000"/>
              </a:spcBef>
            </a:pPr>
            <a:r>
              <a:rPr sz="1400" b="0">
                <a:solidFill>
                  <a:srgbClr val="FFFFFF"/>
                </a:solidFill>
                <a:latin typeface="Calibri"/>
              </a:rPr>
              <a:t>  3.   OWN: if correct, commit with a message naming what you verified (e.g. 'Add input validation — verified rejects empty input, no protected files touched').</a:t>
            </a:r>
          </a:p>
          <a:p>
            <a:pPr algn="l">
              <a:spcBef>
                <a:spcPts val="1000"/>
              </a:spcBef>
            </a:pPr>
            <a:r>
              <a:rPr sz="1400" b="0">
                <a:solidFill>
                  <a:srgbClr val="FFFFFF"/>
                </a:solidFill>
                <a:latin typeface="Calibri"/>
              </a:rPr>
              <a:t>  4.   If wrong, send it back with a specific correction.</a:t>
            </a:r>
          </a:p>
          <a:p>
            <a:pPr algn="l">
              <a:spcBef>
                <a:spcPts val="1000"/>
              </a:spcBef>
            </a:pPr>
            <a:r>
              <a:rPr sz="1400" b="0">
                <a:solidFill>
                  <a:srgbClr val="FFFFFF"/>
                </a:solidFill>
                <a:latin typeface="Calibri"/>
              </a:rPr>
              <a:t>  5.   Repeat for one more feature so the loop is a habit, not a one-off.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Loop</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Delegate a bounded task, verify the work, own the result</a:t>
            </a:r>
          </a:p>
          <a:p>
            <a:pPr algn="l">
              <a:spcBef>
                <a:spcPts val="1400"/>
              </a:spcBef>
            </a:pPr>
            <a:r>
              <a:rPr sz="1600" b="0">
                <a:solidFill>
                  <a:srgbClr val="FFFFFF"/>
                </a:solidFill>
                <a:latin typeface="Calibri"/>
              </a:rPr>
              <a:t>  ›  Verify against the diff, never against the agent's summary</a:t>
            </a:r>
          </a:p>
          <a:p>
            <a:pPr algn="l">
              <a:spcBef>
                <a:spcPts val="1400"/>
              </a:spcBef>
            </a:pPr>
            <a:r>
              <a:rPr sz="1600" b="0">
                <a:solidFill>
                  <a:srgbClr val="FFFFFF"/>
                </a:solidFill>
                <a:latin typeface="Calibri"/>
              </a:rPr>
              <a:t>  ›  An unexpected edit to a protected file is a FAILED verification</a:t>
            </a:r>
          </a:p>
          <a:p>
            <a:pPr algn="l">
              <a:spcBef>
                <a:spcPts val="1400"/>
              </a:spcBef>
            </a:pPr>
            <a:r>
              <a:rPr sz="1600" b="0">
                <a:solidFill>
                  <a:srgbClr val="FFFFFF"/>
                </a:solidFill>
                <a:latin typeface="Calibri"/>
              </a:rPr>
              <a:t>  ›  This documented loop is the highest-weighted item on the rubric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Rewind:
Recover a
Bad Edit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Deliberately let an agent edit go wrong — then recover cleanly with git.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duty logbook open to a prior entry; a finger marking the last known-good page to return to]</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Rewind, Start to Finish</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Commit known-good FIRST — you can only rewind to a snapshot you took</a:t>
            </a:r>
          </a:p>
          <a:p>
            <a:pPr algn="l">
              <a:spcBef>
                <a:spcPts val="300"/>
              </a:spcBef>
            </a:pPr>
            <a:r>
              <a:rPr sz="1300" b="0">
                <a:solidFill>
                  <a:srgbClr val="A8B4C8"/>
                </a:solidFill>
                <a:latin typeface="Calibri"/>
              </a:rPr>
              <a:t>      ◦  This is why the loop commits after every verified feature</a:t>
            </a:r>
          </a:p>
          <a:p>
            <a:pPr algn="l">
              <a:spcBef>
                <a:spcPts val="700"/>
              </a:spcBef>
            </a:pPr>
            <a:r>
              <a:rPr sz="1500" b="0">
                <a:solidFill>
                  <a:srgbClr val="FFFFFF"/>
                </a:solidFill>
                <a:latin typeface="Calibri"/>
              </a:rPr>
              <a:t>  ›  Recognize the bad edit — broken function, deleted line, protected-file edit</a:t>
            </a:r>
          </a:p>
          <a:p>
            <a:pPr algn="l">
              <a:spcBef>
                <a:spcPts val="700"/>
              </a:spcBef>
            </a:pPr>
            <a:r>
              <a:rPr sz="1500" b="0">
                <a:solidFill>
                  <a:srgbClr val="FFFFFF"/>
                </a:solidFill>
                <a:latin typeface="Calibri"/>
              </a:rPr>
              <a:t>  ›  Roll back — return the file or working tree to the last good commit</a:t>
            </a:r>
          </a:p>
          <a:p>
            <a:pPr algn="l">
              <a:spcBef>
                <a:spcPts val="300"/>
              </a:spcBef>
            </a:pPr>
            <a:r>
              <a:rPr sz="1300" b="0">
                <a:solidFill>
                  <a:srgbClr val="A8B4C8"/>
                </a:solidFill>
                <a:latin typeface="Calibri"/>
              </a:rPr>
              <a:t>      ◦  The bad edit is undone; your verified history is intact</a:t>
            </a:r>
          </a:p>
          <a:p>
            <a:pPr algn="l">
              <a:spcBef>
                <a:spcPts val="700"/>
              </a:spcBef>
            </a:pPr>
            <a:r>
              <a:rPr sz="1500" b="0">
                <a:solidFill>
                  <a:srgbClr val="FFFFFF"/>
                </a:solidFill>
                <a:latin typeface="Calibri"/>
              </a:rPr>
              <a:t>  ›  Re-issue — hand the task back with a tighter instruction, run the loop again</a:t>
            </a:r>
          </a:p>
          <a:p>
            <a:pPr algn="l">
              <a:spcBef>
                <a:spcPts val="700"/>
              </a:spcBef>
            </a:pPr>
            <a:r>
              <a:rPr sz="1500" b="0">
                <a:solidFill>
                  <a:srgbClr val="FFFFFF"/>
                </a:solidFill>
                <a:latin typeface="Calibri"/>
              </a:rPr>
              <a:t>  ›  NET-NEW and graded: a deliberate bad-edit-and-recover, not a hypothetical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Git is the duty logbook from Module 6 — a time machine. The capstone makes you use it under the exact condition it exists for.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You Can Only Recover to a Commit You Made</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rewind works only if you committed known-good BEFORE the bad edit</a:t>
            </a:r>
          </a:p>
          <a:p>
            <a:pPr algn="l">
              <a:spcBef>
                <a:spcPts val="700"/>
              </a:spcBef>
            </a:pPr>
            <a:r>
              <a:rPr sz="1500" b="0">
                <a:solidFill>
                  <a:srgbClr val="FFFFFF"/>
                </a:solidFill>
                <a:latin typeface="Calibri"/>
              </a:rPr>
              <a:t>  ›  That is the operational reason the loop commits after every feature</a:t>
            </a:r>
          </a:p>
          <a:p>
            <a:pPr algn="l">
              <a:spcBef>
                <a:spcPts val="300"/>
              </a:spcBef>
            </a:pPr>
            <a:r>
              <a:rPr sz="1300" b="0">
                <a:solidFill>
                  <a:srgbClr val="A8B4C8"/>
                </a:solidFill>
                <a:latin typeface="Calibri"/>
              </a:rPr>
              <a:t>      ◦  Skip the commits and there is nothing to rewind to</a:t>
            </a:r>
          </a:p>
          <a:p>
            <a:pPr algn="l">
              <a:spcBef>
                <a:spcPts val="700"/>
              </a:spcBef>
            </a:pPr>
            <a:r>
              <a:rPr sz="1500" b="0">
                <a:solidFill>
                  <a:srgbClr val="FFFFFF"/>
                </a:solidFill>
                <a:latin typeface="Calibri"/>
              </a:rPr>
              <a:t>  ›  Frequent verified commits are what make agent supervision survivable</a:t>
            </a:r>
          </a:p>
          <a:p>
            <a:pPr algn="l">
              <a:spcBef>
                <a:spcPts val="700"/>
              </a:spcBef>
            </a:pPr>
            <a:r>
              <a:rPr sz="1500" b="0">
                <a:solidFill>
                  <a:srgbClr val="FFFFFF"/>
                </a:solidFill>
                <a:latin typeface="Calibri"/>
              </a:rPr>
              <a:t>  ›  Caveat: a rewind recovers tracked files — it does NOT un-leak a secret</a:t>
            </a:r>
          </a:p>
          <a:p>
            <a:pPr algn="l">
              <a:spcBef>
                <a:spcPts val="300"/>
              </a:spcBef>
            </a:pPr>
            <a:r>
              <a:rPr sz="1300" b="0">
                <a:solidFill>
                  <a:srgbClr val="A8B4C8"/>
                </a:solidFill>
                <a:latin typeface="Calibri"/>
              </a:rPr>
              <a:t>      ◦  .env in .gitignore before the first commit still holds (Module 10)</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after rollback: run the project and confirm a clean working tree before you continue. Version control saves you from bad edits, not from leaked credentials.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An agent edit just broke your build, and you committed a working version ten minutes ago. Walk through your recovery. Then answer: what would your options be if you had NOT committed?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The Rewind</a:t>
            </a:r>
          </a:p>
        </p:txBody>
      </p:sp>
      <p:sp>
        <p:nvSpPr>
          <p:cNvPr id="7" name="Rectangle 6"/>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11091672" cy="5349240"/>
          </a:xfrm>
          <a:prstGeom prst="rect">
            <a:avLst/>
          </a:prstGeom>
          <a:noFill/>
        </p:spPr>
        <p:txBody>
          <a:bodyPr wrap="square">
            <a:spAutoFit/>
          </a:bodyPr>
          <a:lstStyle/>
          <a:p>
            <a:pPr algn="l">
              <a:spcBef>
                <a:spcPts val="1000"/>
              </a:spcBef>
            </a:pPr>
            <a:r>
              <a:rPr sz="1400" b="0">
                <a:solidFill>
                  <a:srgbClr val="FFFFFF"/>
                </a:solidFill>
                <a:latin typeface="Calibri"/>
              </a:rPr>
              <a:t>  1.   Confirm you have a verified, committed known-good state from the loop.</a:t>
            </a:r>
          </a:p>
          <a:p>
            <a:pPr algn="l">
              <a:spcBef>
                <a:spcPts val="1000"/>
              </a:spcBef>
            </a:pPr>
            <a:r>
              <a:rPr sz="1400" b="0">
                <a:solidFill>
                  <a:srgbClr val="FFFFFF"/>
                </a:solidFill>
                <a:latin typeface="Calibri"/>
              </a:rPr>
              <a:t>  2.   Deliberately induce a bad edit: prompt the agent into a wrong change, or break a file by hand.</a:t>
            </a:r>
          </a:p>
          <a:p>
            <a:pPr algn="l">
              <a:spcBef>
                <a:spcPts val="1000"/>
              </a:spcBef>
            </a:pPr>
            <a:r>
              <a:rPr sz="1400" b="0">
                <a:solidFill>
                  <a:srgbClr val="FFFFFF"/>
                </a:solidFill>
                <a:latin typeface="Calibri"/>
              </a:rPr>
              <a:t>  3.   Confirm the damage — run the project, see it fail or misbehave.</a:t>
            </a:r>
          </a:p>
          <a:p>
            <a:pPr algn="l">
              <a:spcBef>
                <a:spcPts val="1000"/>
              </a:spcBef>
            </a:pPr>
            <a:r>
              <a:rPr sz="1400" b="0">
                <a:solidFill>
                  <a:srgbClr val="FFFFFF"/>
                </a:solidFill>
                <a:latin typeface="Calibri"/>
              </a:rPr>
              <a:t>  4.   Roll back to the last good commit; confirm a clean working tree and a working project.</a:t>
            </a:r>
          </a:p>
          <a:p>
            <a:pPr algn="l">
              <a:spcBef>
                <a:spcPts val="1000"/>
              </a:spcBef>
            </a:pPr>
            <a:r>
              <a:rPr sz="1400" b="0">
                <a:solidFill>
                  <a:srgbClr val="FFFFFF"/>
                </a:solidFill>
                <a:latin typeface="Calibri"/>
              </a:rPr>
              <a:t>  5.   Re-issue the task with a tighter instruction; run the loop to a correct result.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Rewind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An agent will break something — recovery is a reflex, not a panic</a:t>
            </a:r>
          </a:p>
          <a:p>
            <a:pPr algn="l">
              <a:spcBef>
                <a:spcPts val="1400"/>
              </a:spcBef>
            </a:pPr>
            <a:r>
              <a:rPr sz="1600" b="0">
                <a:solidFill>
                  <a:srgbClr val="FFFFFF"/>
                </a:solidFill>
                <a:latin typeface="Calibri"/>
              </a:rPr>
              <a:t>  ›  You can only rewind to a known-good commit you took beforehand</a:t>
            </a:r>
          </a:p>
          <a:p>
            <a:pPr algn="l">
              <a:spcBef>
                <a:spcPts val="1400"/>
              </a:spcBef>
            </a:pPr>
            <a:r>
              <a:rPr sz="1600" b="0">
                <a:solidFill>
                  <a:srgbClr val="FFFFFF"/>
                </a:solidFill>
                <a:latin typeface="Calibri"/>
              </a:rPr>
              <a:t>  ›  Frequent verified commits are what make supervision survivable</a:t>
            </a:r>
          </a:p>
          <a:p>
            <a:pPr algn="l">
              <a:spcBef>
                <a:spcPts val="1400"/>
              </a:spcBef>
            </a:pPr>
            <a:r>
              <a:rPr sz="1600" b="0">
                <a:solidFill>
                  <a:srgbClr val="FFFFFF"/>
                </a:solidFill>
                <a:latin typeface="Calibri"/>
              </a:rPr>
              <a:t>  ›  A rewind fixes bad edits, not leaked secrets — .gitignore still matters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Ship It:
Document,
Push, Sign</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Finish the way every real deliverable ends — a clean README, a clean history, an accountable sign-off.</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completed product tag being signed and dated; the work becomes something someone else can use and you can be held to]</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Deliver and Take Accountability</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DOCUMENT — README: what it does, how to run it, requirements</a:t>
            </a:r>
          </a:p>
          <a:p>
            <a:pPr algn="l">
              <a:spcBef>
                <a:spcPts val="300"/>
              </a:spcBef>
            </a:pPr>
            <a:r>
              <a:rPr sz="1300" b="0">
                <a:solidFill>
                  <a:srgbClr val="A8B4C8"/>
                </a:solidFill>
                <a:latin typeface="Calibri"/>
              </a:rPr>
              <a:t>      ◦  Comment any logic that isn't self-evident</a:t>
            </a:r>
          </a:p>
          <a:p>
            <a:pPr algn="l">
              <a:spcBef>
                <a:spcPts val="700"/>
              </a:spcBef>
            </a:pPr>
            <a:r>
              <a:rPr sz="1500" b="0">
                <a:solidFill>
                  <a:srgbClr val="FFFFFF"/>
                </a:solidFill>
                <a:latin typeface="Calibri"/>
              </a:rPr>
              <a:t>  ›  PUSH — verify commits are local, push to GitHub, confirm it appears</a:t>
            </a:r>
          </a:p>
          <a:p>
            <a:pPr algn="l">
              <a:spcBef>
                <a:spcPts val="700"/>
              </a:spcBef>
            </a:pPr>
            <a:r>
              <a:rPr sz="1500" b="0">
                <a:solidFill>
                  <a:srgbClr val="FFFFFF"/>
                </a:solidFill>
                <a:latin typeface="Calibri"/>
              </a:rPr>
              <a:t>  ›  FINAL SCRUB — no real names, no credentials, no .env in history</a:t>
            </a:r>
          </a:p>
          <a:p>
            <a:pPr algn="l">
              <a:spcBef>
                <a:spcPts val="300"/>
              </a:spcBef>
            </a:pPr>
            <a:r>
              <a:rPr sz="1300" b="0">
                <a:solidFill>
                  <a:srgbClr val="A8B4C8"/>
                </a:solidFill>
                <a:latin typeface="Calibri"/>
              </a:rPr>
              <a:t>      ◦  The bright line does not relax at the finish line</a:t>
            </a:r>
          </a:p>
          <a:p>
            <a:pPr algn="l">
              <a:spcBef>
                <a:spcPts val="700"/>
              </a:spcBef>
            </a:pPr>
            <a:r>
              <a:rPr sz="1500" b="0">
                <a:solidFill>
                  <a:srgbClr val="FFFFFF"/>
                </a:solidFill>
                <a:latin typeface="Calibri"/>
              </a:rPr>
              <a:t>  ›  SIGN — you vouch for the product; the Module 9 authorship duty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 credential in a public repo is compromised the moment it lands. If you find one, it's already in history — rotate it and clean the repo, don't just delete the file.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about to push. What is the last check you run before the repository goes public, and why can it not wait until after the push?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Ship It</a:t>
            </a:r>
          </a:p>
        </p:txBody>
      </p:sp>
      <p:sp>
        <p:nvSpPr>
          <p:cNvPr id="7" name="Rectangle 6"/>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11091672" cy="5349240"/>
          </a:xfrm>
          <a:prstGeom prst="rect">
            <a:avLst/>
          </a:prstGeom>
          <a:noFill/>
        </p:spPr>
        <p:txBody>
          <a:bodyPr wrap="square">
            <a:spAutoFit/>
          </a:bodyPr>
          <a:lstStyle/>
          <a:p>
            <a:pPr algn="l">
              <a:spcBef>
                <a:spcPts val="1000"/>
              </a:spcBef>
            </a:pPr>
            <a:r>
              <a:rPr sz="1400" b="0">
                <a:solidFill>
                  <a:srgbClr val="FFFFFF"/>
                </a:solidFill>
                <a:latin typeface="Calibri"/>
              </a:rPr>
              <a:t>  1.   Write the README: what it does, how to run it, requirements.</a:t>
            </a:r>
          </a:p>
          <a:p>
            <a:pPr algn="l">
              <a:spcBef>
                <a:spcPts val="1000"/>
              </a:spcBef>
            </a:pPr>
            <a:r>
              <a:rPr sz="1400" b="0">
                <a:solidFill>
                  <a:srgbClr val="FFFFFF"/>
                </a:solidFill>
                <a:latin typeface="Calibri"/>
              </a:rPr>
              <a:t>  2.   Comment any logic that is not self-evident.</a:t>
            </a:r>
          </a:p>
          <a:p>
            <a:pPr algn="l">
              <a:spcBef>
                <a:spcPts val="1000"/>
              </a:spcBef>
            </a:pPr>
            <a:r>
              <a:rPr sz="1400" b="0">
                <a:solidFill>
                  <a:srgbClr val="FFFFFF"/>
                </a:solidFill>
                <a:latin typeface="Calibri"/>
              </a:rPr>
              <a:t>  3.   Final scrub for names, credentials, and .env in history.</a:t>
            </a:r>
          </a:p>
          <a:p>
            <a:pPr algn="l">
              <a:spcBef>
                <a:spcPts val="1000"/>
              </a:spcBef>
            </a:pPr>
            <a:r>
              <a:rPr sz="1400" b="0">
                <a:solidFill>
                  <a:srgbClr val="FFFFFF"/>
                </a:solidFill>
                <a:latin typeface="Calibri"/>
              </a:rPr>
              <a:t>  4.   Push to GitHub; confirm the repo is visible with full commit history.</a:t>
            </a:r>
          </a:p>
          <a:p>
            <a:pPr algn="l">
              <a:spcBef>
                <a:spcPts val="1000"/>
              </a:spcBef>
            </a:pPr>
            <a:r>
              <a:rPr sz="1400" b="0">
                <a:solidFill>
                  <a:srgbClr val="FFFFFF"/>
                </a:solidFill>
                <a:latin typeface="Calibri"/>
              </a:rPr>
              <a:t>  5.   Write a one-line sign-off: what you built, what you verified, that you stand behind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Ship It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README + clean pushed history makes the work a real, usable product</a:t>
            </a:r>
          </a:p>
          <a:p>
            <a:pPr algn="l">
              <a:spcBef>
                <a:spcPts val="1400"/>
              </a:spcBef>
            </a:pPr>
            <a:r>
              <a:rPr sz="1600" b="0">
                <a:solidFill>
                  <a:srgbClr val="FFFFFF"/>
                </a:solidFill>
                <a:latin typeface="Calibri"/>
              </a:rPr>
              <a:t>  ›  Final scrub for secrets before the push — not after</a:t>
            </a:r>
          </a:p>
          <a:p>
            <a:pPr algn="l">
              <a:spcBef>
                <a:spcPts val="1400"/>
              </a:spcBef>
            </a:pPr>
            <a:r>
              <a:rPr sz="1600" b="0">
                <a:solidFill>
                  <a:srgbClr val="FFFFFF"/>
                </a:solidFill>
                <a:latin typeface="Calibri"/>
              </a:rPr>
              <a:t>  ›  A leaked credential is compromised on landing; rotate, don't just delete</a:t>
            </a:r>
          </a:p>
          <a:p>
            <a:pPr algn="l">
              <a:spcBef>
                <a:spcPts val="1400"/>
              </a:spcBef>
            </a:pPr>
            <a:r>
              <a:rPr sz="1600" b="0">
                <a:solidFill>
                  <a:srgbClr val="FFFFFF"/>
                </a:solidFill>
                <a:latin typeface="Calibri"/>
              </a:rPr>
              <a:t>  ›  Signing is the Module 9 authorship duty applied to the whole artifact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RUBRIC</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Weighted toward supervision — verified modest build beats un-supervised impressive one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3200400" cy="384048"/>
          </a:xfrm>
          <a:prstGeom prst="rect">
            <a:avLst/>
          </a:prstGeom>
          <a:noFill/>
        </p:spPr>
        <p:txBody>
          <a:bodyPr wrap="square">
            <a:spAutoFit/>
          </a:bodyPr>
          <a:lstStyle/>
          <a:p>
            <a:pPr algn="l"/>
            <a:r>
              <a:rPr sz="1100" b="1" i="0">
                <a:solidFill>
                  <a:srgbClr val="0A0C14"/>
                </a:solidFill>
                <a:latin typeface="Calibri"/>
              </a:rPr>
              <a:t>CRITERION</a:t>
            </a:r>
          </a:p>
        </p:txBody>
      </p:sp>
      <p:sp>
        <p:nvSpPr>
          <p:cNvPr id="9" name="TextBox 8"/>
          <p:cNvSpPr txBox="1"/>
          <p:nvPr/>
        </p:nvSpPr>
        <p:spPr>
          <a:xfrm>
            <a:off x="3749040" y="1444752"/>
            <a:ext cx="1280160" cy="384048"/>
          </a:xfrm>
          <a:prstGeom prst="rect">
            <a:avLst/>
          </a:prstGeom>
          <a:noFill/>
        </p:spPr>
        <p:txBody>
          <a:bodyPr wrap="square">
            <a:spAutoFit/>
          </a:bodyPr>
          <a:lstStyle/>
          <a:p>
            <a:pPr algn="l"/>
            <a:r>
              <a:rPr sz="1100" b="1" i="0">
                <a:solidFill>
                  <a:srgbClr val="0A0C14"/>
                </a:solidFill>
                <a:latin typeface="Calibri"/>
              </a:rPr>
              <a:t>WEIGHT</a:t>
            </a:r>
          </a:p>
        </p:txBody>
      </p:sp>
      <p:sp>
        <p:nvSpPr>
          <p:cNvPr id="10" name="TextBox 9"/>
          <p:cNvSpPr txBox="1"/>
          <p:nvPr/>
        </p:nvSpPr>
        <p:spPr>
          <a:xfrm>
            <a:off x="5120640" y="1444752"/>
            <a:ext cx="6309360" cy="384048"/>
          </a:xfrm>
          <a:prstGeom prst="rect">
            <a:avLst/>
          </a:prstGeom>
          <a:noFill/>
        </p:spPr>
        <p:txBody>
          <a:bodyPr wrap="square">
            <a:spAutoFit/>
          </a:bodyPr>
          <a:lstStyle/>
          <a:p>
            <a:pPr algn="l"/>
            <a:r>
              <a:rPr sz="1100" b="1" i="0">
                <a:solidFill>
                  <a:srgbClr val="0A0C14"/>
                </a:solidFill>
                <a:latin typeface="Calibri"/>
              </a:rPr>
              <a:t>EVIDENCE</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3063240" cy="731520"/>
          </a:xfrm>
          <a:prstGeom prst="rect">
            <a:avLst/>
          </a:prstGeom>
          <a:noFill/>
        </p:spPr>
        <p:txBody>
          <a:bodyPr wrap="square">
            <a:spAutoFit/>
          </a:bodyPr>
          <a:lstStyle/>
          <a:p>
            <a:pPr algn="l"/>
            <a:r>
              <a:rPr sz="1100" b="1" i="0">
                <a:solidFill>
                  <a:srgbClr val="00B4FF"/>
                </a:solidFill>
                <a:latin typeface="Calibri"/>
              </a:rPr>
              <a:t>Delegate-verify-own loop</a:t>
            </a:r>
          </a:p>
        </p:txBody>
      </p:sp>
      <p:sp>
        <p:nvSpPr>
          <p:cNvPr id="14" name="TextBox 13"/>
          <p:cNvSpPr txBox="1"/>
          <p:nvPr/>
        </p:nvSpPr>
        <p:spPr>
          <a:xfrm>
            <a:off x="3767328" y="1847088"/>
            <a:ext cx="1143000" cy="731520"/>
          </a:xfrm>
          <a:prstGeom prst="rect">
            <a:avLst/>
          </a:prstGeom>
          <a:noFill/>
        </p:spPr>
        <p:txBody>
          <a:bodyPr wrap="square">
            <a:spAutoFit/>
          </a:bodyPr>
          <a:lstStyle/>
          <a:p>
            <a:pPr algn="l"/>
            <a:r>
              <a:rPr sz="1100" b="0" i="0">
                <a:solidFill>
                  <a:srgbClr val="FFFFFF"/>
                </a:solidFill>
                <a:latin typeface="Calibri"/>
              </a:rPr>
              <a:t>30 pts</a:t>
            </a:r>
          </a:p>
        </p:txBody>
      </p:sp>
      <p:sp>
        <p:nvSpPr>
          <p:cNvPr id="15" name="TextBox 14"/>
          <p:cNvSpPr txBox="1"/>
          <p:nvPr/>
        </p:nvSpPr>
        <p:spPr>
          <a:xfrm>
            <a:off x="5138928" y="1847088"/>
            <a:ext cx="6172200" cy="731520"/>
          </a:xfrm>
          <a:prstGeom prst="rect">
            <a:avLst/>
          </a:prstGeom>
          <a:noFill/>
        </p:spPr>
        <p:txBody>
          <a:bodyPr wrap="square">
            <a:spAutoFit/>
          </a:bodyPr>
          <a:lstStyle/>
          <a:p>
            <a:pPr algn="l"/>
            <a:r>
              <a:rPr sz="1100" b="0" i="0">
                <a:solidFill>
                  <a:srgbClr val="A8B4C8"/>
                </a:solidFill>
                <a:latin typeface="Calibri"/>
              </a:rPr>
              <a:t>One full documented loop: task, diff-check vs claim, ownership</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3063240" cy="731520"/>
          </a:xfrm>
          <a:prstGeom prst="rect">
            <a:avLst/>
          </a:prstGeom>
          <a:noFill/>
        </p:spPr>
        <p:txBody>
          <a:bodyPr wrap="square">
            <a:spAutoFit/>
          </a:bodyPr>
          <a:lstStyle/>
          <a:p>
            <a:pPr algn="l"/>
            <a:r>
              <a:rPr sz="1100" b="1" i="0">
                <a:solidFill>
                  <a:srgbClr val="00B4FF"/>
                </a:solidFill>
                <a:latin typeface="Calibri"/>
              </a:rPr>
              <a:t>CLAUDE.md constrained the run</a:t>
            </a:r>
          </a:p>
        </p:txBody>
      </p:sp>
      <p:sp>
        <p:nvSpPr>
          <p:cNvPr id="19" name="TextBox 18"/>
          <p:cNvSpPr txBox="1"/>
          <p:nvPr/>
        </p:nvSpPr>
        <p:spPr>
          <a:xfrm>
            <a:off x="3767328" y="2606040"/>
            <a:ext cx="1143000" cy="731520"/>
          </a:xfrm>
          <a:prstGeom prst="rect">
            <a:avLst/>
          </a:prstGeom>
          <a:noFill/>
        </p:spPr>
        <p:txBody>
          <a:bodyPr wrap="square">
            <a:spAutoFit/>
          </a:bodyPr>
          <a:lstStyle/>
          <a:p>
            <a:pPr algn="l"/>
            <a:r>
              <a:rPr sz="1100" b="0" i="0">
                <a:solidFill>
                  <a:srgbClr val="FFFFFF"/>
                </a:solidFill>
                <a:latin typeface="Calibri"/>
              </a:rPr>
              <a:t>15 pts</a:t>
            </a:r>
          </a:p>
        </p:txBody>
      </p:sp>
      <p:sp>
        <p:nvSpPr>
          <p:cNvPr id="20" name="TextBox 19"/>
          <p:cNvSpPr txBox="1"/>
          <p:nvPr/>
        </p:nvSpPr>
        <p:spPr>
          <a:xfrm>
            <a:off x="5138928" y="2606040"/>
            <a:ext cx="6172200" cy="731520"/>
          </a:xfrm>
          <a:prstGeom prst="rect">
            <a:avLst/>
          </a:prstGeom>
          <a:noFill/>
        </p:spPr>
        <p:txBody>
          <a:bodyPr wrap="square">
            <a:spAutoFit/>
          </a:bodyPr>
          <a:lstStyle/>
          <a:p>
            <a:pPr algn="l"/>
            <a:r>
              <a:rPr sz="1100" b="0" i="0">
                <a:solidFill>
                  <a:srgbClr val="A8B4C8"/>
                </a:solidFill>
                <a:latin typeface="Calibri"/>
              </a:rPr>
              <a:t>Testable prohibition + scope boundary that steered the agent</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3063240" cy="731520"/>
          </a:xfrm>
          <a:prstGeom prst="rect">
            <a:avLst/>
          </a:prstGeom>
          <a:noFill/>
        </p:spPr>
        <p:txBody>
          <a:bodyPr wrap="square">
            <a:spAutoFit/>
          </a:bodyPr>
          <a:lstStyle/>
          <a:p>
            <a:pPr algn="l"/>
            <a:r>
              <a:rPr sz="1100" b="1" i="0">
                <a:solidFill>
                  <a:srgbClr val="00B4FF"/>
                </a:solidFill>
                <a:latin typeface="Calibri"/>
              </a:rPr>
              <a:t>Git rewind of a bad edit</a:t>
            </a:r>
          </a:p>
        </p:txBody>
      </p:sp>
      <p:sp>
        <p:nvSpPr>
          <p:cNvPr id="24" name="TextBox 23"/>
          <p:cNvSpPr txBox="1"/>
          <p:nvPr/>
        </p:nvSpPr>
        <p:spPr>
          <a:xfrm>
            <a:off x="3767328" y="3364992"/>
            <a:ext cx="1143000" cy="731520"/>
          </a:xfrm>
          <a:prstGeom prst="rect">
            <a:avLst/>
          </a:prstGeom>
          <a:noFill/>
        </p:spPr>
        <p:txBody>
          <a:bodyPr wrap="square">
            <a:spAutoFit/>
          </a:bodyPr>
          <a:lstStyle/>
          <a:p>
            <a:pPr algn="l"/>
            <a:r>
              <a:rPr sz="1100" b="0" i="0">
                <a:solidFill>
                  <a:srgbClr val="FFFFFF"/>
                </a:solidFill>
                <a:latin typeface="Calibri"/>
              </a:rPr>
              <a:t>15 pts</a:t>
            </a:r>
          </a:p>
        </p:txBody>
      </p:sp>
      <p:sp>
        <p:nvSpPr>
          <p:cNvPr id="25" name="TextBox 24"/>
          <p:cNvSpPr txBox="1"/>
          <p:nvPr/>
        </p:nvSpPr>
        <p:spPr>
          <a:xfrm>
            <a:off x="5138928" y="3364992"/>
            <a:ext cx="6172200" cy="731520"/>
          </a:xfrm>
          <a:prstGeom prst="rect">
            <a:avLst/>
          </a:prstGeom>
          <a:noFill/>
        </p:spPr>
        <p:txBody>
          <a:bodyPr wrap="square">
            <a:spAutoFit/>
          </a:bodyPr>
          <a:lstStyle/>
          <a:p>
            <a:pPr algn="l"/>
            <a:r>
              <a:rPr sz="1100" b="0" i="0">
                <a:solidFill>
                  <a:srgbClr val="A8B4C8"/>
                </a:solidFill>
                <a:latin typeface="Calibri"/>
              </a:rPr>
              <a:t>Deliberate bad edit recovered to known-good; clean tree shown</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3063240" cy="731520"/>
          </a:xfrm>
          <a:prstGeom prst="rect">
            <a:avLst/>
          </a:prstGeom>
          <a:noFill/>
        </p:spPr>
        <p:txBody>
          <a:bodyPr wrap="square">
            <a:spAutoFit/>
          </a:bodyPr>
          <a:lstStyle/>
          <a:p>
            <a:pPr algn="l"/>
            <a:r>
              <a:rPr sz="1100" b="1" i="0">
                <a:solidFill>
                  <a:srgbClr val="00B4FF"/>
                </a:solidFill>
                <a:latin typeface="Calibri"/>
              </a:rPr>
              <a:t>Data-handling &amp; ethics</a:t>
            </a:r>
          </a:p>
        </p:txBody>
      </p:sp>
      <p:sp>
        <p:nvSpPr>
          <p:cNvPr id="29" name="TextBox 28"/>
          <p:cNvSpPr txBox="1"/>
          <p:nvPr/>
        </p:nvSpPr>
        <p:spPr>
          <a:xfrm>
            <a:off x="3767328" y="4123944"/>
            <a:ext cx="1143000" cy="731520"/>
          </a:xfrm>
          <a:prstGeom prst="rect">
            <a:avLst/>
          </a:prstGeom>
          <a:noFill/>
        </p:spPr>
        <p:txBody>
          <a:bodyPr wrap="square">
            <a:spAutoFit/>
          </a:bodyPr>
          <a:lstStyle/>
          <a:p>
            <a:pPr algn="l"/>
            <a:r>
              <a:rPr sz="1100" b="0" i="0">
                <a:solidFill>
                  <a:srgbClr val="FFFFFF"/>
                </a:solidFill>
                <a:latin typeface="Calibri"/>
              </a:rPr>
              <a:t>15 pts</a:t>
            </a:r>
          </a:p>
        </p:txBody>
      </p:sp>
      <p:sp>
        <p:nvSpPr>
          <p:cNvPr id="30" name="TextBox 29"/>
          <p:cNvSpPr txBox="1"/>
          <p:nvPr/>
        </p:nvSpPr>
        <p:spPr>
          <a:xfrm>
            <a:off x="5138928" y="4123944"/>
            <a:ext cx="6172200" cy="731520"/>
          </a:xfrm>
          <a:prstGeom prst="rect">
            <a:avLst/>
          </a:prstGeom>
          <a:noFill/>
        </p:spPr>
        <p:txBody>
          <a:bodyPr wrap="square">
            <a:spAutoFit/>
          </a:bodyPr>
          <a:lstStyle/>
          <a:p>
            <a:pPr algn="l"/>
            <a:r>
              <a:rPr sz="1100" b="0" i="0">
                <a:solidFill>
                  <a:srgbClr val="A8B4C8"/>
                </a:solidFill>
                <a:latin typeface="Calibri"/>
              </a:rPr>
              <a:t>No names/units/creds; no .env in history; accountable sign-off (M9)</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3063240" cy="731520"/>
          </a:xfrm>
          <a:prstGeom prst="rect">
            <a:avLst/>
          </a:prstGeom>
          <a:noFill/>
        </p:spPr>
        <p:txBody>
          <a:bodyPr wrap="square">
            <a:spAutoFit/>
          </a:bodyPr>
          <a:lstStyle/>
          <a:p>
            <a:pPr algn="l"/>
            <a:r>
              <a:rPr sz="1100" b="1" i="0">
                <a:solidFill>
                  <a:srgbClr val="00B4FF"/>
                </a:solidFill>
                <a:latin typeface="Calibri"/>
              </a:rPr>
              <a:t>Working artifact</a:t>
            </a:r>
          </a:p>
        </p:txBody>
      </p:sp>
      <p:sp>
        <p:nvSpPr>
          <p:cNvPr id="34" name="TextBox 33"/>
          <p:cNvSpPr txBox="1"/>
          <p:nvPr/>
        </p:nvSpPr>
        <p:spPr>
          <a:xfrm>
            <a:off x="3767328" y="4882896"/>
            <a:ext cx="1143000" cy="731520"/>
          </a:xfrm>
          <a:prstGeom prst="rect">
            <a:avLst/>
          </a:prstGeom>
          <a:noFill/>
        </p:spPr>
        <p:txBody>
          <a:bodyPr wrap="square">
            <a:spAutoFit/>
          </a:bodyPr>
          <a:lstStyle/>
          <a:p>
            <a:pPr algn="l"/>
            <a:r>
              <a:rPr sz="1100" b="0" i="0">
                <a:solidFill>
                  <a:srgbClr val="FFFFFF"/>
                </a:solidFill>
                <a:latin typeface="Calibri"/>
              </a:rPr>
              <a:t>15 pts</a:t>
            </a:r>
          </a:p>
        </p:txBody>
      </p:sp>
      <p:sp>
        <p:nvSpPr>
          <p:cNvPr id="35" name="TextBox 34"/>
          <p:cNvSpPr txBox="1"/>
          <p:nvPr/>
        </p:nvSpPr>
        <p:spPr>
          <a:xfrm>
            <a:off x="5138928" y="4882896"/>
            <a:ext cx="6172200" cy="731520"/>
          </a:xfrm>
          <a:prstGeom prst="rect">
            <a:avLst/>
          </a:prstGeom>
          <a:noFill/>
        </p:spPr>
        <p:txBody>
          <a:bodyPr wrap="square">
            <a:spAutoFit/>
          </a:bodyPr>
          <a:lstStyle/>
          <a:p>
            <a:pPr algn="l"/>
            <a:r>
              <a:rPr sz="1100" b="0" i="0">
                <a:solidFill>
                  <a:srgbClr val="A8B4C8"/>
                </a:solidFill>
                <a:latin typeface="Calibri"/>
              </a:rPr>
              <a:t>Runs, does what it promised, basic error handling</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3063240" cy="731520"/>
          </a:xfrm>
          <a:prstGeom prst="rect">
            <a:avLst/>
          </a:prstGeom>
          <a:noFill/>
        </p:spPr>
        <p:txBody>
          <a:bodyPr wrap="square">
            <a:spAutoFit/>
          </a:bodyPr>
          <a:lstStyle/>
          <a:p>
            <a:pPr algn="l"/>
            <a:r>
              <a:rPr sz="1100" b="1" i="0">
                <a:solidFill>
                  <a:srgbClr val="00B4FF"/>
                </a:solidFill>
                <a:latin typeface="Calibri"/>
              </a:rPr>
              <a:t>Docs &amp; commits</a:t>
            </a:r>
          </a:p>
        </p:txBody>
      </p:sp>
      <p:sp>
        <p:nvSpPr>
          <p:cNvPr id="39" name="TextBox 38"/>
          <p:cNvSpPr txBox="1"/>
          <p:nvPr/>
        </p:nvSpPr>
        <p:spPr>
          <a:xfrm>
            <a:off x="3767328" y="5641848"/>
            <a:ext cx="1143000" cy="731520"/>
          </a:xfrm>
          <a:prstGeom prst="rect">
            <a:avLst/>
          </a:prstGeom>
          <a:noFill/>
        </p:spPr>
        <p:txBody>
          <a:bodyPr wrap="square">
            <a:spAutoFit/>
          </a:bodyPr>
          <a:lstStyle/>
          <a:p>
            <a:pPr algn="l"/>
            <a:r>
              <a:rPr sz="1100" b="0" i="0">
                <a:solidFill>
                  <a:srgbClr val="FFFFFF"/>
                </a:solidFill>
                <a:latin typeface="Calibri"/>
              </a:rPr>
              <a:t>10 pts</a:t>
            </a:r>
          </a:p>
        </p:txBody>
      </p:sp>
      <p:sp>
        <p:nvSpPr>
          <p:cNvPr id="40" name="TextBox 39"/>
          <p:cNvSpPr txBox="1"/>
          <p:nvPr/>
        </p:nvSpPr>
        <p:spPr>
          <a:xfrm>
            <a:off x="5138928" y="5641848"/>
            <a:ext cx="6172200" cy="731520"/>
          </a:xfrm>
          <a:prstGeom prst="rect">
            <a:avLst/>
          </a:prstGeom>
          <a:noFill/>
        </p:spPr>
        <p:txBody>
          <a:bodyPr wrap="square">
            <a:spAutoFit/>
          </a:bodyPr>
          <a:lstStyle/>
          <a:p>
            <a:pPr algn="l"/>
            <a:r>
              <a:rPr sz="1100" b="0" i="0">
                <a:solidFill>
                  <a:srgbClr val="A8B4C8"/>
                </a:solidFill>
                <a:latin typeface="Calibri"/>
              </a:rPr>
              <a:t>Clear README; 5+ meaningful commits; pushed to GitHub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My capstone runs and does what it promised, with basic error handling</a:t>
            </a:r>
          </a:p>
          <a:p>
            <a:pPr algn="l">
              <a:spcBef>
                <a:spcPts val="800"/>
              </a:spcBef>
            </a:pPr>
            <a:r>
              <a:rPr sz="1300" b="0">
                <a:solidFill>
                  <a:srgbClr val="A8B4C8"/>
                </a:solidFill>
                <a:latin typeface="Calibri"/>
              </a:rPr>
              <a:t>  ☐   My CLAUDE.md has a testable prohibition that demonstrably steered the agent</a:t>
            </a:r>
          </a:p>
          <a:p>
            <a:pPr algn="l">
              <a:spcBef>
                <a:spcPts val="800"/>
              </a:spcBef>
            </a:pPr>
            <a:r>
              <a:rPr sz="1300" b="0">
                <a:solidFill>
                  <a:srgbClr val="A8B4C8"/>
                </a:solidFill>
                <a:latin typeface="Calibri"/>
              </a:rPr>
              <a:t>  ☐   I ran and documented at least one full delegate-verify-own loop</a:t>
            </a:r>
          </a:p>
          <a:p>
            <a:pPr algn="l">
              <a:spcBef>
                <a:spcPts val="800"/>
              </a:spcBef>
            </a:pPr>
            <a:r>
              <a:rPr sz="1300" b="0">
                <a:solidFill>
                  <a:srgbClr val="A8B4C8"/>
                </a:solidFill>
                <a:latin typeface="Calibri"/>
              </a:rPr>
              <a:t>  ☐   I verified the diff against the agent's claim, not just its summary</a:t>
            </a:r>
          </a:p>
          <a:p>
            <a:pPr algn="l">
              <a:spcBef>
                <a:spcPts val="800"/>
              </a:spcBef>
            </a:pPr>
            <a:r>
              <a:rPr sz="1300" b="0">
                <a:solidFill>
                  <a:srgbClr val="A8B4C8"/>
                </a:solidFill>
                <a:latin typeface="Calibri"/>
              </a:rPr>
              <a:t>  ☐   I deliberately recovered a bad agent edit to a known-good commit</a:t>
            </a:r>
          </a:p>
          <a:p>
            <a:pPr algn="l">
              <a:spcBef>
                <a:spcPts val="800"/>
              </a:spcBef>
            </a:pPr>
            <a:r>
              <a:rPr sz="1300" b="0">
                <a:solidFill>
                  <a:srgbClr val="A8B4C8"/>
                </a:solidFill>
                <a:latin typeface="Calibri"/>
              </a:rPr>
              <a:t>  ☐   No real names, units, or credentials anywhere; no .env in history</a:t>
            </a:r>
          </a:p>
          <a:p>
            <a:pPr algn="l">
              <a:spcBef>
                <a:spcPts val="800"/>
              </a:spcBef>
            </a:pPr>
            <a:r>
              <a:rPr sz="1300" b="0">
                <a:solidFill>
                  <a:srgbClr val="A8B4C8"/>
                </a:solidFill>
                <a:latin typeface="Calibri"/>
              </a:rPr>
              <a:t>  ☐   5+ meaningful commits, clear README, pushed and visible on GitHub</a:t>
            </a:r>
          </a:p>
          <a:p>
            <a:pPr algn="l">
              <a:spcBef>
                <a:spcPts val="800"/>
              </a:spcBef>
            </a:pPr>
            <a:r>
              <a:rPr sz="1300" b="0">
                <a:solidFill>
                  <a:srgbClr val="A8B4C8"/>
                </a:solidFill>
                <a:latin typeface="Calibri"/>
              </a:rPr>
              <a:t>  ☐   I wrote an accountable sign-off vouching for the output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The Proving
Ground:
Capstone Build</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Confirm your loop, your rewind, and your sign-off are documented</a:t>
            </a:r>
          </a:p>
          <a:p>
            <a:pPr algn="l">
              <a:spcBef>
                <a:spcPts val="1000"/>
              </a:spcBef>
            </a:pPr>
            <a:r>
              <a:rPr sz="1400" b="0">
                <a:solidFill>
                  <a:srgbClr val="A8B4C8"/>
                </a:solidFill>
                <a:latin typeface="Calibri"/>
              </a:rPr>
              <a:t>  2.   Submit the GitHub repo with the full commit history</a:t>
            </a:r>
          </a:p>
          <a:p>
            <a:pPr algn="l">
              <a:spcBef>
                <a:spcPts val="1000"/>
              </a:spcBef>
            </a:pPr>
            <a:r>
              <a:rPr sz="1400" b="0">
                <a:solidFill>
                  <a:srgbClr val="A8B4C8"/>
                </a:solidFill>
                <a:latin typeface="Calibri"/>
              </a:rPr>
              <a:t>  3.   Proceed to Module 12 — Crossing the LD: Bridge to Advanced Agentics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