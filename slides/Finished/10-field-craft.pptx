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635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FF"/>
                </a:solidFill>
                <a:latin typeface="Calibri"/>
              </a:rPr>
              <a:t>AGENTIC COMMANDERS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14400"/>
            <a:ext cx="5943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Field Craft:
Markdown, Code,
Tools &amp;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3657600"/>
            <a:ext cx="5303520" cy="254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3794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4C8"/>
                </a:solidFill>
                <a:latin typeface="Calibri"/>
              </a:rPr>
              <a:t>PREREQUISITE MODULE  |  SELF-PACED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320040"/>
            <a:ext cx="5394960" cy="6080760"/>
          </a:xfrm>
          <a:prstGeom prst="rect">
            <a:avLst/>
          </a:prstGeom>
          <a:solidFill>
            <a:srgbClr val="0F1423"/>
          </a:solidFill>
          <a:ln w="19050">
            <a:solidFill>
              <a:srgbClr val="00B4FF"/>
            </a:solidFill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30403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FF"/>
                </a:solidFill>
                <a:latin typeface="Calibri"/>
              </a:rPr>
              <a:t>◼ 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33147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an operator's field kit laid out on a poncho — notebook, multitool, radio — each item labeled; the craft behind the mission]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MODULE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Situation Brief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11365992" cy="96012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25880"/>
            <a:ext cx="50800" cy="96012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7160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A00"/>
                </a:solidFill>
                <a:latin typeface="Calibri"/>
              </a:rPr>
              <a:t>BLUF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18488"/>
            <a:ext cx="110002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Four pieces of field craft — clean documents, code-literacy, a verified toolbox, and context files — turn a commander of agents into one whose work holds up.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377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A00"/>
                </a:solidFill>
                <a:latin typeface="Calibri"/>
              </a:rPr>
              <a:t>⏱  Self-paced  |  Consolidates four foundational skill blocks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788920"/>
            <a:ext cx="11365992" cy="361188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788920"/>
            <a:ext cx="50800" cy="361188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8529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4FF"/>
                </a:solidFill>
                <a:latin typeface="Calibri"/>
              </a:rPr>
              <a:t>LEARNING OBJECTIVES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154680"/>
            <a:ext cx="1100023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›  Write structured Markdown and avoid the errors that break it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›  Read and reason about basic code well enough to verify it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›  Install, authenticate, and verify the developer toolbox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›  Author a CLAUDE.md and me.md that steer a real agent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137160" y="36576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0" b="1" i="0">
                <a:solidFill>
                  <a:srgbClr val="151E35"/>
                </a:solidFill>
                <a:latin typeface="Calibr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A00"/>
                </a:solidFill>
                <a:latin typeface="Calibri"/>
              </a:rPr>
              <a:t>SECTION 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61872"/>
            <a:ext cx="5303520" cy="1905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1732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Markdown:
The Lingua Franca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4297680"/>
            <a:ext cx="5303520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43484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4C8"/>
                </a:solidFill>
                <a:latin typeface="Calibri"/>
              </a:rPr>
              <a:t>Your READMEs, prompts, and context files are all Markdown — write it right.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548640"/>
            <a:ext cx="5212080" cy="5852160"/>
          </a:xfrm>
          <a:prstGeom prst="rect">
            <a:avLst/>
          </a:prstGeom>
          <a:solidFill>
            <a:srgbClr val="0F1423"/>
          </a:solidFill>
          <a:ln w="19050">
            <a:solidFill>
              <a:srgbClr val="00B4FF"/>
            </a:solidFill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31546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FF"/>
                </a:solidFill>
                <a:latin typeface="Calibri"/>
              </a:rPr>
              <a:t>◼ 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4290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a typed field message on the left rendering into a clean formatted brief on the right; plain marks becoming structure]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Markdown — A Few Marks, Used Everywhere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6868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315468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50800" cy="315468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0023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Plain text plus formatting marks a renderer turns into clean output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Headers: # through ###### — a SPACE is required after the #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Emphasis: **bold**, *italic*, `inline code`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Lists: - or 1. — a BLANK LINE is required before the list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Code blocks: triple backticks, optional language hint (```python)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Tables: header row + separator row |---|---| (separator mandatory)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Links: [text](url); task lists: - [ ] and - [x]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Course standard: GitHub Flavored Markdown (GFM)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663440"/>
            <a:ext cx="11365992" cy="1600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663440"/>
            <a:ext cx="50800" cy="16002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7274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A00"/>
                </a:solidFill>
                <a:latin typeface="Calibri"/>
              </a:rPr>
              <a:t>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74336"/>
            <a:ext cx="1100023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The formatting IS the structure. Break it and the model reads a wall of text instead of structured instruction.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Four Rules That Cause Most Errors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68680"/>
            <a:ext cx="11365992" cy="254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50800">
              <a:srgbClr val="FFAA00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315468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50800" cy="315468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0023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Space required between # and heading text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Blank line required before any list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Blank line required before a fenced code block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Tables require a header row AND a separator row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Smart-quote trap: never draft Markdown in Word or Google Docs —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curly quotes silently break code blocks; write in VS 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663440"/>
            <a:ext cx="11365992" cy="1600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663440"/>
            <a:ext cx="50800" cy="16002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7274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A00"/>
                </a:solidFill>
                <a:latin typeface="Calibri"/>
              </a:rPr>
              <a:t>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74336"/>
            <a:ext cx="1100023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VERIFY: use the VS Code preview pane (Ctrl+Shift+V) to confirm a document renders before you hand it to an agent.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Same Content, Two Renders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The blank line and the space after ## are load-bearing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365992" cy="5029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0800" cy="50292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81912"/>
            <a:ext cx="1109167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WITH correct spacing: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## Rules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(blank line)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- Never include real names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- Flag incomplete entries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-&gt; a heading and two discrete rules the model obeys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WITHOUT the blank line / the space: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##Rules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- Never include real names- Flag incomplete entries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-&gt; one run-on paragraph parsed as a single instruction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C14"/>
                </a:solidFill>
                <a:latin typeface="Calibri"/>
              </a:rPr>
              <a:t>CHECK ON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713232"/>
            <a:ext cx="11365992" cy="5733288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50800" cy="5733288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82296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AA00"/>
                </a:solidFill>
                <a:latin typeface="Calibri"/>
              </a:rPr>
              <a:t>Before You Continue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344168"/>
            <a:ext cx="10972800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08760"/>
            <a:ext cx="1100023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You write '#Mission Brief' at the top of a file and it renders as plain text instead of a large heading. What is the single fix — and what habit would have caught it before you handed the file off?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38100">
              <a:srgbClr val="00E57A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50800">
              <a:srgbClr val="00E57A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C14"/>
                </a:solidFill>
                <a:latin typeface="Calibri"/>
              </a:rPr>
              <a:t>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91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C14"/>
                </a:solidFill>
                <a:latin typeface="Calibri"/>
              </a:rPr>
              <a:t>Markdown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11365992" cy="5733288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713232"/>
            <a:ext cx="50800" cy="5733288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38100">
              <a:srgbClr val="00E57A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11091672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1.   Open VS Code; create README.md and open the preview (Ctrl+Shift+V).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2.   Write a personal README: h1 name, 3-item bullet list, one bold term, one inline-code term, one fenced code block.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3.   Add a 2-tool comparison table with a header and separator row; confirm it renders.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4.   Deliberately break one rule, watch the preview break, then fix it.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5.   Save the file — you reuse it later.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SECTION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Markdown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365992" cy="5029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0800" cy="50292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81912"/>
            <a:ext cx="1100023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Markdown is plain text plus a small set of formatting marks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Four spacing rules cause the overwhelming majority of errors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Smart quotes from Word/Docs silently break code — write in VS Code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Your authority travels in Markdown; correct formatting is field craft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137160" y="36576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0" b="1" i="0">
                <a:solidFill>
                  <a:srgbClr val="151E35"/>
                </a:solidFill>
                <a:latin typeface="Calibr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A00"/>
                </a:solidFill>
                <a:latin typeface="Calibri"/>
              </a:rPr>
              <a:t>SECTION  02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61872"/>
            <a:ext cx="5303520" cy="1905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1732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Programming:
Reading the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4297680"/>
            <a:ext cx="5303520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43484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4C8"/>
                </a:solidFill>
                <a:latin typeface="Calibri"/>
              </a:rPr>
              <a:t>You don't need to write production code — you need to read what the agent writes.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548640"/>
            <a:ext cx="5212080" cy="5852160"/>
          </a:xfrm>
          <a:prstGeom prst="rect">
            <a:avLst/>
          </a:prstGeom>
          <a:solidFill>
            <a:srgbClr val="0F1423"/>
          </a:solidFill>
          <a:ln w="19050">
            <a:solidFill>
              <a:srgbClr val="00B4FF"/>
            </a:solidFill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31546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FF"/>
                </a:solidFill>
                <a:latin typeface="Calibri"/>
              </a:rPr>
              <a:t>◼ 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4290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an operator tracing a printed script line by line with a red pen, the way you'd check a fire-mission worksheet]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 Small Vocabulary Covers Most of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6868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315468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50800" cy="315468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0023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Variables — a named container for a value (count = 0)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Types: strings, numbers, booleans, arrays/lists, objects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Operators — arithmetic, comparison (==, &lt;, &gt;), logical (and/or/not)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Conditionals — if / else: branch on whether something is true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Loops — for / while: repeat a block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Watch for off-by-one errors and infinite loops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Functions — a named, reusable block with inputs and an output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Pseudocode first: write the steps in plain English, then translate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663440"/>
            <a:ext cx="11365992" cy="1600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663440"/>
            <a:ext cx="50800" cy="16002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7274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A00"/>
                </a:solidFill>
                <a:latin typeface="Calibri"/>
              </a:rPr>
              <a:t>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74336"/>
            <a:ext cx="1100023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To verify agent code, narrate each block back into plain English. If you can't narrate it, you can't verify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Read This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Verify the logic without writing a 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365992" cy="5029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0800" cy="50292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81912"/>
            <a:ext cx="1109167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function isStrongPassword(pw) {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if (pw.length &lt; 8) {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  return false;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}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return true;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}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Narrate it: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'Take a password. If shorter than 8 characters, fail.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 Otherwise, pass.'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You just verified the logic. Now the operator's question: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is 'length 8+' actually a STRONG rule?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Reading is step one. Judging correctness is your job.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C14"/>
                </a:solidFill>
                <a:latin typeface="Calibri"/>
              </a:rPr>
              <a:t>CHECK ON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713232"/>
            <a:ext cx="11365992" cy="5733288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50800" cy="5733288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82296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AA00"/>
                </a:solidFill>
                <a:latin typeface="Calibri"/>
              </a:rPr>
              <a:t>Before You Continue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344168"/>
            <a:ext cx="10972800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08760"/>
            <a:ext cx="1100023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An agent hands you a 30-line script. Before you run it or sign for it, what is the first thing you do — and which rule from Module 9 does skipping that step violate?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38100">
              <a:srgbClr val="00E57A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50800">
              <a:srgbClr val="00E57A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C14"/>
                </a:solidFill>
                <a:latin typeface="Calibri"/>
              </a:rPr>
              <a:t>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91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C14"/>
                </a:solidFill>
                <a:latin typeface="Calibri"/>
              </a:rPr>
              <a:t>Programming Concepts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11365992" cy="5733288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713232"/>
            <a:ext cx="50800" cy="5733288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38100">
              <a:srgbClr val="00E57A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11091672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1.   Write pseudocode for a grade calculator (scores in -&gt; average + letter grade out). Steps only, no syntax.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2.   Predict the output of a for-loop printing 1 through 5; then say what changes if the bound is off by one.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3.   Given a while-loop whose condition never changes, identify why it runs forever and the one line that fixes it.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4.   Take a function an AI wrote for you earlier; narrate each block in plain English. Flag any block you can't narrate — that's your verify gap.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SECTION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Programming Concepts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365992" cy="5029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0800" cy="50292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81912"/>
            <a:ext cx="1100023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The bar is reading literacy, not authorship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Variables, conditionals, loops, functions cover most of what you read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Pseudocode first; narrate agent code back into plain English to verify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You cannot responsibly sign for output you cannot read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137160" y="36576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0" b="1" i="0">
                <a:solidFill>
                  <a:srgbClr val="151E35"/>
                </a:solidFill>
                <a:latin typeface="Calibr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A00"/>
                </a:solidFill>
                <a:latin typeface="Calibri"/>
              </a:rPr>
              <a:t>SECTION  03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61872"/>
            <a:ext cx="5303520" cy="1905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1732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Developer Tools:
The Toolbox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4297680"/>
            <a:ext cx="5303520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43484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4C8"/>
                </a:solidFill>
                <a:latin typeface="Calibri"/>
              </a:rPr>
              <a:t>Install, authenticate, and verify the kit before you need it — not when it fails.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548640"/>
            <a:ext cx="5212080" cy="5852160"/>
          </a:xfrm>
          <a:prstGeom prst="rect">
            <a:avLst/>
          </a:prstGeom>
          <a:solidFill>
            <a:srgbClr val="0F1423"/>
          </a:solidFill>
          <a:ln w="19050">
            <a:solidFill>
              <a:srgbClr val="00B4FF"/>
            </a:solidFill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31546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FF"/>
                </a:solidFill>
                <a:latin typeface="Calibri"/>
              </a:rPr>
              <a:t>◼ 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4290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a pre-mission equipment layout, each tool checked off on a clipboard; green ticks down the column]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Core Toolbox — Each Tool, One Role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6868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315468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50800" cy="315468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0023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Claude Code — the agentic harness; verify: claude --version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gh (GitHub CLI) — auth + pull requests; gh auth login (HTTPS), gh auth status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git — the version-control engine (Module 6 duty logbook); git --version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VS Code — the editor; add WSL + Markdown Preview; code --version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Node.js or Python — the runtime; node --version / python --version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PATH &amp; 'command not found' — usually means restart the terminal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Find a command with which (or where on native Windows)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.env files hold secrets per project — never commit them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663440"/>
            <a:ext cx="11365992" cy="1600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663440"/>
            <a:ext cx="50800" cy="16002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7274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A00"/>
                </a:solidFill>
                <a:latin typeface="Calibri"/>
              </a:rPr>
              <a:t>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74336"/>
            <a:ext cx="1100023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Run every --version check in one pass BEFORE a project. A green checklist up front saves the session that dies on a missing tool.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.env Goes in .gitignore BEFORE the First Commit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68680"/>
            <a:ext cx="11365992" cy="254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50800">
              <a:srgbClr val="FFAA00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315468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50800" cy="315468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0023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A credential committed even once stays in git history forever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Adding it to .gitignore afterward does NOT remove it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Create .gitignore with .env in it before the first commit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Same OPSEC-enforcement rule as Module 6 — not recoverable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The data-handling bright line from Module 1 reaches your config files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663440"/>
            <a:ext cx="11365992" cy="1600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663440"/>
            <a:ext cx="50800" cy="16002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7274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A00"/>
                </a:solidFill>
                <a:latin typeface="Calibri"/>
              </a:rPr>
              <a:t>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74336"/>
            <a:ext cx="1100023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VERIFY: after creating .env, run git status and confirm it does NOT appear before you ever commit.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C14"/>
                </a:solidFill>
                <a:latin typeface="Calibri"/>
              </a:rPr>
              <a:t>CHECK ON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713232"/>
            <a:ext cx="11365992" cy="5733288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50800" cy="5733288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82296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AA00"/>
                </a:solidFill>
                <a:latin typeface="Calibri"/>
              </a:rPr>
              <a:t>Before You Continue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344168"/>
            <a:ext cx="10972800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08760"/>
            <a:ext cx="1100023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You install a new CLI tool, then immediately get 'command not found.' Before assuming the install failed, what is the first thing to try, and what concept explains why it works?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38100">
              <a:srgbClr val="00E57A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50800">
              <a:srgbClr val="00E57A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C14"/>
                </a:solidFill>
                <a:latin typeface="Calibri"/>
              </a:rPr>
              <a:t>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91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C14"/>
                </a:solidFill>
                <a:latin typeface="Calibri"/>
              </a:rPr>
              <a:t>Developer Tools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11365992" cy="5733288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713232"/>
            <a:ext cx="50800" cy="5733288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38100">
              <a:srgbClr val="00E57A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11091672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1.   Run the full sweep: claude / git / gh / code --version and node (or python) --version. Record each result.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2.   For any failure, diagnose with which/where; if it's right after an install, restart the terminal and retry.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3.   Authenticate GitHub: gh auth login (HTTPS), then confirm gh auth status.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4.   In a practice folder, create .gitignore with .env in it FIRST, then a .env with a dummy key; confirm git status hides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SECTION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Developer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365992" cy="5029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0800" cy="50292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81912"/>
            <a:ext cx="1100023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Each tool has one role: model writes, git tracks, GitHub stores, editor edits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Verify the whole toolbox with --version checks up front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'Command not found' usually means PATH — restart the terminal first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.env in .gitignore before the first commit; a leaked credential is not recoverable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137160" y="36576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0" b="1" i="0">
                <a:solidFill>
                  <a:srgbClr val="151E35"/>
                </a:solidFill>
                <a:latin typeface="Calibr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A00"/>
                </a:solidFill>
                <a:latin typeface="Calibri"/>
              </a:rPr>
              <a:t>SECTION  04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61872"/>
            <a:ext cx="5303520" cy="1905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1732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Context Files:
Standing Orders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4297680"/>
            <a:ext cx="5303520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43484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4C8"/>
                </a:solidFill>
                <a:latin typeface="Calibri"/>
              </a:rPr>
              <a:t>CLAUDE.md = what to build. me.md = how you work. Constraints are the deliverable.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548640"/>
            <a:ext cx="5212080" cy="5852160"/>
          </a:xfrm>
          <a:prstGeom prst="rect">
            <a:avLst/>
          </a:prstGeom>
          <a:solidFill>
            <a:srgbClr val="0F1423"/>
          </a:solidFill>
          <a:ln w="19050">
            <a:solidFill>
              <a:srgbClr val="00B4FF"/>
            </a:solidFill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31546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FF"/>
                </a:solidFill>
                <a:latin typeface="Calibri"/>
              </a:rPr>
              <a:t>◼ 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4290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a posted standing-orders board at a unit CP; every shift reads it on relief without a re-brief]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Two Files Steer the Agent Before You 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6868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315468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50800" cy="315468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0023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CLAUDE.md — WHAT to build: scope, hard rules, modifiable files, 'done'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Crucially: what the project is NOT (the scope boundary)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me.md — HOW you work: role, comms preference, decision style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Both are Markdown — ## headers become distinct instruction blocks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Constraints are the deliverable: the strongest line is a prohibition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'Never modify schema.sql.' 'Use the template; invent no sections.'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Ask of every draft: what should the agent NOT do? What's out of scope?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Same idea as Module 4 personalizing — now at version-controlled file scale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663440"/>
            <a:ext cx="11365992" cy="1600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663440"/>
            <a:ext cx="50800" cy="16002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7274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A00"/>
                </a:solidFill>
                <a:latin typeface="Calibri"/>
              </a:rPr>
              <a:t>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74336"/>
            <a:ext cx="1100023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A CLAUDE.md that constrains nothing steers nothing. If it has no prohibition, it's documentation, not steering.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 CLAUDE.md That Actually Constrains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Every rule enforceable, every boundary explicit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365992" cy="5029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0800" cy="50292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81912"/>
            <a:ext cx="1109167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# Project: Daily Brief Generator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## What this does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Pulls the unit's daily log and produces a formatted brief.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## Rules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- Never include real names in output — use [NAME]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- Use the provided template; do not invent new sections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- Flag any entry with incomplete location or time data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## Files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- brief-template.md — output template (read-only, never modify)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- input-log.txt — the daily log to process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Compare to 'build me a nice brief tool' — nothing to obey.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Context Files Are Sent to the Provider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68680"/>
            <a:ext cx="11365992" cy="254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50800">
              <a:srgbClr val="FFAA00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315468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50800" cy="315468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0023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A CLAUDE.md / me.md ships with every request, like Module 4 custom instructions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Data-handling bright line (Module 1): nothing sensitive or above the ceiling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Ammunition discipline (Module 8): every line spends context budget — keep tight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Make it conflict-aware: state which wins when requirements collide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e.g. 'when speed and security conflict, security wins'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663440"/>
            <a:ext cx="11365992" cy="1600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663440"/>
            <a:ext cx="50800" cy="16002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7274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A00"/>
                </a:solidFill>
                <a:latin typeface="Calibri"/>
              </a:rPr>
              <a:t>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74336"/>
            <a:ext cx="1100023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VERIFY: this is the SAME discipline from Modules 1, 4, and 8 at file scale — not a new rule and not a re-teach.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C14"/>
                </a:solidFill>
                <a:latin typeface="Calibri"/>
              </a:rPr>
              <a:t>CHECK ON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713232"/>
            <a:ext cx="11365992" cy="5733288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50800" cy="5733288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82296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AA00"/>
                </a:solidFill>
                <a:latin typeface="Calibri"/>
              </a:rPr>
              <a:t>Before You Continue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344168"/>
            <a:ext cx="10972800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08760"/>
            <a:ext cx="1100023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Two operators write a CLAUDE.md for the same project. One is a warm paragraph describing the goal; the other names three things the agent must never do. Which one actually changes the agent's behavior, and why?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38100">
              <a:srgbClr val="00E57A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50800">
              <a:srgbClr val="00E57A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C14"/>
                </a:solidFill>
                <a:latin typeface="Calibri"/>
              </a:rPr>
              <a:t>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91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C14"/>
                </a:solidFill>
                <a:latin typeface="Calibri"/>
              </a:rPr>
              <a:t>Context Files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11365992" cy="5733288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713232"/>
            <a:ext cx="50800" cy="5733288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38100">
              <a:srgbClr val="00E57A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11091672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1.   Write a me.md (5-10 lines): role, comms preference, decision style, one always-do and one never-do.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2.   Write a CLAUDE.md for a unit task manager: what it is, what it is NOT, 2+ hard rules, modifiable files, 1+ read-only file, success criteria.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3.   Add a one-line conflict-resolution rule (e.g. security beats speed).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4.   Place both in a project folder, run the agent, ask it to summarize the project — confirm it references your CLAUDE.md.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5.   Re-read and underline every genuine prohibition; if none, rewrite until there is at least one.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SECTION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Context Files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365992" cy="5029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0800" cy="50292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81912"/>
            <a:ext cx="1100023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CLAUDE.md tells the agent what to build; me.md tells it how you work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Constraints and scope boundaries are what actually steer behavior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Markdown formatting determines whether the model reads structure or mush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Same data-handling and context-cost discipline as Modules 1, 4, and 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MODULE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Field Craft — the four skills behind the mission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389888"/>
            <a:ext cx="11365992" cy="384048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4475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C14"/>
                </a:solidFill>
                <a:latin typeface="Calibri"/>
              </a:rPr>
              <a:t>AREA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444752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C14"/>
                </a:solidFill>
                <a:latin typeface="Calibri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444752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C14"/>
                </a:solidFill>
                <a:latin typeface="Calibri"/>
              </a:rPr>
              <a:t>OPERATOR TAKEAWAY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773936"/>
            <a:ext cx="11365992" cy="758952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773936"/>
            <a:ext cx="38100" cy="758952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1847088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FF"/>
                </a:solidFill>
                <a:latin typeface="Calibri"/>
              </a:rPr>
              <a:t>Markdown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8608" y="1847088"/>
            <a:ext cx="4069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Plain text + a few marks; 4 spacing rules cause most errors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1847088"/>
            <a:ext cx="4343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8"/>
                </a:solidFill>
                <a:latin typeface="Calibri"/>
              </a:rPr>
              <a:t>Your authority travels in Markdown — write it right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532888"/>
            <a:ext cx="11365992" cy="758952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2532888"/>
            <a:ext cx="38100" cy="758952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" y="2606040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FF"/>
                </a:solidFill>
                <a:latin typeface="Calibri"/>
              </a:rPr>
              <a:t>Programming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78608" y="2606040"/>
            <a:ext cx="4069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Variables, conditionals, loops, functions; pseudocode first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6288" y="2606040"/>
            <a:ext cx="4343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8"/>
                </a:solidFill>
                <a:latin typeface="Calibri"/>
              </a:rPr>
              <a:t>Read what the machine writes well enough to verify 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291840"/>
            <a:ext cx="11365992" cy="758952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3291840"/>
            <a:ext cx="38100" cy="758952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" y="3364992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FF"/>
                </a:solidFill>
                <a:latin typeface="Calibri"/>
              </a:rPr>
              <a:t>Dev 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78608" y="3364992"/>
            <a:ext cx="4069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Install, authenticate, verify the whole toolbox up front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6288" y="3364992"/>
            <a:ext cx="4343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8"/>
                </a:solidFill>
                <a:latin typeface="Calibri"/>
              </a:rPr>
              <a:t>Green checklist before the build, not a failure mid-build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050792"/>
            <a:ext cx="11365992" cy="758952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4050792"/>
            <a:ext cx="38100" cy="758952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" y="4123944"/>
            <a:ext cx="1874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FF"/>
                </a:solidFill>
                <a:latin typeface="Calibri"/>
              </a:rPr>
              <a:t>Context Files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78608" y="4123944"/>
            <a:ext cx="4069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CLAUDE.md = what to build; me.md = how you work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76288" y="4123944"/>
            <a:ext cx="4343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8"/>
                </a:solidFill>
                <a:latin typeface="Calibri"/>
              </a:rPr>
              <a:t>Constraints steer the agent; none means it steers nothing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READINESS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Confirm before moving 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50800">
              <a:srgbClr val="FFAA00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365992" cy="5029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0800" cy="50292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81912"/>
            <a:ext cx="1100023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☐   I can write Markdown with 5+ syntax elements and spot a spacing violation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☐   I can read a short function and narrate its logic in plain English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☐   Every tool passes its --version check and GitHub is authenticated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☐   My .gitignore excludes .env and was created before the first commit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☐   My CLAUDE.md names what the project is NOT and has a genuine prohibition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☐   The agent reads my context files and references them when asked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635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54864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FF"/>
                </a:solidFill>
                <a:latin typeface="Calibri"/>
              </a:rPr>
              <a:t>END OF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0584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Field Craft:
Markdown, Code,
Tools &amp;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971800"/>
            <a:ext cx="5486400" cy="254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3154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A00"/>
                </a:solidFill>
                <a:latin typeface="Calibri"/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56616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400" b="0">
                <a:solidFill>
                  <a:srgbClr val="A8B4C8"/>
                </a:solidFill>
                <a:latin typeface="Calibri"/>
              </a:rPr>
              <a:t>  1.   Stage your README, me.md, and CLAUDE.md for the capstone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A8B4C8"/>
                </a:solidFill>
                <a:latin typeface="Calibri"/>
              </a:rPr>
              <a:t>  2.   Confirm your full toolbox is green before you build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A8B4C8"/>
                </a:solidFill>
                <a:latin typeface="Calibri"/>
              </a:rPr>
              <a:t>  3.   Proceed to Module 11 — The Proving Ground: Capstone Build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