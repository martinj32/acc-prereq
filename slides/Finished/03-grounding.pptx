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Module 3:
Feeding the Machine</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SELF-PACED</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handing real source documents through a slot to an isolated analyst — feeding the brain in a jar]</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A bare LLM is a brain in a jar with a knowledge cutoff and no live access. Grounding (web search, file upload, connectors) feeds it real, current source material — the practical fix for cutoff and hallucination. Multimodality opens new input channels, each with its own failure mode.</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(3 sections)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Explain grounding as feeding real source material into the model at request time</a:t>
            </a:r>
          </a:p>
          <a:p>
            <a:pPr algn="l">
              <a:spcBef>
                <a:spcPts val="400"/>
              </a:spcBef>
            </a:pPr>
            <a:r>
              <a:rPr sz="1300" b="0">
                <a:solidFill>
                  <a:srgbClr val="A8B4C8"/>
                </a:solidFill>
                <a:latin typeface="Calibri"/>
              </a:rPr>
              <a:t>  ›  Name three grounding paths: web search, file upload, connectors</a:t>
            </a:r>
          </a:p>
          <a:p>
            <a:pPr algn="l">
              <a:spcBef>
                <a:spcPts val="400"/>
              </a:spcBef>
            </a:pPr>
            <a:r>
              <a:rPr sz="1300" b="0">
                <a:solidFill>
                  <a:srgbClr val="A8B4C8"/>
                </a:solidFill>
                <a:latin typeface="Calibri"/>
              </a:rPr>
              <a:t>  ›  Tell a grounded answer from a generated one — confirm grounding fired, trace claims</a:t>
            </a:r>
          </a:p>
          <a:p>
            <a:pPr algn="l">
              <a:spcBef>
                <a:spcPts val="400"/>
              </a:spcBef>
            </a:pPr>
            <a:r>
              <a:rPr sz="1300" b="0">
                <a:solidFill>
                  <a:srgbClr val="A8B4C8"/>
                </a:solidFill>
                <a:latin typeface="Calibri"/>
              </a:rPr>
              <a:t>  ›  Treat a citation as a starting point for verification, not as proof</a:t>
            </a:r>
          </a:p>
          <a:p>
            <a:pPr algn="l">
              <a:spcBef>
                <a:spcPts val="400"/>
              </a:spcBef>
            </a:pPr>
            <a:r>
              <a:rPr sz="1300" b="0">
                <a:solidFill>
                  <a:srgbClr val="A8B4C8"/>
                </a:solidFill>
                <a:latin typeface="Calibri"/>
              </a:rPr>
              <a:t>  ›  Name the input modes: images, screenshots, PDFs, charts, voice</a:t>
            </a:r>
          </a:p>
          <a:p>
            <a:pPr algn="l">
              <a:spcBef>
                <a:spcPts val="400"/>
              </a:spcBef>
            </a:pPr>
            <a:r>
              <a:rPr sz="1300" b="0">
                <a:solidFill>
                  <a:srgbClr val="A8B4C8"/>
                </a:solidFill>
                <a:latin typeface="Calibri"/>
              </a:rPr>
              <a:t>  ›  Name the characteristic failure mode of each input mode</a:t>
            </a:r>
          </a:p>
          <a:p>
            <a:pPr algn="l">
              <a:spcBef>
                <a:spcPts val="400"/>
              </a:spcBef>
            </a:pPr>
            <a:r>
              <a:rPr sz="1300" b="0">
                <a:solidFill>
                  <a:srgbClr val="A8B4C8"/>
                </a:solidFill>
                <a:latin typeface="Calibri"/>
              </a:rPr>
              <a:t>  ›  Apply the Module 1 data-handling rule to images, PDFs, and voice — not just 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Grounding:
Punching a Hole
in the Jar</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engine is still a brain in a jar — but grounding feeds it real, current, specific source material through a slot. That is the fix for cutoff and hallucination.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sealed jar with a delivery slot — real documents being passed in from outside]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Grounding Actually Does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Module 1 baseline (still true of the ENGINE): no body, no memory, no live access, a knowledge cutoff.</a:t>
            </a:r>
          </a:p>
          <a:p>
            <a:pPr algn="l">
              <a:spcBef>
                <a:spcPts val="700"/>
              </a:spcBef>
            </a:pPr>
            <a:r>
              <a:rPr sz="1500" b="0">
                <a:solidFill>
                  <a:srgbClr val="FFFFFF"/>
                </a:solidFill>
                <a:latin typeface="Calibri"/>
              </a:rPr>
              <a:t>  ›  Grounding means giving the model real source material to work from, at request time.</a:t>
            </a:r>
          </a:p>
          <a:p>
            <a:pPr algn="l">
              <a:spcBef>
                <a:spcPts val="700"/>
              </a:spcBef>
            </a:pPr>
            <a:r>
              <a:rPr sz="1500" b="0">
                <a:solidFill>
                  <a:srgbClr val="FFFFFF"/>
                </a:solidFill>
                <a:latin typeface="Calibri"/>
              </a:rPr>
              <a:t>  ›  Instead of predicting from training alone, it answers FROM actual text put in its context.</a:t>
            </a:r>
          </a:p>
          <a:p>
            <a:pPr algn="l">
              <a:spcBef>
                <a:spcPts val="700"/>
              </a:spcBef>
            </a:pPr>
            <a:r>
              <a:rPr sz="1500" b="0">
                <a:solidFill>
                  <a:srgbClr val="FFFFFF"/>
                </a:solidFill>
                <a:latin typeface="Calibri"/>
              </a:rPr>
              <a:t>  ›  The prediction engine is unchanged — what changed is the material you hand it for this request.</a:t>
            </a:r>
          </a:p>
          <a:p>
            <a:pPr algn="l">
              <a:spcBef>
                <a:spcPts val="700"/>
              </a:spcBef>
            </a:pPr>
            <a:r>
              <a:rPr sz="1500" b="0">
                <a:solidFill>
                  <a:srgbClr val="FFFFFF"/>
                </a:solidFill>
                <a:latin typeface="Calibri"/>
              </a:rPr>
              <a:t>  ›  This corrects and extends the mental model: the jar is still a jar; grounding hands material through a slot.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Do not let students conclude Module 1 was wrong. The engine is still a brain in a jar. Grounding is an external tool layer feeding it — 'extend the model,' not 'replace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Three Grounding Paths — and Why They Fix the Two Big Problems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Web search — live search, current pages, answers from the results.</a:t>
            </a:r>
          </a:p>
          <a:p>
            <a:pPr algn="l">
              <a:spcBef>
                <a:spcPts val="300"/>
              </a:spcBef>
            </a:pPr>
            <a:r>
              <a:rPr sz="1300" b="0">
                <a:solidFill>
                  <a:srgbClr val="A8B4C8"/>
                </a:solidFill>
                <a:latin typeface="Calibri"/>
              </a:rPr>
              <a:t>      ◦  The direct fix for the knowledge cutoff: no longer limited to training data.</a:t>
            </a:r>
          </a:p>
          <a:p>
            <a:pPr algn="l">
              <a:spcBef>
                <a:spcPts val="700"/>
              </a:spcBef>
            </a:pPr>
            <a:r>
              <a:rPr sz="1500" b="0">
                <a:solidFill>
                  <a:srgbClr val="FFFFFF"/>
                </a:solidFill>
                <a:latin typeface="Calibri"/>
              </a:rPr>
              <a:t>  ›  File / document upload — attach a PDF, spreadsheet, or text file; the model reads its actual contents.</a:t>
            </a:r>
          </a:p>
          <a:p>
            <a:pPr algn="l">
              <a:spcBef>
                <a:spcPts val="700"/>
              </a:spcBef>
            </a:pPr>
            <a:r>
              <a:rPr sz="1500" b="0">
                <a:solidFill>
                  <a:srgbClr val="FFFFFF"/>
                </a:solidFill>
                <a:latin typeface="Calibri"/>
              </a:rPr>
              <a:t>  ›  Connectors — wired into an external system (doc store, wiki, database, drive) to retrieve records on demand.</a:t>
            </a:r>
          </a:p>
          <a:p>
            <a:pPr algn="l">
              <a:spcBef>
                <a:spcPts val="300"/>
              </a:spcBef>
            </a:pPr>
            <a:r>
              <a:rPr sz="1300" b="0">
                <a:solidFill>
                  <a:srgbClr val="A8B4C8"/>
                </a:solidFill>
                <a:latin typeface="Calibri"/>
              </a:rPr>
              <a:t>      ◦  Connecting tools in depth, and the protocols that standardize it, is Module 12.</a:t>
            </a:r>
          </a:p>
          <a:p>
            <a:pPr algn="l">
              <a:spcBef>
                <a:spcPts val="700"/>
              </a:spcBef>
            </a:pPr>
            <a:r>
              <a:rPr sz="1500" b="0">
                <a:solidFill>
                  <a:srgbClr val="FFFFFF"/>
                </a:solidFill>
                <a:latin typeface="Calibri"/>
              </a:rPr>
              <a:t>  ›  Cutoff fix: search/connectors bring in post-training info. Hallucination fix: claims trace to a real source.</a:t>
            </a:r>
          </a:p>
          <a:p>
            <a:pPr algn="l">
              <a:spcBef>
                <a:spcPts val="700"/>
              </a:spcBef>
            </a:pPr>
            <a:r>
              <a:rPr sz="1500" b="0">
                <a:solidFill>
                  <a:srgbClr val="FFFFFF"/>
                </a:solidFill>
                <a:latin typeface="Calibri"/>
              </a:rPr>
              <a:t>  ›  Grounding does not guarantee correctness — it makes output TRACEABLE, which makes verification possible.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BEFORE TEACHING: which tools have web search, how upload works, what connectors exist, and how each is enabled change frequently. Treat every feature claim as a snapshot; confirm the actual tool before relying on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Module 1 told you the model is a brain in a jar with no live access. You just watched it answer a question about a recent event.
Did the engine change — or did something feed the jar? What is the difference, and why does it matter for trust?
What does 'grounding' actually do to an LLM's behavior?
A) It retrains the model on new data in real time
B) It removes the knowledge cutoff permanently
C) It feeds real source material into the model's context at request time so it answers from that, not just training
D) It makes the model stop hallucinating entirely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Grounding</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Ask your tool a question about something that clearly happened AFTER its training cutoff. Note: refuse, guess, or search?</a:t>
            </a:r>
          </a:p>
          <a:p>
            <a:pPr algn="l">
              <a:spcBef>
                <a:spcPts val="1000"/>
              </a:spcBef>
            </a:pPr>
            <a:r>
              <a:rPr sz="1400" b="0">
                <a:solidFill>
                  <a:srgbClr val="FFFFFF"/>
                </a:solidFill>
                <a:latin typeface="Calibri"/>
              </a:rPr>
              <a:t>  2.   If it has web search, require it to search and ask the same question again. Compare the two answers.</a:t>
            </a:r>
          </a:p>
          <a:p>
            <a:pPr algn="l">
              <a:spcBef>
                <a:spcPts val="1000"/>
              </a:spcBef>
            </a:pPr>
            <a:r>
              <a:rPr sz="1400" b="0">
                <a:solidFill>
                  <a:srgbClr val="FFFFFF"/>
                </a:solidFill>
                <a:latin typeface="Calibri"/>
              </a:rPr>
              <a:t>  3.   Upload a short document and ask a question whose answer is ONLY in that document. Confirm the answer came from your file.</a:t>
            </a:r>
          </a:p>
          <a:p>
            <a:pPr algn="l">
              <a:spcBef>
                <a:spcPts val="1000"/>
              </a:spcBef>
            </a:pPr>
            <a:r>
              <a:rPr sz="1400" b="0">
                <a:solidFill>
                  <a:srgbClr val="FFFFFF"/>
                </a:solidFill>
                <a:latin typeface="Calibri"/>
              </a:rPr>
              <a:t>  4.   Ask: 'Which parts of that answer came from the document, and which from your own knowledge?' Can it separate them?</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Analyst comparing a from-memory answer against one drawn from a freshly retrieved 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Grounding: Punching a Hole in the Jar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Grounding feeds real source material into the model's context at request time.</a:t>
            </a:r>
          </a:p>
          <a:p>
            <a:pPr algn="l">
              <a:spcBef>
                <a:spcPts val="1400"/>
              </a:spcBef>
            </a:pPr>
            <a:r>
              <a:rPr sz="1600" b="0">
                <a:solidFill>
                  <a:srgbClr val="FFFFFF"/>
                </a:solidFill>
                <a:latin typeface="Calibri"/>
              </a:rPr>
              <a:t>  ›  Three paths: web search, file upload, connectors.</a:t>
            </a:r>
          </a:p>
          <a:p>
            <a:pPr algn="l">
              <a:spcBef>
                <a:spcPts val="1400"/>
              </a:spcBef>
            </a:pPr>
            <a:r>
              <a:rPr sz="1600" b="0">
                <a:solidFill>
                  <a:srgbClr val="FFFFFF"/>
                </a:solidFill>
                <a:latin typeface="Calibri"/>
              </a:rPr>
              <a:t>  ›  It is the practical fix for knowledge cutoff and hallucination — output becomes traceable.</a:t>
            </a:r>
          </a:p>
          <a:p>
            <a:pPr algn="l">
              <a:spcBef>
                <a:spcPts val="1400"/>
              </a:spcBef>
            </a:pPr>
            <a:r>
              <a:rPr sz="1600" b="0">
                <a:solidFill>
                  <a:srgbClr val="FFFFFF"/>
                </a:solidFill>
                <a:latin typeface="Calibri"/>
              </a:rPr>
              <a:t>  ›  The engine is unchanged; grounding is an external tool layer feeding the jar.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Grounded vs.
Generated:
Tell Them Apart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grounded answer and a generated answer look identical on screen — confident either way. Confirm grounding fired and trace the claim before you trust it.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Two identical-looking reports — one sourced and footnoted, one written from memory]</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Confirm It Fired, Then Trace the Claim</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Capability is not use — a tool WITH web search may answer a question straight from training, no search.</a:t>
            </a:r>
          </a:p>
          <a:p>
            <a:pPr algn="l">
              <a:spcBef>
                <a:spcPts val="700"/>
              </a:spcBef>
            </a:pPr>
            <a:r>
              <a:rPr sz="1500" b="0">
                <a:solidFill>
                  <a:srgbClr val="FFFFFF"/>
                </a:solidFill>
                <a:latin typeface="Calibri"/>
              </a:rPr>
              <a:t>  ›  Look for the signal that grounding happened: a search step, cited sources, 'based on the file', retrieved snippets.</a:t>
            </a:r>
          </a:p>
          <a:p>
            <a:pPr algn="l">
              <a:spcBef>
                <a:spcPts val="300"/>
              </a:spcBef>
            </a:pPr>
            <a:r>
              <a:rPr sz="1300" b="0">
                <a:solidFill>
                  <a:srgbClr val="A8B4C8"/>
                </a:solidFill>
                <a:latin typeface="Calibri"/>
              </a:rPr>
              <a:t>      ◦  No signal? Assume it answered from training until you check.</a:t>
            </a:r>
          </a:p>
          <a:p>
            <a:pPr algn="l">
              <a:spcBef>
                <a:spcPts val="700"/>
              </a:spcBef>
            </a:pPr>
            <a:r>
              <a:rPr sz="1500" b="0">
                <a:solidFill>
                  <a:srgbClr val="FFFFFF"/>
                </a:solidFill>
                <a:latin typeface="Calibri"/>
              </a:rPr>
              <a:t>  ›  Trace claims to sources — a grounded answer should let you ask 'where did this exact claim come from?'</a:t>
            </a:r>
          </a:p>
          <a:p>
            <a:pPr algn="l">
              <a:spcBef>
                <a:spcPts val="300"/>
              </a:spcBef>
            </a:pPr>
            <a:r>
              <a:rPr sz="1300" b="0">
                <a:solidFill>
                  <a:srgbClr val="A8B4C8"/>
                </a:solidFill>
                <a:latin typeface="Calibri"/>
              </a:rPr>
              <a:t>      ◦  If a claim cannot be traced to the provided source, treat it as generated.</a:t>
            </a:r>
          </a:p>
          <a:p>
            <a:pPr algn="l">
              <a:spcBef>
                <a:spcPts val="700"/>
              </a:spcBef>
            </a:pPr>
            <a:r>
              <a:rPr sz="1500" b="0">
                <a:solidFill>
                  <a:srgbClr val="FFFFFF"/>
                </a:solidFill>
                <a:latin typeface="Calibri"/>
              </a:rPr>
              <a:t>  ›  The dangerous case — the MIXED answer: part faithfully from your source, part plausible completion bolted on.</a:t>
            </a:r>
          </a:p>
          <a:p>
            <a:pPr algn="l">
              <a:spcBef>
                <a:spcPts val="300"/>
              </a:spcBef>
            </a:pPr>
            <a:r>
              <a:rPr sz="1300" b="0">
                <a:solidFill>
                  <a:srgbClr val="A8B4C8"/>
                </a:solidFill>
                <a:latin typeface="Calibri"/>
              </a:rPr>
              <a:t>      ◦  Tone is uniform, so the seam is invisible. Ask directly: 'which parts came from the source?'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is the Module 1 reflex applied. Grounding does not let you stop verifying — it gives you something checkable to verify against. The five verification techniques are exactly the drills you run 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 Citation Is Not Proof</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The tool cites a source — now what?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WHAT GROUNDING GIVES YOU:</a:t>
            </a:r>
          </a:p>
          <a:p>
            <a:pPr algn="l">
              <a:spcBef>
                <a:spcPts val="300"/>
              </a:spcBef>
            </a:pPr>
            <a:r>
              <a:rPr sz="1200" b="0">
                <a:solidFill>
                  <a:srgbClr val="A8B4C8"/>
                </a:solidFill>
                <a:latin typeface="Calibri"/>
              </a:rPr>
              <a:t>  Trace-ability. You can follow a claim back to a source and check it.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WHAT GROUNDING DOES NOT GIVE YOU:</a:t>
            </a:r>
          </a:p>
          <a:p>
            <a:pPr algn="l">
              <a:spcBef>
                <a:spcPts val="300"/>
              </a:spcBef>
            </a:pPr>
            <a:r>
              <a:rPr sz="1200" b="0">
                <a:solidFill>
                  <a:srgbClr val="A8B4C8"/>
                </a:solidFill>
                <a:latin typeface="Calibri"/>
              </a:rPr>
              <a:t>  Certainty. The tool can still:</a:t>
            </a:r>
          </a:p>
          <a:p>
            <a:pPr algn="l">
              <a:spcBef>
                <a:spcPts val="300"/>
              </a:spcBef>
            </a:pPr>
            <a:r>
              <a:rPr sz="1200" b="0">
                <a:solidFill>
                  <a:srgbClr val="A8B4C8"/>
                </a:solidFill>
                <a:latin typeface="Calibri"/>
              </a:rPr>
              <a:t>    - retrieve the WRONG document</a:t>
            </a:r>
          </a:p>
          <a:p>
            <a:pPr algn="l">
              <a:spcBef>
                <a:spcPts val="300"/>
              </a:spcBef>
            </a:pPr>
            <a:r>
              <a:rPr sz="1200" b="0">
                <a:solidFill>
                  <a:srgbClr val="A8B4C8"/>
                </a:solidFill>
                <a:latin typeface="Calibri"/>
              </a:rPr>
              <a:t>    - quote a real source INACCURATELY</a:t>
            </a:r>
          </a:p>
          <a:p>
            <a:pPr algn="l">
              <a:spcBef>
                <a:spcPts val="300"/>
              </a:spcBef>
            </a:pPr>
            <a:r>
              <a:rPr sz="1200" b="0">
                <a:solidFill>
                  <a:srgbClr val="A8B4C8"/>
                </a:solidFill>
                <a:latin typeface="Calibri"/>
              </a:rPr>
              <a:t>    - cite a page that does NOT support the claim</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THE MOVE:</a:t>
            </a:r>
          </a:p>
          <a:p>
            <a:pPr algn="l">
              <a:spcBef>
                <a:spcPts val="300"/>
              </a:spcBef>
            </a:pPr>
            <a:r>
              <a:rPr sz="1200" b="0">
                <a:solidFill>
                  <a:srgbClr val="A8B4C8"/>
                </a:solidFill>
                <a:latin typeface="Calibri"/>
              </a:rPr>
              <a:t>  Make it cite, THEN open the citation and confirm it says what the model says it says.</a:t>
            </a:r>
          </a:p>
          <a:p>
            <a:pPr algn="l">
              <a:spcBef>
                <a:spcPts val="300"/>
              </a:spcBef>
            </a:pPr>
            <a:r>
              <a:rPr sz="1200" b="0">
                <a:solidFill>
                  <a:srgbClr val="A8B4C8"/>
                </a:solidFill>
                <a:latin typeface="Calibri"/>
              </a:rPr>
              <a:t>  A cited source the model invented or misread is still a hallucination.</a:t>
            </a:r>
          </a:p>
          <a:p>
            <a:pPr algn="l">
              <a:spcBef>
                <a:spcPts val="300"/>
              </a:spcBef>
            </a:pPr>
            <a:r>
              <a:rPr sz="1200" b="0">
                <a:solidFill>
                  <a:srgbClr val="A8B4C8"/>
                </a:solidFill>
                <a:latin typeface="Calibri"/>
              </a:rPr>
              <a:t>  Trace-ability lowers risk; it does not remove the operator. You still own the output.</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Analyst opening a cited reference to confirm it actually supports the claim above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Your tool gives you a confident, well-written answer with no visible sources, even though it has web search available.
What is your safest assumption about where that answer came from — and what do you do next?
A tool that has web search gives you a confident answer with no citations and no visible search step. What should you assume?
A) It must have searched, because it has the capability
B) Assume it answered from training data until you confirm grounding actually fired
C) The answer is verified because it sounds confident
D) Citations are unnecessary when a tool has search enabled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Grounded vs. Generated</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Ask a grounded question and look for the signal that grounding fired (search step, citations, file reference). Is it there?</a:t>
            </a:r>
          </a:p>
          <a:p>
            <a:pPr algn="l">
              <a:spcBef>
                <a:spcPts val="1000"/>
              </a:spcBef>
            </a:pPr>
            <a:r>
              <a:rPr sz="1400" b="0">
                <a:solidFill>
                  <a:srgbClr val="FFFFFF"/>
                </a:solidFill>
                <a:latin typeface="Calibri"/>
              </a:rPr>
              <a:t>  2.   Pick one specific claim and ask the tool: 'What is your source for that exact claim?'</a:t>
            </a:r>
          </a:p>
          <a:p>
            <a:pPr algn="l">
              <a:spcBef>
                <a:spcPts val="1000"/>
              </a:spcBef>
            </a:pPr>
            <a:r>
              <a:rPr sz="1400" b="0">
                <a:solidFill>
                  <a:srgbClr val="FFFFFF"/>
                </a:solidFill>
                <a:latin typeface="Calibri"/>
              </a:rPr>
              <a:t>  3.   Open that source and confirm it actually supports the claim. Did it?</a:t>
            </a:r>
          </a:p>
          <a:p>
            <a:pPr algn="l">
              <a:spcBef>
                <a:spcPts val="1000"/>
              </a:spcBef>
            </a:pPr>
            <a:r>
              <a:rPr sz="1400" b="0">
                <a:solidFill>
                  <a:srgbClr val="FFFFFF"/>
                </a:solidFill>
                <a:latin typeface="Calibri"/>
              </a:rPr>
              <a:t>  4.   Find one claim you CANNOT trace to a provided source. Treat it as generated — would you have caught it without checking?</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running a checklist over an answer — marking each claim sourced, traced, or unverified]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Grounded vs. Generated</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Confirm grounding actually fired before trusting a 'grounded' answer — capability is not use.</a:t>
            </a:r>
          </a:p>
          <a:p>
            <a:pPr algn="l">
              <a:spcBef>
                <a:spcPts val="1400"/>
              </a:spcBef>
            </a:pPr>
            <a:r>
              <a:rPr sz="1600" b="0">
                <a:solidFill>
                  <a:srgbClr val="FFFFFF"/>
                </a:solidFill>
                <a:latin typeface="Calibri"/>
              </a:rPr>
              <a:t>  ›  Trace a grounded claim to its source and verify the source supports it.</a:t>
            </a:r>
          </a:p>
          <a:p>
            <a:pPr algn="l">
              <a:spcBef>
                <a:spcPts val="1400"/>
              </a:spcBef>
            </a:pPr>
            <a:r>
              <a:rPr sz="1600" b="0">
                <a:solidFill>
                  <a:srgbClr val="FFFFFF"/>
                </a:solidFill>
                <a:latin typeface="Calibri"/>
              </a:rPr>
              <a:t>  ›  The mixed answer (part grounded, part generated) is the dangerous case — the seam is invisible.</a:t>
            </a:r>
          </a:p>
          <a:p>
            <a:pPr algn="l">
              <a:spcBef>
                <a:spcPts val="1400"/>
              </a:spcBef>
            </a:pPr>
            <a:r>
              <a:rPr sz="1600" b="0">
                <a:solidFill>
                  <a:srgbClr val="FFFFFF"/>
                </a:solidFill>
                <a:latin typeface="Calibri"/>
              </a:rPr>
              <a:t>  ›  A citation is a starting point for verification, not proof. You still own the output.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Multimodality:
More Ways In,
More Ways to Misread</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Images, screenshots, PDFs, charts, and voice — not just typed text. Powerful for real work, and each input mode carries its own failure mode.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workstation taking in a photo, a scanned PDF, a chart, and a voice waveform at once]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Input Modes You Will Actually Use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Images and screenshots — photos of documents, whiteboards, equipment; screenshots of errors or interfaces.</a:t>
            </a:r>
          </a:p>
          <a:p>
            <a:pPr algn="l">
              <a:spcBef>
                <a:spcPts val="700"/>
              </a:spcBef>
            </a:pPr>
            <a:r>
              <a:rPr sz="1500" b="0">
                <a:solidFill>
                  <a:srgbClr val="FFFFFF"/>
                </a:solidFill>
                <a:latin typeface="Calibri"/>
              </a:rPr>
              <a:t>  ›  PDFs and documents — multi-page files read directly, including scanned ones.</a:t>
            </a:r>
          </a:p>
          <a:p>
            <a:pPr algn="l">
              <a:spcBef>
                <a:spcPts val="300"/>
              </a:spcBef>
            </a:pPr>
            <a:r>
              <a:rPr sz="1300" b="0">
                <a:solidFill>
                  <a:srgbClr val="A8B4C8"/>
                </a:solidFill>
                <a:latin typeface="Calibri"/>
              </a:rPr>
              <a:t>      ◦  A PDF is both a grounding source and a visual input — the categories overlap.</a:t>
            </a:r>
          </a:p>
          <a:p>
            <a:pPr algn="l">
              <a:spcBef>
                <a:spcPts val="700"/>
              </a:spcBef>
            </a:pPr>
            <a:r>
              <a:rPr sz="1500" b="0">
                <a:solidFill>
                  <a:srgbClr val="FFFFFF"/>
                </a:solidFill>
                <a:latin typeface="Calibri"/>
              </a:rPr>
              <a:t>  ›  Charts and tables in images — graphs, data tables, diagrams embedded in a picture, not clean data.</a:t>
            </a:r>
          </a:p>
          <a:p>
            <a:pPr algn="l">
              <a:spcBef>
                <a:spcPts val="700"/>
              </a:spcBef>
            </a:pPr>
            <a:r>
              <a:rPr sz="1500" b="0">
                <a:solidFill>
                  <a:srgbClr val="FFFFFF"/>
                </a:solidFill>
                <a:latin typeface="Calibri"/>
              </a:rPr>
              <a:t>  ›  Voice input — you speak; the tool transcribes to text, then the model answers from the transcript.</a:t>
            </a:r>
          </a:p>
          <a:p>
            <a:pPr algn="l">
              <a:spcBef>
                <a:spcPts val="700"/>
              </a:spcBef>
            </a:pPr>
            <a:r>
              <a:rPr sz="1500" b="0">
                <a:solidFill>
                  <a:srgbClr val="FFFFFF"/>
                </a:solidFill>
                <a:latin typeface="Calibri"/>
              </a:rPr>
              <a:t>  ›  You will not always have clean text to paste — these channels let the model take what you actually have.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Every new input channel is a new place for the model to go confidently wrong — and the failures are easy to miss because you assume 'it can see the image, so it read it correctly.' It often did not.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Each Mode's Own Failure Mode</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Blurry / low-quality images — the model fills unreadable text with plausible guesses; a smudged digit becomes a confident wrong number.</a:t>
            </a:r>
          </a:p>
          <a:p>
            <a:pPr algn="l">
              <a:spcBef>
                <a:spcPts val="700"/>
              </a:spcBef>
            </a:pPr>
            <a:r>
              <a:rPr sz="1500" b="0">
                <a:solidFill>
                  <a:srgbClr val="FFFFFF"/>
                </a:solidFill>
                <a:latin typeface="Calibri"/>
              </a:rPr>
              <a:t>  ›  Tables and charts — misreads which value is in which cell, swaps rows and columns, misjudges a value off an axis.</a:t>
            </a:r>
          </a:p>
          <a:p>
            <a:pPr algn="l">
              <a:spcBef>
                <a:spcPts val="700"/>
              </a:spcBef>
            </a:pPr>
            <a:r>
              <a:rPr sz="1500" b="0">
                <a:solidFill>
                  <a:srgbClr val="FFFFFF"/>
                </a:solidFill>
                <a:latin typeface="Calibri"/>
              </a:rPr>
              <a:t>  ›  Dense or handwritten docs — transcription errors and skipped lines; may silently drop content it could not parse.</a:t>
            </a:r>
          </a:p>
          <a:p>
            <a:pPr algn="l">
              <a:spcBef>
                <a:spcPts val="700"/>
              </a:spcBef>
            </a:pPr>
            <a:r>
              <a:rPr sz="1500" b="0">
                <a:solidFill>
                  <a:srgbClr val="FFFFFF"/>
                </a:solidFill>
                <a:latin typeface="Calibri"/>
              </a:rPr>
              <a:t>  ›  Voice — mishears words, especially names, jargon, callsigns, and numbers; then answers a subtly different question.</a:t>
            </a:r>
          </a:p>
          <a:p>
            <a:pPr algn="l">
              <a:spcBef>
                <a:spcPts val="700"/>
              </a:spcBef>
            </a:pPr>
            <a:r>
              <a:rPr sz="1500" b="0">
                <a:solidFill>
                  <a:srgbClr val="FFFFFF"/>
                </a:solidFill>
                <a:latin typeface="Calibri"/>
              </a:rPr>
              <a:t>  ›  Across all modes — the model rarely says 'I couldn't read this.' It answers confidently over a partial read.</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Misreads inherit the confident tone — the Module 1 confident-wrong failure mode riding in on a new channel. Verify the READ before you trust the REASONING. Good reasoning over a misread table is still wrong.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OPSEC Crosses Modes</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screenshot, a photo of a document, or a scanned PDF can carry exactly the sensitive content you would never paste as text.</a:t>
            </a:r>
          </a:p>
          <a:p>
            <a:pPr algn="l">
              <a:spcBef>
                <a:spcPts val="300"/>
              </a:spcBef>
            </a:pPr>
            <a:r>
              <a:rPr sz="1300" b="0">
                <a:solidFill>
                  <a:srgbClr val="A8B4C8"/>
                </a:solidFill>
                <a:latin typeface="Calibri"/>
              </a:rPr>
              <a:t>      ◦  Names, grids, unit designations, markings, faces.</a:t>
            </a:r>
          </a:p>
          <a:p>
            <a:pPr algn="l">
              <a:spcBef>
                <a:spcPts val="700"/>
              </a:spcBef>
            </a:pPr>
            <a:r>
              <a:rPr sz="1500" b="0">
                <a:solidFill>
                  <a:srgbClr val="FFFFFF"/>
                </a:solidFill>
                <a:latin typeface="Calibri"/>
              </a:rPr>
              <a:t>  ›  Uploading an image is a disclosure decision — identical to pasting text.</a:t>
            </a:r>
          </a:p>
          <a:p>
            <a:pPr algn="l">
              <a:spcBef>
                <a:spcPts val="700"/>
              </a:spcBef>
            </a:pPr>
            <a:r>
              <a:rPr sz="1500" b="0">
                <a:solidFill>
                  <a:srgbClr val="FFFFFF"/>
                </a:solidFill>
                <a:latin typeface="Calibri"/>
              </a:rPr>
              <a:t>  ›  Everything in Module 1's data-handling rule applies to every image, PDF, and voice clip.</a:t>
            </a:r>
          </a:p>
          <a:p>
            <a:pPr algn="l">
              <a:spcBef>
                <a:spcPts val="700"/>
              </a:spcBef>
            </a:pPr>
            <a:r>
              <a:rPr sz="1500" b="0">
                <a:solidFill>
                  <a:srgbClr val="FFFFFF"/>
                </a:solidFill>
                <a:latin typeface="Calibri"/>
              </a:rPr>
              <a:t>  ›  The bright line does not change because the input is a picture instead of words.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Separate two questions when the model extracts data: did it READ the input correctly, and did it REASON correctly from what it read? Check the read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upload a screenshot of a data table and the model gives you a clean analysis.
Two different things could be wrong: how it READ the table, and how it REASONED from it. Which do you check first, and why?
You give the model a photo of a slightly blurry data table and it returns specific numbers with full confidence. What is the right posture?
A) Trust the numbers — the model can see the image clearly
B) Assume it flagged anything it could not read
C) Verify the extracted values against the original; misreads come out with the same confident tone
D) Re-upload the image until the answer changes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Multimodality</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Screenshot a small fabricated, non-sensitive table and ask the model to read specific cells back. Check every value.</a:t>
            </a:r>
          </a:p>
          <a:p>
            <a:pPr algn="l">
              <a:spcBef>
                <a:spcPts val="1000"/>
              </a:spcBef>
            </a:pPr>
            <a:r>
              <a:rPr sz="1400" b="0">
                <a:solidFill>
                  <a:srgbClr val="FFFFFF"/>
                </a:solidFill>
                <a:latin typeface="Calibri"/>
              </a:rPr>
              <a:t>  2.   Give it a chart image and ask for a specific value off the graph. Right, or confidently close-but-wrong?</a:t>
            </a:r>
          </a:p>
          <a:p>
            <a:pPr algn="l">
              <a:spcBef>
                <a:spcPts val="1000"/>
              </a:spcBef>
            </a:pPr>
            <a:r>
              <a:rPr sz="1400" b="0">
                <a:solidFill>
                  <a:srgbClr val="FFFFFF"/>
                </a:solidFill>
                <a:latin typeface="Calibri"/>
              </a:rPr>
              <a:t>  3.   If your tool supports voice, speak a sentence with a name, a callsign, and a number. Check the transcription first.</a:t>
            </a:r>
          </a:p>
          <a:p>
            <a:pPr algn="l">
              <a:spcBef>
                <a:spcPts val="1000"/>
              </a:spcBef>
            </a:pPr>
            <a:r>
              <a:rPr sz="1400" b="0">
                <a:solidFill>
                  <a:srgbClr val="FFFFFF"/>
                </a:solidFill>
                <a:latin typeface="Calibri"/>
              </a:rPr>
              <a:t>  4.   Upload a multi-page PDF and ask about content on a later page. Confirm it actually read that far.</a:t>
            </a:r>
          </a:p>
          <a:p>
            <a:pPr algn="l">
              <a:spcBef>
                <a:spcPts val="1000"/>
              </a:spcBef>
            </a:pPr>
            <a:r>
              <a:rPr sz="1400" b="0">
                <a:solidFill>
                  <a:srgbClr val="FFFFFF"/>
                </a:solidFill>
                <a:latin typeface="Calibri"/>
              </a:rPr>
              <a:t>  5.   For each test: did the model flag any uncertainty about what it read? (It probably did not.)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cross-checking a model's extracted table values against the original printed document]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Multimodality: More Ways In, More Ways to Misread</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Input modes: images/screenshots, PDFs, charts/tables, voice.</a:t>
            </a:r>
          </a:p>
          <a:p>
            <a:pPr algn="l">
              <a:spcBef>
                <a:spcPts val="1400"/>
              </a:spcBef>
            </a:pPr>
            <a:r>
              <a:rPr sz="1600" b="0">
                <a:solidFill>
                  <a:srgbClr val="FFFFFF"/>
                </a:solidFill>
                <a:latin typeface="Calibri"/>
              </a:rPr>
              <a:t>  ›  Each has a characteristic failure: blurry-text guesses, swapped cells, dropped lines, misheard names/numbers.</a:t>
            </a:r>
          </a:p>
          <a:p>
            <a:pPr algn="l">
              <a:spcBef>
                <a:spcPts val="1400"/>
              </a:spcBef>
            </a:pPr>
            <a:r>
              <a:rPr sz="1600" b="0">
                <a:solidFill>
                  <a:srgbClr val="FFFFFF"/>
                </a:solidFill>
                <a:latin typeface="Calibri"/>
              </a:rPr>
              <a:t>  ›  Misreads inherit the confident tone — check the model's read separately from its reasoning.</a:t>
            </a:r>
          </a:p>
          <a:p>
            <a:pPr algn="l">
              <a:spcBef>
                <a:spcPts val="1400"/>
              </a:spcBef>
            </a:pPr>
            <a:r>
              <a:rPr sz="1600" b="0">
                <a:solidFill>
                  <a:srgbClr val="FFFFFF"/>
                </a:solidFill>
                <a:latin typeface="Calibri"/>
              </a:rPr>
              <a:t>  ›  OPSEC crosses modes: an image, PDF, or voice clip is a disclosure decision, same as pasting text.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Feeding the Machine — Grounding &amp; Multimodality</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Grounding</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Feed real source material at request time</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The practical fix for knowledge cutoff and hallucination.</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Three Paths</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Web search, file upload, connectors</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Three ways to hand the jar real, current, specific info.</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Grounded vs. Gen</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Confirm it fired; trace claims to sources</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Capability is not use. The mixed answer is the dangerous case.</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Citation != Proof</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Trace-ability lowers risk, not the operator</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Run the Module 1 verification drills on the cited source.</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Multimodality</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Images, screenshots, PDFs, charts, voice</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More ways in for real work — and more ways to misread.</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514600" cy="731520"/>
          </a:xfrm>
          <a:prstGeom prst="rect">
            <a:avLst/>
          </a:prstGeom>
          <a:noFill/>
        </p:spPr>
        <p:txBody>
          <a:bodyPr wrap="square">
            <a:spAutoFit/>
          </a:bodyPr>
          <a:lstStyle/>
          <a:p>
            <a:pPr algn="l"/>
            <a:r>
              <a:rPr sz="1100" b="1" i="0">
                <a:solidFill>
                  <a:srgbClr val="00B4FF"/>
                </a:solidFill>
                <a:latin typeface="Calibri"/>
              </a:rPr>
              <a:t>Per-Mode Failures</a:t>
            </a:r>
          </a:p>
        </p:txBody>
      </p:sp>
      <p:sp>
        <p:nvSpPr>
          <p:cNvPr id="39" name="TextBox 38"/>
          <p:cNvSpPr txBox="1"/>
          <p:nvPr/>
        </p:nvSpPr>
        <p:spPr>
          <a:xfrm>
            <a:off x="3310128" y="5641848"/>
            <a:ext cx="3886200" cy="731520"/>
          </a:xfrm>
          <a:prstGeom prst="rect">
            <a:avLst/>
          </a:prstGeom>
          <a:noFill/>
        </p:spPr>
        <p:txBody>
          <a:bodyPr wrap="square">
            <a:spAutoFit/>
          </a:bodyPr>
          <a:lstStyle/>
          <a:p>
            <a:pPr algn="l"/>
            <a:r>
              <a:rPr sz="1100" b="0" i="0">
                <a:solidFill>
                  <a:srgbClr val="FFFFFF"/>
                </a:solidFill>
                <a:latin typeface="Calibri"/>
              </a:rPr>
              <a:t>Blurry text, swapped cells, misheard input</a:t>
            </a:r>
          </a:p>
        </p:txBody>
      </p:sp>
      <p:sp>
        <p:nvSpPr>
          <p:cNvPr id="40" name="TextBox 39"/>
          <p:cNvSpPr txBox="1"/>
          <p:nvPr/>
        </p:nvSpPr>
        <p:spPr>
          <a:xfrm>
            <a:off x="7516368" y="5641848"/>
            <a:ext cx="4434840" cy="731520"/>
          </a:xfrm>
          <a:prstGeom prst="rect">
            <a:avLst/>
          </a:prstGeom>
          <a:noFill/>
        </p:spPr>
        <p:txBody>
          <a:bodyPr wrap="square">
            <a:spAutoFit/>
          </a:bodyPr>
          <a:lstStyle/>
          <a:p>
            <a:pPr algn="l"/>
            <a:r>
              <a:rPr sz="1100" b="0" i="0">
                <a:solidFill>
                  <a:srgbClr val="A8B4C8"/>
                </a:solidFill>
                <a:latin typeface="Calibri"/>
              </a:rPr>
              <a:t>Misreads inherit the confident tone. Verify the read first.</a:t>
            </a:r>
          </a:p>
        </p:txBody>
      </p:sp>
      <p:sp>
        <p:nvSpPr>
          <p:cNvPr id="41" name="Rectangle 40"/>
          <p:cNvSpPr/>
          <p:nvPr/>
        </p:nvSpPr>
        <p:spPr>
          <a:xfrm>
            <a:off x="411480" y="6327648"/>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1480" y="632764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6400800"/>
            <a:ext cx="2514600" cy="731520"/>
          </a:xfrm>
          <a:prstGeom prst="rect">
            <a:avLst/>
          </a:prstGeom>
          <a:noFill/>
        </p:spPr>
        <p:txBody>
          <a:bodyPr wrap="square">
            <a:spAutoFit/>
          </a:bodyPr>
          <a:lstStyle/>
          <a:p>
            <a:pPr algn="l"/>
            <a:r>
              <a:rPr sz="1100" b="1" i="0">
                <a:solidFill>
                  <a:srgbClr val="00B4FF"/>
                </a:solidFill>
                <a:latin typeface="Calibri"/>
              </a:rPr>
              <a:t>OPSEC Crosses Modes</a:t>
            </a:r>
          </a:p>
        </p:txBody>
      </p:sp>
      <p:sp>
        <p:nvSpPr>
          <p:cNvPr id="44" name="TextBox 43"/>
          <p:cNvSpPr txBox="1"/>
          <p:nvPr/>
        </p:nvSpPr>
        <p:spPr>
          <a:xfrm>
            <a:off x="3310128" y="6400800"/>
            <a:ext cx="3886200" cy="731520"/>
          </a:xfrm>
          <a:prstGeom prst="rect">
            <a:avLst/>
          </a:prstGeom>
          <a:noFill/>
        </p:spPr>
        <p:txBody>
          <a:bodyPr wrap="square">
            <a:spAutoFit/>
          </a:bodyPr>
          <a:lstStyle/>
          <a:p>
            <a:pPr algn="l"/>
            <a:r>
              <a:rPr sz="1100" b="0" i="0">
                <a:solidFill>
                  <a:srgbClr val="FFFFFF"/>
                </a:solidFill>
                <a:latin typeface="Calibri"/>
              </a:rPr>
              <a:t>An image/PDF/voice clip is a disclosure</a:t>
            </a:r>
          </a:p>
        </p:txBody>
      </p:sp>
      <p:sp>
        <p:nvSpPr>
          <p:cNvPr id="45" name="TextBox 44"/>
          <p:cNvSpPr txBox="1"/>
          <p:nvPr/>
        </p:nvSpPr>
        <p:spPr>
          <a:xfrm>
            <a:off x="7516368" y="6400800"/>
            <a:ext cx="4434840" cy="731520"/>
          </a:xfrm>
          <a:prstGeom prst="rect">
            <a:avLst/>
          </a:prstGeom>
          <a:noFill/>
        </p:spPr>
        <p:txBody>
          <a:bodyPr wrap="square">
            <a:spAutoFit/>
          </a:bodyPr>
          <a:lstStyle/>
          <a:p>
            <a:pPr algn="l"/>
            <a:r>
              <a:rPr sz="1100" b="0" i="0">
                <a:solidFill>
                  <a:srgbClr val="A8B4C8"/>
                </a:solidFill>
                <a:latin typeface="Calibri"/>
              </a:rPr>
              <a:t>The Module 1 data-handling rule applies to every channel.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explain grounding as feeding real source material into the model at request time</a:t>
            </a:r>
          </a:p>
          <a:p>
            <a:pPr algn="l">
              <a:spcBef>
                <a:spcPts val="800"/>
              </a:spcBef>
            </a:pPr>
            <a:r>
              <a:rPr sz="1300" b="0">
                <a:solidFill>
                  <a:srgbClr val="A8B4C8"/>
                </a:solidFill>
                <a:latin typeface="Calibri"/>
              </a:rPr>
              <a:t>  ☐   I can name three grounding paths: web search, file upload, connectors</a:t>
            </a:r>
          </a:p>
          <a:p>
            <a:pPr algn="l">
              <a:spcBef>
                <a:spcPts val="800"/>
              </a:spcBef>
            </a:pPr>
            <a:r>
              <a:rPr sz="1300" b="0">
                <a:solidFill>
                  <a:srgbClr val="A8B4C8"/>
                </a:solidFill>
                <a:latin typeface="Calibri"/>
              </a:rPr>
              <a:t>  ☐   I confirm grounding actually fired before trusting a 'grounded' answer</a:t>
            </a:r>
          </a:p>
          <a:p>
            <a:pPr algn="l">
              <a:spcBef>
                <a:spcPts val="800"/>
              </a:spcBef>
            </a:pPr>
            <a:r>
              <a:rPr sz="1300" b="0">
                <a:solidFill>
                  <a:srgbClr val="A8B4C8"/>
                </a:solidFill>
                <a:latin typeface="Calibri"/>
              </a:rPr>
              <a:t>  ☐   I can trace a grounded claim to its source and treat a citation as a starting point, not proof</a:t>
            </a:r>
          </a:p>
          <a:p>
            <a:pPr algn="l">
              <a:spcBef>
                <a:spcPts val="800"/>
              </a:spcBef>
            </a:pPr>
            <a:r>
              <a:rPr sz="1300" b="0">
                <a:solidFill>
                  <a:srgbClr val="A8B4C8"/>
                </a:solidFill>
                <a:latin typeface="Calibri"/>
              </a:rPr>
              <a:t>  ☐   I can name the input modes and the characteristic failure mode of each</a:t>
            </a:r>
          </a:p>
          <a:p>
            <a:pPr algn="l">
              <a:spcBef>
                <a:spcPts val="800"/>
              </a:spcBef>
            </a:pPr>
            <a:r>
              <a:rPr sz="1300" b="0">
                <a:solidFill>
                  <a:srgbClr val="A8B4C8"/>
                </a:solidFill>
                <a:latin typeface="Calibri"/>
              </a:rPr>
              <a:t>  ☐   I check the model's read of an input separately from its reasoning</a:t>
            </a:r>
          </a:p>
          <a:p>
            <a:pPr algn="l">
              <a:spcBef>
                <a:spcPts val="800"/>
              </a:spcBef>
            </a:pPr>
            <a:r>
              <a:rPr sz="1300" b="0">
                <a:solidFill>
                  <a:srgbClr val="A8B4C8"/>
                </a:solidFill>
                <a:latin typeface="Calibri"/>
              </a:rPr>
              <a:t>  ☐   I apply the Module 1 data-handling rule to images, PDFs, and voice — not just typed text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Module 3:
Feeding the Machine</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On your next real task, deliberately ground the model (search or upload) and trace one claim to its source.</a:t>
            </a:r>
          </a:p>
          <a:p>
            <a:pPr algn="l">
              <a:spcBef>
                <a:spcPts val="1000"/>
              </a:spcBef>
            </a:pPr>
            <a:r>
              <a:rPr sz="1400" b="0">
                <a:solidFill>
                  <a:srgbClr val="A8B4C8"/>
                </a:solidFill>
                <a:latin typeface="Calibri"/>
              </a:rPr>
              <a:t>  2.   Run a 'verify the read' check on an image or chart before trusting any number it extracts.</a:t>
            </a:r>
          </a:p>
          <a:p>
            <a:pPr algn="l">
              <a:spcBef>
                <a:spcPts val="1000"/>
              </a:spcBef>
            </a:pPr>
            <a:r>
              <a:rPr sz="1400" b="0">
                <a:solidFill>
                  <a:srgbClr val="A8B4C8"/>
                </a:solidFill>
                <a:latin typeface="Calibri"/>
              </a:rPr>
              <a:t>  3.   Carry grounding forward: in Module 7 it is a tool call; in Module 12 it gets a name — retrieval.</a:t>
            </a:r>
          </a:p>
          <a:p>
            <a:pPr algn="l">
              <a:spcBef>
                <a:spcPts val="1000"/>
              </a:spcBef>
            </a:pPr>
            <a:r>
              <a:rPr sz="1400" b="0">
                <a:solidFill>
                  <a:srgbClr val="A8B4C8"/>
                </a:solidFill>
                <a:latin typeface="Calibri"/>
              </a:rPr>
              <a:t>  4.   Apply your Module 1 bright line to images, PDFs, and voice, not just text. The disclosure decision is the same.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