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7000" cy="685800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63500">
              <a:srgbClr val="00B4FF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FF"/>
                </a:solidFill>
                <a:latin typeface="Calibri"/>
              </a:rPr>
              <a:t>AGENTIC COMMANDERS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14400"/>
            <a:ext cx="5943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Standing Orders:
Making the AI
Know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3657600"/>
            <a:ext cx="5303520" cy="25400"/>
          </a:xfrm>
          <a:prstGeom prst="rect">
            <a:avLst/>
          </a:prstGeom>
          <a:solidFill>
            <a:srgbClr val="FFAA00"/>
          </a:solidFill>
          <a:ln>
            <a:noFill/>
          </a:ln>
          <a:effectLst>
            <a:glow rad="38100">
              <a:srgbClr val="FFAA00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37947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8B4C8"/>
                </a:solidFill>
                <a:latin typeface="Calibri"/>
              </a:rPr>
              <a:t>PREREQUISITE MODULE  |  SELF-PACED</a:t>
            </a:r>
          </a:p>
        </p:txBody>
      </p:sp>
      <p:sp>
        <p:nvSpPr>
          <p:cNvPr id="7" name="Rectangle 6"/>
          <p:cNvSpPr/>
          <p:nvPr/>
        </p:nvSpPr>
        <p:spPr>
          <a:xfrm>
            <a:off x="6492240" y="320040"/>
            <a:ext cx="5394960" cy="6080760"/>
          </a:xfrm>
          <a:prstGeom prst="rect">
            <a:avLst/>
          </a:prstGeom>
          <a:solidFill>
            <a:srgbClr val="0F1423"/>
          </a:solidFill>
          <a:ln w="19050">
            <a:solidFill>
              <a:srgbClr val="00B4FF"/>
            </a:solidFill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304038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B4FF"/>
                </a:solidFill>
                <a:latin typeface="Calibri"/>
              </a:rPr>
              <a:t>◼  IMAGE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331470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8B4C8"/>
                </a:solidFill>
                <a:latin typeface="Calibri"/>
              </a:rPr>
              <a:t>[IMAGE: Soldier posting standing orders on a unit board before a shift change]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01968"/>
            <a:ext cx="12188952" cy="1905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4458"/>
                </a:solidFill>
                <a:latin typeface="Calibri"/>
              </a:rPr>
              <a:t>ACC  |  AGENTIC COMMANDERS COURSE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659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MODULE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868680"/>
            <a:ext cx="113659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B4C8"/>
                </a:solidFill>
                <a:latin typeface="Calibri"/>
              </a:rPr>
              <a:t>Situation Brief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143000"/>
            <a:ext cx="11365992" cy="2540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50800">
              <a:srgbClr val="00B4FF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88952" cy="1905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4458"/>
                </a:solidFill>
                <a:latin typeface="Calibri"/>
              </a:rPr>
              <a:t>ACC  |  AGENTIC COMMANDERS COURSE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325880"/>
            <a:ext cx="11365992" cy="960120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325880"/>
            <a:ext cx="50800" cy="960120"/>
          </a:xfrm>
          <a:prstGeom prst="rect">
            <a:avLst/>
          </a:prstGeom>
          <a:solidFill>
            <a:srgbClr val="FFAA00"/>
          </a:solidFill>
          <a:ln>
            <a:noFill/>
          </a:ln>
          <a:effectLst>
            <a:glow rad="38100">
              <a:srgbClr val="FFAA00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37160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AA00"/>
                </a:solidFill>
                <a:latin typeface="Calibri"/>
              </a:rPr>
              <a:t>BLUF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618488"/>
            <a:ext cx="110002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Most AI tools let you set persistent instructions that shape every conversation — your role, your preferences, what to always and never do — so you stop re-briefing the model from scratch each session.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3774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AA00"/>
                </a:solidFill>
                <a:latin typeface="Calibri"/>
              </a:rPr>
              <a:t>⏱  Self-paced (about 20 minutes)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2788920"/>
            <a:ext cx="11365992" cy="3611880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" y="2788920"/>
            <a:ext cx="50800" cy="361188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85292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B4FF"/>
                </a:solidFill>
                <a:latin typeface="Calibri"/>
              </a:rPr>
              <a:t>LEARNING OBJECTIVES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154680"/>
            <a:ext cx="11000232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300" b="0">
                <a:solidFill>
                  <a:srgbClr val="A8B4C8"/>
                </a:solidFill>
                <a:latin typeface="Calibri"/>
              </a:rPr>
              <a:t>  ›  Locate the custom instruction or project settings in your AI tool of choice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A8B4C8"/>
                </a:solidFill>
                <a:latin typeface="Calibri"/>
              </a:rPr>
              <a:t>  ›  Write at least three persistent instructions covering identity, format, and prohibited behaviors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A8B4C8"/>
                </a:solidFill>
                <a:latin typeface="Calibri"/>
              </a:rPr>
              <a:t>  ›  Apply the Module 1 data-handling bright line to persistent instruction fields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A8B4C8"/>
                </a:solidFill>
                <a:latin typeface="Calibri"/>
              </a:rPr>
              <a:t>  ›  Distinguish custom instructions, memory, projects, and personas as persistent-context mechanisms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A8B4C8"/>
                </a:solidFill>
                <a:latin typeface="Calibri"/>
              </a:rPr>
              <a:t>  ›  Recognize the context-window cost of custom instructions and how to manage 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-137160" y="36576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0" b="1" i="0">
                <a:solidFill>
                  <a:srgbClr val="151E35"/>
                </a:solidFill>
                <a:latin typeface="Calibri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86868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AA00"/>
                </a:solidFill>
                <a:latin typeface="Calibri"/>
              </a:rPr>
              <a:t>SECTION  01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261872"/>
            <a:ext cx="5303520" cy="19050"/>
          </a:xfrm>
          <a:prstGeom prst="rect">
            <a:avLst/>
          </a:prstGeom>
          <a:solidFill>
            <a:srgbClr val="FFAA00"/>
          </a:solidFill>
          <a:ln>
            <a:noFill/>
          </a:ln>
          <a:effectLst>
            <a:glow rad="38100">
              <a:srgbClr val="FFAA00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17320"/>
            <a:ext cx="5943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Default Settings Are
a Starting Point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4297680"/>
            <a:ext cx="5303520" cy="2540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50800">
              <a:srgbClr val="00B4FF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4434840"/>
            <a:ext cx="5943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B4C8"/>
                </a:solidFill>
                <a:latin typeface="Calibri"/>
              </a:rPr>
              <a:t>Without customization, every chat starts cold. A one-time setup pays back on every conversation after.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6675120" y="548640"/>
            <a:ext cx="5212080" cy="5852160"/>
          </a:xfrm>
          <a:prstGeom prst="rect">
            <a:avLst/>
          </a:prstGeom>
          <a:solidFill>
            <a:srgbClr val="0F1423"/>
          </a:solidFill>
          <a:ln w="19050">
            <a:solidFill>
              <a:srgbClr val="00B4FF"/>
            </a:solidFill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315468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B4FF"/>
                </a:solidFill>
                <a:latin typeface="Calibri"/>
              </a:rPr>
              <a:t>◼  IMAGE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342900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8B4C8"/>
                </a:solidFill>
                <a:latin typeface="Calibri"/>
              </a:rPr>
              <a:t>[IMAGE: A relief arriving on watch with no posted orders — starting from zero every shift]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601968"/>
            <a:ext cx="12188952" cy="1905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4458"/>
                </a:solidFill>
                <a:latin typeface="Calibri"/>
              </a:rPr>
              <a:t>ACC  |  AGENTIC COMMANDERS COURSE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659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Why Personalization Matters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68680"/>
            <a:ext cx="11365992" cy="2540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50800">
              <a:srgbClr val="00B4FF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88952" cy="1905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4458"/>
                </a:solidFill>
                <a:latin typeface="Calibri"/>
              </a:rPr>
              <a:t>ACC  |  AGENTIC COMMANDERS COURSE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371600"/>
            <a:ext cx="11365992" cy="3154680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371600"/>
            <a:ext cx="50800" cy="315468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11000232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7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  ›  Without customization, every new chat starts cold.</a:t>
            </a:r>
          </a:p>
          <a:p>
            <a:pPr algn="l">
              <a:spcBef>
                <a:spcPts val="7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  ›  The model does not know who you are, how you communicate, or what context is always relevant.</a:t>
            </a:r>
          </a:p>
          <a:p>
            <a:pPr algn="l">
              <a:spcBef>
                <a:spcPts val="7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  ›  Every session you either re-explain yourself or accept generic output.</a:t>
            </a:r>
          </a:p>
          <a:p>
            <a:pPr algn="l">
              <a:spcBef>
                <a:spcPts val="7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  ›  Personalization is a one-time investment that pays back on every single conversation after.</a:t>
            </a:r>
          </a:p>
          <a:p>
            <a:pPr algn="l">
              <a:spcBef>
                <a:spcPts val="7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  ›  Persistent instructions load at the start of every conversation — before you type anything.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4663440"/>
            <a:ext cx="11365992" cy="1600200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4663440"/>
            <a:ext cx="50800" cy="1600200"/>
          </a:xfrm>
          <a:prstGeom prst="rect">
            <a:avLst/>
          </a:prstGeom>
          <a:solidFill>
            <a:srgbClr val="FFAA00"/>
          </a:solidFill>
          <a:ln>
            <a:noFill/>
          </a:ln>
          <a:effectLst>
            <a:glow rad="38100">
              <a:srgbClr val="FFAA00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472744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AA00"/>
                </a:solidFill>
                <a:latin typeface="Calibri"/>
              </a:rPr>
              <a:t>NOTE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974336"/>
            <a:ext cx="11000232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B4C8"/>
                </a:solidFill>
                <a:latin typeface="Calibri"/>
              </a:rPr>
              <a:t>Think of it as the standing orders a unit posts so every shift runs the same way without a re-brief. You write them once. The watch reads them on every relief.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659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Where to Find It: ChatGPT and Claude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68680"/>
            <a:ext cx="11365992" cy="2540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50800">
              <a:srgbClr val="00B4FF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88952" cy="1905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4458"/>
                </a:solidFill>
                <a:latin typeface="Calibri"/>
              </a:rPr>
              <a:t>ACC  |  AGENTIC COMMANDERS COURSE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371600"/>
            <a:ext cx="11365992" cy="3154680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371600"/>
            <a:ext cx="50800" cy="315468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11000232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7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  ›  ChatGPT — Custom Instructions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A8B4C8"/>
                </a:solidFill>
                <a:latin typeface="Calibri"/>
              </a:rPr>
              <a:t>      ◦  Settings -&gt; Personalization -&gt; Custom Instructions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A8B4C8"/>
                </a:solidFill>
                <a:latin typeface="Calibri"/>
              </a:rPr>
              <a:t>      ◦  Two fields: 'What should ChatGPT know about you?' and 'How should it respond?'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A8B4C8"/>
                </a:solidFill>
                <a:latin typeface="Calibri"/>
              </a:rPr>
              <a:t>      ◦  Applied automatically to every new conversation.</a:t>
            </a:r>
          </a:p>
          <a:p>
            <a:pPr algn="l">
              <a:spcBef>
                <a:spcPts val="7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  ›  Claude — Projects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A8B4C8"/>
                </a:solidFill>
                <a:latin typeface="Calibri"/>
              </a:rPr>
              <a:t>      ◦  Claude.ai -&gt; Projects -&gt; Create a Project -&gt; Set Instructions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A8B4C8"/>
                </a:solidFill>
                <a:latin typeface="Calibri"/>
              </a:rPr>
              <a:t>      ◦  One system prompt field — use it the same way.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A8B4C8"/>
                </a:solidFill>
                <a:latin typeface="Calibri"/>
              </a:rPr>
              <a:t>      ◦  Upload documents the model references across all conversations in that project.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4663440"/>
            <a:ext cx="11365992" cy="1600200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4663440"/>
            <a:ext cx="50800" cy="1600200"/>
          </a:xfrm>
          <a:prstGeom prst="rect">
            <a:avLst/>
          </a:prstGeom>
          <a:solidFill>
            <a:srgbClr val="FFAA00"/>
          </a:solidFill>
          <a:ln>
            <a:noFill/>
          </a:ln>
          <a:effectLst>
            <a:glow rad="38100">
              <a:srgbClr val="FFAA00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472744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AA00"/>
                </a:solidFill>
                <a:latin typeface="Calibri"/>
              </a:rPr>
              <a:t>NOTE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974336"/>
            <a:ext cx="11000232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B4C8"/>
                </a:solidFill>
                <a:latin typeface="Calibri"/>
              </a:rPr>
              <a:t>Instructor Note: Custom-instruction UI locations change frequently. Verify the menu path before teaching — the concept is stable, the UI is not.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659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What to Put In — and What to Keep Out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68680"/>
            <a:ext cx="11365992" cy="2540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50800">
              <a:srgbClr val="00B4FF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88952" cy="1905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4458"/>
                </a:solidFill>
                <a:latin typeface="Calibri"/>
              </a:rPr>
              <a:t>ACC  |  AGENTIC COMMANDERS COURSE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371600"/>
            <a:ext cx="11365992" cy="3154680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371600"/>
            <a:ext cx="50800" cy="315468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11000232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7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  ›  PUT IN: your role and what you do day to day</a:t>
            </a:r>
          </a:p>
          <a:p>
            <a:pPr algn="l">
              <a:spcBef>
                <a:spcPts val="7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  ›  PUT IN: how you prefer responses (length, format, tone)</a:t>
            </a:r>
          </a:p>
          <a:p>
            <a:pPr algn="l">
              <a:spcBef>
                <a:spcPts val="7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  ›  PUT IN: things to always do — 'Lead with a one-sentence summary. Use bullet points.'</a:t>
            </a:r>
          </a:p>
          <a:p>
            <a:pPr algn="l">
              <a:spcBef>
                <a:spcPts val="7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  ›  PUT IN: things to never do — 'No emojis. No padding. Do not apologize.'</a:t>
            </a:r>
          </a:p>
          <a:p>
            <a:pPr algn="l">
              <a:spcBef>
                <a:spcPts val="7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  ›  PUT IN: recurring context — your tools, team terminology, domain</a:t>
            </a:r>
          </a:p>
          <a:p>
            <a:pPr algn="l">
              <a:spcBef>
                <a:spcPts val="7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  ›  KEEP OUT: anything the Module 1 data-handling line covers — the bright line still applies here.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4663440"/>
            <a:ext cx="11365992" cy="1600200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4663440"/>
            <a:ext cx="50800" cy="1600200"/>
          </a:xfrm>
          <a:prstGeom prst="rect">
            <a:avLst/>
          </a:prstGeom>
          <a:solidFill>
            <a:srgbClr val="FFAA00"/>
          </a:solidFill>
          <a:ln>
            <a:noFill/>
          </a:ln>
          <a:effectLst>
            <a:glow rad="38100">
              <a:srgbClr val="FFAA00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472744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AA00"/>
                </a:solidFill>
                <a:latin typeface="Calibri"/>
              </a:rPr>
              <a:t>NOTE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974336"/>
            <a:ext cx="11000232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B4C8"/>
                </a:solidFill>
                <a:latin typeface="Calibri"/>
              </a:rPr>
              <a:t>Back-reference, not a re-teach: custom instructions go to the platform's servers on every request. Nothing sensitive, nothing controlled, nothing above the authorization ceiling. The Module 1 rule has no exception for a settings field.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659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Before and After Custom Instructions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868680"/>
            <a:ext cx="113659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B4C8"/>
                </a:solidFill>
                <a:latin typeface="Calibri"/>
              </a:rPr>
              <a:t>Scenario: Analyst asking for a document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143000"/>
            <a:ext cx="11365992" cy="2540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50800">
              <a:srgbClr val="00B4FF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88952" cy="1905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4458"/>
                </a:solidFill>
                <a:latin typeface="Calibri"/>
              </a:rPr>
              <a:t>ACC  |  AGENTIC COMMANDERS COURSE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417320"/>
            <a:ext cx="6492240" cy="5029200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417320"/>
            <a:ext cx="50800" cy="502920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581912"/>
            <a:ext cx="62179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WITHOUT CUSTOM INSTRUCTIONS: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A8B4C8"/>
                </a:solidFill>
                <a:latin typeface="Calibri"/>
              </a:rPr>
              <a:t>  You ask: "Summarize this document."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A8B4C8"/>
                </a:solidFill>
                <a:latin typeface="Calibri"/>
              </a:rPr>
              <a:t>  Five-paragraph response — neutral tone, hedging, introduction,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A8B4C8"/>
                </a:solidFill>
                <a:latin typeface="Calibri"/>
              </a:rPr>
              <a:t>  conclusion, multiple caveats. Generic.</a:t>
            </a:r>
          </a:p>
          <a:p>
            <a:pPr algn="l">
              <a:spcBef>
                <a:spcPts val="8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WITH CUSTOM INSTRUCTIONS: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A8B4C8"/>
                </a:solidFill>
                <a:latin typeface="Calibri"/>
              </a:rPr>
              <a:t>  Instructions set: "I am an analyst. Lead with BLUF. Use bullets.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A8B4C8"/>
                </a:solidFill>
                <a:latin typeface="Calibri"/>
              </a:rPr>
              <a:t>  No padding. Max 150 words."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A8B4C8"/>
                </a:solidFill>
                <a:latin typeface="Calibri"/>
              </a:rPr>
              <a:t>  You ask: "Summarize this document."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A8B4C8"/>
                </a:solidFill>
                <a:latin typeface="Calibri"/>
              </a:rPr>
              <a:t>  Same document. Same model. Direct, structured output that matches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A8B4C8"/>
                </a:solidFill>
                <a:latin typeface="Calibri"/>
              </a:rPr>
              <a:t>  how you actually communicate.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6600" y="1417320"/>
            <a:ext cx="4690872" cy="5029200"/>
          </a:xfrm>
          <a:prstGeom prst="rect">
            <a:avLst/>
          </a:prstGeom>
          <a:solidFill>
            <a:srgbClr val="0F1423"/>
          </a:solidFill>
          <a:ln w="19050">
            <a:solidFill>
              <a:srgbClr val="00B4FF"/>
            </a:solidFill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6600" y="3611880"/>
            <a:ext cx="46908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B4FF"/>
                </a:solidFill>
                <a:latin typeface="Calibri"/>
              </a:rPr>
              <a:t>◼  IMAGE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69480" y="3886200"/>
            <a:ext cx="432511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8B4C8"/>
                </a:solidFill>
                <a:latin typeface="Calibri"/>
              </a:rPr>
              <a:t>[IMAGE: Two summaries side by side — one verbose and generic, one clean and direct]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659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Two Cautions Before You Build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68680"/>
            <a:ext cx="11365992" cy="2540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50800">
              <a:srgbClr val="00B4FF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88952" cy="1905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4458"/>
                </a:solidFill>
                <a:latin typeface="Calibri"/>
              </a:rPr>
              <a:t>ACC  |  AGENTIC COMMANDERS COURSE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371600"/>
            <a:ext cx="11365992" cy="4434840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371600"/>
            <a:ext cx="50800" cy="443484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11000232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7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  ›  Caution 1: Start with one thing.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A8B4C8"/>
                </a:solidFill>
                <a:latin typeface="Calibri"/>
              </a:rPr>
              <a:t>      ◦  Tell it one thing it gets wrong every time. Fix that first. Build from there.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A8B4C8"/>
                </a:solidFill>
                <a:latin typeface="Calibri"/>
              </a:rPr>
              <a:t>      ◦  A tight 50-word instruction that sticks beats a 1,000-word template the model ignores after three turns.</a:t>
            </a:r>
          </a:p>
          <a:p>
            <a:pPr algn="l">
              <a:spcBef>
                <a:spcPts val="7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  ›  Caution 2: Custom instructions count against your context window.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A8B4C8"/>
                </a:solidFill>
                <a:latin typeface="Calibri"/>
              </a:rPr>
              <a:t>      ◦  They are loaded on every message — a long instruction shrinks the effective window for your conversation.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A8B4C8"/>
                </a:solidFill>
                <a:latin typeface="Calibri"/>
              </a:rPr>
              <a:t>      ◦  Keep instructions under 500 words. Need more? Use a Project document instead.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01968"/>
            <a:ext cx="12188952" cy="1905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4458"/>
                </a:solidFill>
                <a:latin typeface="Calibri"/>
              </a:rPr>
              <a:t>ACC  |  AGENTIC COMMANDERS COURSE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50800">
              <a:srgbClr val="00B4FF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0C14"/>
                </a:solidFill>
                <a:latin typeface="Calibri"/>
              </a:rPr>
              <a:t>CHECK ON LEARNING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713232"/>
            <a:ext cx="11365992" cy="5733288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713232"/>
            <a:ext cx="50800" cy="5733288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822960"/>
            <a:ext cx="9144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AA00"/>
                </a:solidFill>
                <a:latin typeface="Calibri"/>
              </a:rPr>
              <a:t>Before You Continue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344168"/>
            <a:ext cx="10972800" cy="1905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508760"/>
            <a:ext cx="11000232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You wrote a custom instruction that says 'always lead with a one-sentence summary.'
On one response, the model ignores it.
What are the two most likely causes?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01968"/>
            <a:ext cx="12188952" cy="19050"/>
          </a:xfrm>
          <a:prstGeom prst="rect">
            <a:avLst/>
          </a:prstGeom>
          <a:solidFill>
            <a:srgbClr val="00E57A"/>
          </a:solidFill>
          <a:ln>
            <a:noFill/>
          </a:ln>
          <a:effectLst>
            <a:glow rad="38100">
              <a:srgbClr val="00E57A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4458"/>
                </a:solidFill>
                <a:latin typeface="Calibri"/>
              </a:rPr>
              <a:t>ACC  |  AGENTIC COMMANDERS COURSE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00E57A"/>
          </a:solidFill>
          <a:ln>
            <a:noFill/>
          </a:ln>
          <a:effectLst>
            <a:glow rad="50800">
              <a:srgbClr val="00E57A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0C14"/>
                </a:solidFill>
                <a:latin typeface="Calibri"/>
              </a:rPr>
              <a:t>HANDS-ON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914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A0C14"/>
                </a:solidFill>
                <a:latin typeface="Calibri"/>
              </a:rPr>
              <a:t>Setting Up Custom Instructions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713232"/>
            <a:ext cx="6858000" cy="5733288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713232"/>
            <a:ext cx="50800" cy="5733288"/>
          </a:xfrm>
          <a:prstGeom prst="rect">
            <a:avLst/>
          </a:prstGeom>
          <a:solidFill>
            <a:srgbClr val="00E57A"/>
          </a:solidFill>
          <a:ln>
            <a:noFill/>
          </a:ln>
          <a:effectLst>
            <a:glow rad="38100">
              <a:srgbClr val="00E57A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896112"/>
            <a:ext cx="6583680" cy="534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0"/>
              </a:spcBef>
            </a:pPr>
            <a:r>
              <a:rPr sz="1400" b="0">
                <a:solidFill>
                  <a:srgbClr val="FFFFFF"/>
                </a:solidFill>
                <a:latin typeface="Calibri"/>
              </a:rPr>
              <a:t>  1.   Open your AI tool of choice. Find the custom instructions or project settings.</a:t>
            </a:r>
          </a:p>
          <a:p>
            <a:pPr algn="l">
              <a:spcBef>
                <a:spcPts val="1000"/>
              </a:spcBef>
            </a:pPr>
            <a:r>
              <a:rPr sz="1400" b="0">
                <a:solidFill>
                  <a:srgbClr val="FFFFFF"/>
                </a:solidFill>
                <a:latin typeface="Calibri"/>
              </a:rPr>
              <a:t>  2.   Write at least three instructions:</a:t>
            </a:r>
          </a:p>
          <a:p>
            <a:pPr algn="l">
              <a:spcBef>
                <a:spcPts val="1000"/>
              </a:spcBef>
            </a:pPr>
            <a:r>
              <a:rPr sz="1400" b="0">
                <a:solidFill>
                  <a:srgbClr val="FFFFFF"/>
                </a:solidFill>
                <a:latin typeface="Calibri"/>
              </a:rPr>
              <a:t>  3.       — One about who you are and what you do</a:t>
            </a:r>
          </a:p>
          <a:p>
            <a:pPr algn="l">
              <a:spcBef>
                <a:spcPts val="1000"/>
              </a:spcBef>
            </a:pPr>
            <a:r>
              <a:rPr sz="1400" b="0">
                <a:solidFill>
                  <a:srgbClr val="FFFFFF"/>
                </a:solidFill>
                <a:latin typeface="Calibri"/>
              </a:rPr>
              <a:t>  4.       — One about how you like responses formatted</a:t>
            </a:r>
          </a:p>
          <a:p>
            <a:pPr algn="l">
              <a:spcBef>
                <a:spcPts val="1000"/>
              </a:spcBef>
            </a:pPr>
            <a:r>
              <a:rPr sz="1400" b="0">
                <a:solidFill>
                  <a:srgbClr val="FFFFFF"/>
                </a:solidFill>
                <a:latin typeface="Calibri"/>
              </a:rPr>
              <a:t>  5.       — One about something to never do</a:t>
            </a:r>
          </a:p>
          <a:p>
            <a:pPr algn="l">
              <a:spcBef>
                <a:spcPts val="1000"/>
              </a:spcBef>
            </a:pPr>
            <a:r>
              <a:rPr sz="1400" b="0">
                <a:solidFill>
                  <a:srgbClr val="FFFFFF"/>
                </a:solidFill>
                <a:latin typeface="Calibri"/>
              </a:rPr>
              <a:t>  6.   Start a new chat. Ask a question you have asked before without custom instructions.</a:t>
            </a:r>
          </a:p>
          <a:p>
            <a:pPr algn="l">
              <a:spcBef>
                <a:spcPts val="1000"/>
              </a:spcBef>
            </a:pPr>
            <a:r>
              <a:rPr sz="1400" b="0">
                <a:solidFill>
                  <a:srgbClr val="FFFFFF"/>
                </a:solidFill>
                <a:latin typeface="Calibri"/>
              </a:rPr>
              <a:t>  7.   Compare the two outputs. Did the model follow your instructions?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52360" y="713232"/>
            <a:ext cx="4325112" cy="5733288"/>
          </a:xfrm>
          <a:prstGeom prst="rect">
            <a:avLst/>
          </a:prstGeom>
          <a:solidFill>
            <a:srgbClr val="0F1423"/>
          </a:solidFill>
          <a:ln w="19050">
            <a:solidFill>
              <a:srgbClr val="00E57A"/>
            </a:solidFill>
          </a:ln>
          <a:effectLst>
            <a:glow rad="38100">
              <a:srgbClr val="00E57A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52360" y="3259836"/>
            <a:ext cx="43251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E57A"/>
                </a:solidFill>
                <a:latin typeface="Calibri"/>
              </a:rPr>
              <a:t>◼  IMAGE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35240" y="3534156"/>
            <a:ext cx="39593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8B4C8"/>
                </a:solidFill>
                <a:latin typeface="Calibri"/>
              </a:rPr>
              <a:t>[IMAGE: Soldier filling out a standard form at a workstation — a reusable configuration]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659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SECTION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868680"/>
            <a:ext cx="113659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B4C8"/>
                </a:solidFill>
                <a:latin typeface="Calibri"/>
              </a:rPr>
              <a:t>Default Settings Are a Starting Point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143000"/>
            <a:ext cx="11365992" cy="2540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50800">
              <a:srgbClr val="00B4FF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88952" cy="1905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4458"/>
                </a:solidFill>
                <a:latin typeface="Calibri"/>
              </a:rPr>
              <a:t>ACC  |  AGENTIC COMMANDERS COURSE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417320"/>
            <a:ext cx="11365992" cy="5029200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417320"/>
            <a:ext cx="50800" cy="502920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581912"/>
            <a:ext cx="11000232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400"/>
              </a:spcBef>
            </a:pPr>
            <a:r>
              <a:rPr sz="1600" b="0">
                <a:solidFill>
                  <a:srgbClr val="FFFFFF"/>
                </a:solidFill>
                <a:latin typeface="Calibri"/>
              </a:rPr>
              <a:t>  ›  Every session starts cold without customization — the model knows nothing about you.</a:t>
            </a:r>
          </a:p>
          <a:p>
            <a:pPr algn="l">
              <a:spcBef>
                <a:spcPts val="1400"/>
              </a:spcBef>
            </a:pPr>
            <a:r>
              <a:rPr sz="1600" b="0">
                <a:solidFill>
                  <a:srgbClr val="FFFFFF"/>
                </a:solidFill>
                <a:latin typeface="Calibri"/>
              </a:rPr>
              <a:t>  ›  Custom instructions load before every conversation. Write them once; pay back on every session.</a:t>
            </a:r>
          </a:p>
          <a:p>
            <a:pPr algn="l">
              <a:spcBef>
                <a:spcPts val="1400"/>
              </a:spcBef>
            </a:pPr>
            <a:r>
              <a:rPr sz="1600" b="0">
                <a:solidFill>
                  <a:srgbClr val="FFFFFF"/>
                </a:solidFill>
                <a:latin typeface="Calibri"/>
              </a:rPr>
              <a:t>  ›  Include role, format preferences, always-do and never-do behaviors.</a:t>
            </a:r>
          </a:p>
          <a:p>
            <a:pPr algn="l">
              <a:spcBef>
                <a:spcPts val="1400"/>
              </a:spcBef>
            </a:pPr>
            <a:r>
              <a:rPr sz="1600" b="0">
                <a:solidFill>
                  <a:srgbClr val="FFFFFF"/>
                </a:solidFill>
                <a:latin typeface="Calibri"/>
              </a:rPr>
              <a:t>  ›  Keep sensitive and controlled material out — the Module 1 bright line still applies.</a:t>
            </a:r>
          </a:p>
          <a:p>
            <a:pPr algn="l">
              <a:spcBef>
                <a:spcPts val="1400"/>
              </a:spcBef>
            </a:pPr>
            <a:r>
              <a:rPr sz="1600" b="0">
                <a:solidFill>
                  <a:srgbClr val="FFFFFF"/>
                </a:solidFill>
                <a:latin typeface="Calibri"/>
              </a:rPr>
              <a:t>  ›  Keep instructions under 500 words to protect your effective context window.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-137160" y="36576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0" b="1" i="0">
                <a:solidFill>
                  <a:srgbClr val="151E35"/>
                </a:solidFill>
                <a:latin typeface="Calibri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86868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AA00"/>
                </a:solidFill>
                <a:latin typeface="Calibri"/>
              </a:rPr>
              <a:t>SECTION  02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261872"/>
            <a:ext cx="5303520" cy="19050"/>
          </a:xfrm>
          <a:prstGeom prst="rect">
            <a:avLst/>
          </a:prstGeom>
          <a:solidFill>
            <a:srgbClr val="FFAA00"/>
          </a:solidFill>
          <a:ln>
            <a:noFill/>
          </a:ln>
          <a:effectLst>
            <a:glow rad="38100">
              <a:srgbClr val="FFAA00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17320"/>
            <a:ext cx="5943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Projects, Memory,
and Personas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4297680"/>
            <a:ext cx="5303520" cy="2540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50800">
              <a:srgbClr val="00B4FF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4434840"/>
            <a:ext cx="5943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B4C8"/>
                </a:solidFill>
                <a:latin typeface="Calibri"/>
              </a:rPr>
              <a:t>Beyond custom instructions: structured persistent context that turns a generic tool into one that already knows your work.</a:t>
            </a:r>
          </a:p>
        </p:txBody>
      </p:sp>
      <p:sp>
        <p:nvSpPr>
          <p:cNvPr id="8" name="Rectangle 7"/>
          <p:cNvSpPr/>
          <p:nvPr/>
        </p:nvSpPr>
        <p:spPr>
          <a:xfrm>
            <a:off x="6675120" y="548640"/>
            <a:ext cx="5212080" cy="5852160"/>
          </a:xfrm>
          <a:prstGeom prst="rect">
            <a:avLst/>
          </a:prstGeom>
          <a:solidFill>
            <a:srgbClr val="0F1423"/>
          </a:solidFill>
          <a:ln w="19050">
            <a:solidFill>
              <a:srgbClr val="00B4FF"/>
            </a:solidFill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315468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B4FF"/>
                </a:solidFill>
                <a:latin typeface="Calibri"/>
              </a:rPr>
              <a:t>◼  IMAGE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342900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8B4C8"/>
                </a:solidFill>
                <a:latin typeface="Calibri"/>
              </a:rPr>
              <a:t>[IMAGE: A dedicated operations cell, pre-configured for one specific mission type]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601968"/>
            <a:ext cx="12188952" cy="1905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4458"/>
                </a:solidFill>
                <a:latin typeface="Calibri"/>
              </a:rPr>
              <a:t>ACC  |  AGENTIC COMMANDERS COURSE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659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Claude Projects: A Dedicated Workspace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68680"/>
            <a:ext cx="11365992" cy="2540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50800">
              <a:srgbClr val="00B4FF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88952" cy="1905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4458"/>
                </a:solidFill>
                <a:latin typeface="Calibri"/>
              </a:rPr>
              <a:t>ACC  |  AGENTIC COMMANDERS COURSE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371600"/>
            <a:ext cx="11365992" cy="4434840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371600"/>
            <a:ext cx="50800" cy="443484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11000232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7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  ›  A Project is a workspace with its own system prompt and document library.</a:t>
            </a:r>
          </a:p>
          <a:p>
            <a:pPr algn="l">
              <a:spcBef>
                <a:spcPts val="7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  ›  Use a Project when: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A8B4C8"/>
                </a:solidFill>
                <a:latin typeface="Calibri"/>
              </a:rPr>
              <a:t>      ◦  You have a recurring task with the same context requirements every time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A8B4C8"/>
                </a:solidFill>
                <a:latin typeface="Calibri"/>
              </a:rPr>
              <a:t>      ◦  You want to upload reference documents the model can consult in every conversation</a:t>
            </a:r>
          </a:p>
          <a:p>
            <a:pPr algn="l">
              <a:spcBef>
                <a:spcPts val="300"/>
              </a:spcBef>
            </a:pPr>
            <a:r>
              <a:rPr sz="1300" b="0">
                <a:solidFill>
                  <a:srgbClr val="A8B4C8"/>
                </a:solidFill>
                <a:latin typeface="Calibri"/>
              </a:rPr>
              <a:t>      ◦  You need different configurations for different types of work</a:t>
            </a:r>
          </a:p>
          <a:p>
            <a:pPr algn="l">
              <a:spcBef>
                <a:spcPts val="7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  ›  Create one project for analysis, one for writing, one for research.</a:t>
            </a:r>
          </a:p>
          <a:p>
            <a:pPr algn="l">
              <a:spcBef>
                <a:spcPts val="7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  ›  Each has its own instructions and document set. Context never bleeds between project types.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659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ChatGPT Memory: Reactive Persistence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68680"/>
            <a:ext cx="11365992" cy="2540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50800">
              <a:srgbClr val="00B4FF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88952" cy="1905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4458"/>
                </a:solidFill>
                <a:latin typeface="Calibri"/>
              </a:rPr>
              <a:t>ACC  |  AGENTIC COMMANDERS COURSE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371600"/>
            <a:ext cx="11365992" cy="3154680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371600"/>
            <a:ext cx="50800" cy="315468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11000232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7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  ›  Memory records facts from your conversations and surfaces them in future sessions.</a:t>
            </a:r>
          </a:p>
          <a:p>
            <a:pPr algn="l">
              <a:spcBef>
                <a:spcPts val="7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  ›  The model notes your name, role, preferences, and past decisions as they come up.</a:t>
            </a:r>
          </a:p>
          <a:p>
            <a:pPr algn="l">
              <a:spcBef>
                <a:spcPts val="7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  ›  View, edit, and delete entries: Settings -&gt; Personalization -&gt; Memory.</a:t>
            </a:r>
          </a:p>
          <a:p>
            <a:pPr algn="l">
              <a:spcBef>
                <a:spcPts val="7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  ›  Memory is reactive — it records what comes up in conversation.</a:t>
            </a:r>
          </a:p>
          <a:p>
            <a:pPr algn="l">
              <a:spcBef>
                <a:spcPts val="7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  ›  Custom instructions are proactive — you set them deliberately.</a:t>
            </a:r>
          </a:p>
          <a:p>
            <a:pPr algn="l">
              <a:spcBef>
                <a:spcPts val="7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  ›  Use both: custom instructions for stable preferences, memory for things that evolve.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4663440"/>
            <a:ext cx="11365992" cy="1600200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4663440"/>
            <a:ext cx="50800" cy="1600200"/>
          </a:xfrm>
          <a:prstGeom prst="rect">
            <a:avLst/>
          </a:prstGeom>
          <a:solidFill>
            <a:srgbClr val="FFAA00"/>
          </a:solidFill>
          <a:ln>
            <a:noFill/>
          </a:ln>
          <a:effectLst>
            <a:glow rad="38100">
              <a:srgbClr val="FFAA00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472744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AA00"/>
                </a:solidFill>
                <a:latin typeface="Calibri"/>
              </a:rPr>
              <a:t>NOTE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974336"/>
            <a:ext cx="11000232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B4C8"/>
                </a:solidFill>
                <a:latin typeface="Calibri"/>
              </a:rPr>
              <a:t>Instructor Note: Memory availability varies by subscription tier and rollout region. Verify current availability before teaching — the concept is stable, feature gating changes.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659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Personas: Named Configurations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68680"/>
            <a:ext cx="11365992" cy="2540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50800">
              <a:srgbClr val="00B4FF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88952" cy="1905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4458"/>
                </a:solidFill>
                <a:latin typeface="Calibri"/>
              </a:rPr>
              <a:t>ACC  |  AGENTIC COMMANDERS COURSE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371600"/>
            <a:ext cx="11365992" cy="4434840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371600"/>
            <a:ext cx="50800" cy="443484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11000232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7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  ›  A persona is a named role, tone, and constraint set you can switch to by name.</a:t>
            </a:r>
          </a:p>
          <a:p>
            <a:pPr algn="l">
              <a:spcBef>
                <a:spcPts val="7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  ›  Supported on some platforms and all agentic harnesses.</a:t>
            </a:r>
          </a:p>
          <a:p>
            <a:pPr algn="l">
              <a:spcBef>
                <a:spcPts val="7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  ›  A well-defined persona means you do not re-explain the agent's role every session.</a:t>
            </a:r>
          </a:p>
          <a:p>
            <a:pPr algn="l">
              <a:spcBef>
                <a:spcPts val="7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  ›  The persona carries the configuration — you start working immediately.</a:t>
            </a:r>
          </a:p>
          <a:p>
            <a:pPr algn="l">
              <a:spcBef>
                <a:spcPts val="7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  ›  Forward pointer: context files become the primary way to brief an agent (field-craft module).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659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A Working Project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868680"/>
            <a:ext cx="113659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B4C8"/>
                </a:solidFill>
                <a:latin typeface="Calibri"/>
              </a:rPr>
              <a:t>Scenario: Analyst who does recurring document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143000"/>
            <a:ext cx="11365992" cy="2540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50800">
              <a:srgbClr val="00B4FF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88952" cy="1905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4458"/>
                </a:solidFill>
                <a:latin typeface="Calibri"/>
              </a:rPr>
              <a:t>ACC  |  AGENTIC COMMANDERS COURSE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417320"/>
            <a:ext cx="6492240" cy="5029200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417320"/>
            <a:ext cx="50800" cy="502920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581912"/>
            <a:ext cx="62179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PROJECT INSTRUCTIONS: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A8B4C8"/>
                </a:solidFill>
                <a:latin typeface="Calibri"/>
              </a:rPr>
              <a:t>  "You are a plain-language editor supporting an analyst.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A8B4C8"/>
                </a:solidFill>
                <a:latin typeface="Calibri"/>
              </a:rPr>
              <a:t>  Lead with the main finding. No jargon.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A8B4C8"/>
                </a:solidFill>
                <a:latin typeface="Calibri"/>
              </a:rPr>
              <a:t>  Flag anything that requires verification before acting on it.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A8B4C8"/>
                </a:solidFill>
                <a:latin typeface="Calibri"/>
              </a:rPr>
              <a:t>  Max 200 words per response unless asked for more."</a:t>
            </a:r>
          </a:p>
          <a:p>
            <a:pPr algn="l">
              <a:spcBef>
                <a:spcPts val="8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PROJECT DOCUMENTS: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A8B4C8"/>
                </a:solidFill>
                <a:latin typeface="Calibri"/>
              </a:rPr>
              <a:t>  — Organization's style guide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A8B4C8"/>
                </a:solidFill>
                <a:latin typeface="Calibri"/>
              </a:rPr>
              <a:t>  — Glossary of domain terms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A8B4C8"/>
                </a:solidFill>
                <a:latin typeface="Calibri"/>
              </a:rPr>
              <a:t>  — One-page brief on the current project</a:t>
            </a:r>
          </a:p>
          <a:p>
            <a:pPr algn="l">
              <a:spcBef>
                <a:spcPts val="8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Every analysis conversation starts with that context already loaded.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FFFFFF"/>
                </a:solidFill>
                <a:latin typeface="Calibri"/>
              </a:rPr>
              <a:t>Open the project. Start working.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6600" y="1417320"/>
            <a:ext cx="4690872" cy="5029200"/>
          </a:xfrm>
          <a:prstGeom prst="rect">
            <a:avLst/>
          </a:prstGeom>
          <a:solidFill>
            <a:srgbClr val="0F1423"/>
          </a:solidFill>
          <a:ln w="19050">
            <a:solidFill>
              <a:srgbClr val="00B4FF"/>
            </a:solidFill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6600" y="3611880"/>
            <a:ext cx="46908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B4FF"/>
                </a:solidFill>
                <a:latin typeface="Calibri"/>
              </a:rPr>
              <a:t>◼  IMAGE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69480" y="3886200"/>
            <a:ext cx="432511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8B4C8"/>
                </a:solidFill>
                <a:latin typeface="Calibri"/>
              </a:rPr>
              <a:t>[IMAGE: A pre-configured workstation — everything staged before the mission begins]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01968"/>
            <a:ext cx="12188952" cy="1905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4458"/>
                </a:solidFill>
                <a:latin typeface="Calibri"/>
              </a:rPr>
              <a:t>ACC  |  AGENTIC COMMANDERS COURSE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50800">
              <a:srgbClr val="00B4FF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0C14"/>
                </a:solidFill>
                <a:latin typeface="Calibri"/>
              </a:rPr>
              <a:t>CHECK ON LEARNING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713232"/>
            <a:ext cx="11365992" cy="5733288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713232"/>
            <a:ext cx="50800" cy="5733288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822960"/>
            <a:ext cx="9144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AA00"/>
                </a:solidFill>
                <a:latin typeface="Calibri"/>
              </a:rPr>
              <a:t>Before You Continue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344168"/>
            <a:ext cx="10972800" cy="1905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508760"/>
            <a:ext cx="11000232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You create a Project for analysis work with detailed instructions.
Three months later, your role changes.
What do you need to update, and where? What happens if you do not update it?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01968"/>
            <a:ext cx="12188952" cy="19050"/>
          </a:xfrm>
          <a:prstGeom prst="rect">
            <a:avLst/>
          </a:prstGeom>
          <a:solidFill>
            <a:srgbClr val="00E57A"/>
          </a:solidFill>
          <a:ln>
            <a:noFill/>
          </a:ln>
          <a:effectLst>
            <a:glow rad="38100">
              <a:srgbClr val="00E57A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4458"/>
                </a:solidFill>
                <a:latin typeface="Calibri"/>
              </a:rPr>
              <a:t>ACC  |  AGENTIC COMMANDERS COURSE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00E57A"/>
          </a:solidFill>
          <a:ln>
            <a:noFill/>
          </a:ln>
          <a:effectLst>
            <a:glow rad="50800">
              <a:srgbClr val="00E57A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0C14"/>
                </a:solidFill>
                <a:latin typeface="Calibri"/>
              </a:rPr>
              <a:t>HANDS-ON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914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A0C14"/>
                </a:solidFill>
                <a:latin typeface="Calibri"/>
              </a:rPr>
              <a:t>Projects, Memory, and Personas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713232"/>
            <a:ext cx="6858000" cy="5733288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713232"/>
            <a:ext cx="50800" cy="5733288"/>
          </a:xfrm>
          <a:prstGeom prst="rect">
            <a:avLst/>
          </a:prstGeom>
          <a:solidFill>
            <a:srgbClr val="00E57A"/>
          </a:solidFill>
          <a:ln>
            <a:noFill/>
          </a:ln>
          <a:effectLst>
            <a:glow rad="38100">
              <a:srgbClr val="00E57A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896112"/>
            <a:ext cx="6583680" cy="534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0"/>
              </a:spcBef>
            </a:pPr>
            <a:r>
              <a:rPr sz="1400" b="0">
                <a:solidFill>
                  <a:srgbClr val="FFFFFF"/>
                </a:solidFill>
                <a:latin typeface="Calibri"/>
              </a:rPr>
              <a:t>  1.   If you use Claude: create a Project for one type of work you do repeatedly.</a:t>
            </a:r>
          </a:p>
          <a:p>
            <a:pPr algn="l">
              <a:spcBef>
                <a:spcPts val="1000"/>
              </a:spcBef>
            </a:pPr>
            <a:r>
              <a:rPr sz="1400" b="0">
                <a:solidFill>
                  <a:srgbClr val="FFFFFF"/>
                </a:solidFill>
                <a:latin typeface="Calibri"/>
              </a:rPr>
              <a:t>  2.       — Add instructions and at least one reference document to the Project.</a:t>
            </a:r>
          </a:p>
          <a:p>
            <a:pPr algn="l">
              <a:spcBef>
                <a:spcPts val="1000"/>
              </a:spcBef>
            </a:pPr>
            <a:r>
              <a:rPr sz="1400" b="0">
                <a:solidFill>
                  <a:srgbClr val="FFFFFF"/>
                </a:solidFill>
                <a:latin typeface="Calibri"/>
              </a:rPr>
              <a:t>  3.   If you use ChatGPT: go to Settings -&gt; Personalization -&gt; Memory.</a:t>
            </a:r>
          </a:p>
          <a:p>
            <a:pPr algn="l">
              <a:spcBef>
                <a:spcPts val="1000"/>
              </a:spcBef>
            </a:pPr>
            <a:r>
              <a:rPr sz="1400" b="0">
                <a:solidFill>
                  <a:srgbClr val="FFFFFF"/>
                </a:solidFill>
                <a:latin typeface="Calibri"/>
              </a:rPr>
              <a:t>  4.       — Delete outdated or wrong entries. Add a manual entry the model should always know.</a:t>
            </a:r>
          </a:p>
          <a:p>
            <a:pPr algn="l">
              <a:spcBef>
                <a:spcPts val="1000"/>
              </a:spcBef>
            </a:pPr>
            <a:r>
              <a:rPr sz="1400" b="0">
                <a:solidFill>
                  <a:srgbClr val="FFFFFF"/>
                </a:solidFill>
                <a:latin typeface="Calibri"/>
              </a:rPr>
              <a:t>  5.   Start a new conversation inside the Project or with memory active.</a:t>
            </a:r>
          </a:p>
          <a:p>
            <a:pPr algn="l">
              <a:spcBef>
                <a:spcPts val="1000"/>
              </a:spcBef>
            </a:pPr>
            <a:r>
              <a:rPr sz="1400" b="0">
                <a:solidFill>
                  <a:srgbClr val="FFFFFF"/>
                </a:solidFill>
                <a:latin typeface="Calibri"/>
              </a:rPr>
              <a:t>  6.   Compare how quickly the model orients to your work versus a cold-start session.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52360" y="713232"/>
            <a:ext cx="4325112" cy="5733288"/>
          </a:xfrm>
          <a:prstGeom prst="rect">
            <a:avLst/>
          </a:prstGeom>
          <a:solidFill>
            <a:srgbClr val="0F1423"/>
          </a:solidFill>
          <a:ln w="19050">
            <a:solidFill>
              <a:srgbClr val="00E57A"/>
            </a:solidFill>
          </a:ln>
          <a:effectLst>
            <a:glow rad="38100">
              <a:srgbClr val="00E57A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52360" y="3259836"/>
            <a:ext cx="43251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E57A"/>
                </a:solidFill>
                <a:latin typeface="Calibri"/>
              </a:rPr>
              <a:t>◼  IMAGE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35240" y="3534156"/>
            <a:ext cx="39593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8B4C8"/>
                </a:solidFill>
                <a:latin typeface="Calibri"/>
              </a:rPr>
              <a:t>[IMAGE: Soldier comparing two briefings — one from scratch, one pre-staged and ready]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659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SECTION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868680"/>
            <a:ext cx="113659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B4C8"/>
                </a:solidFill>
                <a:latin typeface="Calibri"/>
              </a:rPr>
              <a:t>Projects, Memory, and Personas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143000"/>
            <a:ext cx="11365992" cy="2540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50800">
              <a:srgbClr val="00B4FF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88952" cy="1905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4458"/>
                </a:solidFill>
                <a:latin typeface="Calibri"/>
              </a:rPr>
              <a:t>ACC  |  AGENTIC COMMANDERS COURSE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417320"/>
            <a:ext cx="11365992" cy="5029200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417320"/>
            <a:ext cx="50800" cy="502920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581912"/>
            <a:ext cx="11000232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400"/>
              </a:spcBef>
            </a:pPr>
            <a:r>
              <a:rPr sz="1600" b="0">
                <a:solidFill>
                  <a:srgbClr val="FFFFFF"/>
                </a:solidFill>
                <a:latin typeface="Calibri"/>
              </a:rPr>
              <a:t>  ›  Claude Projects: a dedicated workspace with instructions and uploaded documents for recurring work.</a:t>
            </a:r>
          </a:p>
          <a:p>
            <a:pPr algn="l">
              <a:spcBef>
                <a:spcPts val="1400"/>
              </a:spcBef>
            </a:pPr>
            <a:r>
              <a:rPr sz="1600" b="0">
                <a:solidFill>
                  <a:srgbClr val="FFFFFF"/>
                </a:solidFill>
                <a:latin typeface="Calibri"/>
              </a:rPr>
              <a:t>  ›  ChatGPT Memory: reactive — records facts from conversations. Supplements custom instructions, not a replacement.</a:t>
            </a:r>
          </a:p>
          <a:p>
            <a:pPr algn="l">
              <a:spcBef>
                <a:spcPts val="1400"/>
              </a:spcBef>
            </a:pPr>
            <a:r>
              <a:rPr sz="1600" b="0">
                <a:solidFill>
                  <a:srgbClr val="FFFFFF"/>
                </a:solidFill>
                <a:latin typeface="Calibri"/>
              </a:rPr>
              <a:t>  ›  Personas: named configurations that carry role and constraints without re-briefing each session.</a:t>
            </a:r>
          </a:p>
          <a:p>
            <a:pPr algn="l">
              <a:spcBef>
                <a:spcPts val="1400"/>
              </a:spcBef>
            </a:pPr>
            <a:r>
              <a:rPr sz="1600" b="0">
                <a:solidFill>
                  <a:srgbClr val="FFFFFF"/>
                </a:solidFill>
                <a:latin typeface="Calibri"/>
              </a:rPr>
              <a:t>  ›  Use Projects for structured, recurring work. Use memory for evolving preferences.</a:t>
            </a:r>
          </a:p>
          <a:p>
            <a:pPr algn="l">
              <a:spcBef>
                <a:spcPts val="1400"/>
              </a:spcBef>
            </a:pPr>
            <a:r>
              <a:rPr sz="1600" b="0">
                <a:solidFill>
                  <a:srgbClr val="FFFFFF"/>
                </a:solidFill>
                <a:latin typeface="Calibri"/>
              </a:rPr>
              <a:t>  ›  Keep project documents free of sensitive or controlled material — same rule as custom instructions.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659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MODULE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868680"/>
            <a:ext cx="113659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B4C8"/>
                </a:solidFill>
                <a:latin typeface="Calibri"/>
              </a:rPr>
              <a:t>Standing Orders — Persistent Context at a Glance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143000"/>
            <a:ext cx="11365992" cy="2540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50800">
              <a:srgbClr val="00B4FF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88952" cy="1905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4458"/>
                </a:solidFill>
                <a:latin typeface="Calibri"/>
              </a:rPr>
              <a:t>ACC  |  AGENTIC COMMANDERS COURSE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389888"/>
            <a:ext cx="11365992" cy="384048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50800">
              <a:srgbClr val="00B4FF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444752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0C14"/>
                </a:solidFill>
                <a:latin typeface="Calibri"/>
              </a:rPr>
              <a:t>MECHANISM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1444752"/>
            <a:ext cx="3749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0C14"/>
                </a:solidFill>
                <a:latin typeface="Calibri"/>
              </a:rPr>
              <a:t>WHAT IT 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1444752"/>
            <a:ext cx="4480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0C14"/>
                </a:solidFill>
                <a:latin typeface="Calibri"/>
              </a:rPr>
              <a:t>WHEN TO USE 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1773936"/>
            <a:ext cx="11365992" cy="758952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1773936"/>
            <a:ext cx="38100" cy="758952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1208" y="1847088"/>
            <a:ext cx="2423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FF"/>
                </a:solidFill>
                <a:latin typeface="Calibri"/>
              </a:rPr>
              <a:t>Custom instructions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27248" y="1847088"/>
            <a:ext cx="361187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Standing orders read before every chat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76288" y="1847088"/>
            <a:ext cx="4343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B4C8"/>
                </a:solidFill>
                <a:latin typeface="Calibri"/>
              </a:rPr>
              <a:t>Stable role, format, never-do rules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2532888"/>
            <a:ext cx="11365992" cy="758952"/>
          </a:xfrm>
          <a:prstGeom prst="rect">
            <a:avLst/>
          </a:prstGeom>
          <a:solidFill>
            <a:srgbClr val="15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1480" y="2532888"/>
            <a:ext cx="38100" cy="758952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8" y="2606040"/>
            <a:ext cx="2423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FF"/>
                </a:solidFill>
                <a:latin typeface="Calibri"/>
              </a:rPr>
              <a:t>Projects (Claude)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27248" y="2606040"/>
            <a:ext cx="361187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Workspace with its own instructions + docs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76288" y="2606040"/>
            <a:ext cx="4343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B4C8"/>
                </a:solidFill>
                <a:latin typeface="Calibri"/>
              </a:rPr>
              <a:t>Recurring work, same context each time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3291840"/>
            <a:ext cx="11365992" cy="758952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1480" y="3291840"/>
            <a:ext cx="38100" cy="758952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1208" y="3364992"/>
            <a:ext cx="2423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FF"/>
                </a:solidFill>
                <a:latin typeface="Calibri"/>
              </a:rPr>
              <a:t>Memory (ChatGPT)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27248" y="3364992"/>
            <a:ext cx="361187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Reactive record of surfaced facts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76288" y="3364992"/>
            <a:ext cx="4343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B4C8"/>
                </a:solidFill>
                <a:latin typeface="Calibri"/>
              </a:rPr>
              <a:t>Things that evolve over time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" y="4050792"/>
            <a:ext cx="11365992" cy="758952"/>
          </a:xfrm>
          <a:prstGeom prst="rect">
            <a:avLst/>
          </a:prstGeom>
          <a:solidFill>
            <a:srgbClr val="15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11480" y="4050792"/>
            <a:ext cx="38100" cy="758952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21208" y="4123944"/>
            <a:ext cx="2423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FF"/>
                </a:solidFill>
                <a:latin typeface="Calibri"/>
              </a:rPr>
              <a:t>Personas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27248" y="4123944"/>
            <a:ext cx="361187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Named role / tone / constraint set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76288" y="4123944"/>
            <a:ext cx="4343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B4C8"/>
                </a:solidFill>
                <a:latin typeface="Calibri"/>
              </a:rPr>
              <a:t>Agentic work without re-briefing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1480" y="4809744"/>
            <a:ext cx="11365992" cy="758952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11480" y="4809744"/>
            <a:ext cx="38100" cy="758952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1208" y="4882896"/>
            <a:ext cx="2423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FF"/>
                </a:solidFill>
                <a:latin typeface="Calibri"/>
              </a:rPr>
              <a:t>Data-handling line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127248" y="4882896"/>
            <a:ext cx="361187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The Module 1 bright line, applied here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76288" y="4882896"/>
            <a:ext cx="4343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B4C8"/>
                </a:solidFill>
                <a:latin typeface="Calibri"/>
              </a:rPr>
              <a:t>Always — instructions reach the servers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659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READINESS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868680"/>
            <a:ext cx="113659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B4C8"/>
                </a:solidFill>
                <a:latin typeface="Calibri"/>
              </a:rPr>
              <a:t>Confirm before moving 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143000"/>
            <a:ext cx="11365992" cy="25400"/>
          </a:xfrm>
          <a:prstGeom prst="rect">
            <a:avLst/>
          </a:prstGeom>
          <a:solidFill>
            <a:srgbClr val="FFAA00"/>
          </a:solidFill>
          <a:ln>
            <a:noFill/>
          </a:ln>
          <a:effectLst>
            <a:glow rad="50800">
              <a:srgbClr val="FFAA00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88952" cy="19050"/>
          </a:xfrm>
          <a:prstGeom prst="rect">
            <a:avLst/>
          </a:prstGeom>
          <a:solidFill>
            <a:srgbClr val="FFAA00"/>
          </a:solidFill>
          <a:ln>
            <a:noFill/>
          </a:ln>
          <a:effectLst>
            <a:glow rad="38100">
              <a:srgbClr val="FFAA00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4458"/>
                </a:solidFill>
                <a:latin typeface="Calibri"/>
              </a:rPr>
              <a:t>ACC  |  AGENTIC COMMANDERS COURSE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417320"/>
            <a:ext cx="11365992" cy="5029200"/>
          </a:xfrm>
          <a:prstGeom prst="rect">
            <a:avLst/>
          </a:prstGeom>
          <a:solidFill>
            <a:srgbClr val="0F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417320"/>
            <a:ext cx="50800" cy="5029200"/>
          </a:xfrm>
          <a:prstGeom prst="rect">
            <a:avLst/>
          </a:prstGeom>
          <a:solidFill>
            <a:srgbClr val="FFAA00"/>
          </a:solidFill>
          <a:ln>
            <a:noFill/>
          </a:ln>
          <a:effectLst>
            <a:glow rad="38100">
              <a:srgbClr val="FFAA00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581912"/>
            <a:ext cx="11000232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</a:pPr>
            <a:r>
              <a:rPr sz="1300" b="0">
                <a:solidFill>
                  <a:srgbClr val="A8B4C8"/>
                </a:solidFill>
                <a:latin typeface="Calibri"/>
              </a:rPr>
              <a:t>  ☐   I have found the custom instruction or project settings in my AI tool</a:t>
            </a:r>
          </a:p>
          <a:p>
            <a:pPr algn="l">
              <a:spcBef>
                <a:spcPts val="800"/>
              </a:spcBef>
            </a:pPr>
            <a:r>
              <a:rPr sz="1300" b="0">
                <a:solidFill>
                  <a:srgbClr val="A8B4C8"/>
                </a:solidFill>
                <a:latin typeface="Calibri"/>
              </a:rPr>
              <a:t>  ☐   I have written at least three instructions: who I am, how I want responses, what to never do</a:t>
            </a:r>
          </a:p>
          <a:p>
            <a:pPr algn="l">
              <a:spcBef>
                <a:spcPts val="800"/>
              </a:spcBef>
            </a:pPr>
            <a:r>
              <a:rPr sz="1300" b="0">
                <a:solidFill>
                  <a:srgbClr val="A8B4C8"/>
                </a:solidFill>
                <a:latin typeface="Calibri"/>
              </a:rPr>
              <a:t>  ☐   I ran a before/after comparison and noticed a measurable difference in output</a:t>
            </a:r>
          </a:p>
          <a:p>
            <a:pPr algn="l">
              <a:spcBef>
                <a:spcPts val="800"/>
              </a:spcBef>
            </a:pPr>
            <a:r>
              <a:rPr sz="1300" b="0">
                <a:solidFill>
                  <a:srgbClr val="A8B4C8"/>
                </a:solidFill>
                <a:latin typeface="Calibri"/>
              </a:rPr>
              <a:t>  ☐   I did not include any sensitive or controlled information — the Module 1 line still holds</a:t>
            </a:r>
          </a:p>
          <a:p>
            <a:pPr algn="l">
              <a:spcBef>
                <a:spcPts val="800"/>
              </a:spcBef>
            </a:pPr>
            <a:r>
              <a:rPr sz="1300" b="0">
                <a:solidFill>
                  <a:srgbClr val="A8B4C8"/>
                </a:solidFill>
                <a:latin typeface="Calibri"/>
              </a:rPr>
              <a:t>  ☐   I understand why custom instructions count against the context window and how to manage that</a:t>
            </a:r>
          </a:p>
          <a:p>
            <a:pPr algn="l">
              <a:spcBef>
                <a:spcPts val="800"/>
              </a:spcBef>
            </a:pPr>
            <a:r>
              <a:rPr sz="1300" b="0">
                <a:solidFill>
                  <a:srgbClr val="A8B4C8"/>
                </a:solidFill>
                <a:latin typeface="Calibri"/>
              </a:rPr>
              <a:t>  ☐   I know the difference between custom instructions (proactive) and memory (reactive)</a:t>
            </a:r>
          </a:p>
          <a:p>
            <a:pPr algn="l">
              <a:spcBef>
                <a:spcPts val="800"/>
              </a:spcBef>
            </a:pPr>
            <a:r>
              <a:rPr sz="1300" b="0">
                <a:solidFill>
                  <a:srgbClr val="A8B4C8"/>
                </a:solidFill>
                <a:latin typeface="Calibri"/>
              </a:rPr>
              <a:t>  ☐   I have set up or can describe how to set up a Project or named configuration for recurring work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01968"/>
            <a:ext cx="12188952" cy="1905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38100">
              <a:srgbClr val="00B4FF">
                <a:alpha val="2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6751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4458"/>
                </a:solidFill>
                <a:latin typeface="Calibri"/>
              </a:rPr>
              <a:t>ACC  |  AGENTIC COMMANDERS COURSE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B4FF"/>
          </a:solidFill>
          <a:ln>
            <a:noFill/>
          </a:ln>
          <a:effectLst>
            <a:glow rad="63500">
              <a:srgbClr val="00B4FF">
                <a:alpha val="2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548640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FF"/>
                </a:solidFill>
                <a:latin typeface="Calibri"/>
              </a:rPr>
              <a:t>END OF MODULE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00584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Standing Orders:
Making the AI
Know You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2971800"/>
            <a:ext cx="5486400" cy="25400"/>
          </a:xfrm>
          <a:prstGeom prst="rect">
            <a:avLst/>
          </a:prstGeom>
          <a:solidFill>
            <a:srgbClr val="FFAA00"/>
          </a:solidFill>
          <a:ln>
            <a:noFill/>
          </a:ln>
          <a:effectLst>
            <a:glow rad="38100">
              <a:srgbClr val="FFAA00">
                <a:alpha val="22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31546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AA00"/>
                </a:solidFill>
                <a:latin typeface="Calibri"/>
              </a:rPr>
              <a:t>NEXT STEPS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3566160"/>
            <a:ext cx="6858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0"/>
              </a:spcBef>
            </a:pPr>
            <a:r>
              <a:rPr sz="1400" b="0">
                <a:solidFill>
                  <a:srgbClr val="A8B4C8"/>
                </a:solidFill>
                <a:latin typeface="Calibri"/>
              </a:rPr>
              <a:t>  1.   Revisit your custom instructions after your first 10 sessions — trim what is not working.</a:t>
            </a:r>
          </a:p>
          <a:p>
            <a:pPr algn="l">
              <a:spcBef>
                <a:spcPts val="1000"/>
              </a:spcBef>
            </a:pPr>
            <a:r>
              <a:rPr sz="1400" b="0">
                <a:solidFill>
                  <a:srgbClr val="A8B4C8"/>
                </a:solidFill>
                <a:latin typeface="Calibri"/>
              </a:rPr>
              <a:t>  2.   Create at least one Project or named configuration for your most common AI use case.</a:t>
            </a:r>
          </a:p>
          <a:p>
            <a:pPr algn="l">
              <a:spcBef>
                <a:spcPts val="1000"/>
              </a:spcBef>
            </a:pPr>
            <a:r>
              <a:rPr sz="1400" b="0">
                <a:solidFill>
                  <a:srgbClr val="A8B4C8"/>
                </a:solidFill>
                <a:latin typeface="Calibri"/>
              </a:rPr>
              <a:t>  3.   Apply the same security discipline here as everywhere: no sensitive data in persistent instructions.</a:t>
            </a:r>
          </a:p>
          <a:p>
            <a:pPr algn="l">
              <a:spcBef>
                <a:spcPts val="1000"/>
              </a:spcBef>
            </a:pPr>
            <a:r>
              <a:rPr sz="1400" b="0">
                <a:solidFill>
                  <a:srgbClr val="A8B4C8"/>
                </a:solidFill>
                <a:latin typeface="Calibri"/>
              </a:rPr>
              <a:t>  4.   Next module: leave the chat window and learn the terrain — the filesystem and the terminal.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