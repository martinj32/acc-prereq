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5486400" cy="320040"/>
          </a:xfrm>
          <a:prstGeom prst="rect">
            <a:avLst/>
          </a:prstGeom>
          <a:noFill/>
        </p:spPr>
        <p:txBody>
          <a:bodyPr wrap="square">
            <a:spAutoFit/>
          </a:bodyPr>
          <a:lstStyle/>
          <a:p>
            <a:pPr algn="l"/>
            <a:r>
              <a:rPr sz="1000" b="1" i="0">
                <a:solidFill>
                  <a:srgbClr val="00B4FF"/>
                </a:solidFill>
                <a:latin typeface="Calibri"/>
              </a:rPr>
              <a:t>AGENTIC COMMANDERS COURSE</a:t>
            </a:r>
          </a:p>
        </p:txBody>
      </p:sp>
      <p:sp>
        <p:nvSpPr>
          <p:cNvPr id="4" name="TextBox 3"/>
          <p:cNvSpPr txBox="1"/>
          <p:nvPr/>
        </p:nvSpPr>
        <p:spPr>
          <a:xfrm>
            <a:off x="274320" y="914400"/>
            <a:ext cx="5943600" cy="2560320"/>
          </a:xfrm>
          <a:prstGeom prst="rect">
            <a:avLst/>
          </a:prstGeom>
          <a:noFill/>
        </p:spPr>
        <p:txBody>
          <a:bodyPr wrap="square">
            <a:spAutoFit/>
          </a:bodyPr>
          <a:lstStyle/>
          <a:p>
            <a:pPr algn="l"/>
            <a:r>
              <a:rPr sz="4000" b="1" i="0">
                <a:solidFill>
                  <a:srgbClr val="FFFFFF"/>
                </a:solidFill>
                <a:latin typeface="Calibri"/>
              </a:rPr>
              <a:t>Mental Models for
AI-Assisted Operations</a:t>
            </a:r>
          </a:p>
        </p:txBody>
      </p:sp>
      <p:sp>
        <p:nvSpPr>
          <p:cNvPr id="5" name="Rectangle 4"/>
          <p:cNvSpPr/>
          <p:nvPr/>
        </p:nvSpPr>
        <p:spPr>
          <a:xfrm>
            <a:off x="274320" y="3657600"/>
            <a:ext cx="530352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794760"/>
            <a:ext cx="5486400" cy="457200"/>
          </a:xfrm>
          <a:prstGeom prst="rect">
            <a:avLst/>
          </a:prstGeom>
          <a:noFill/>
        </p:spPr>
        <p:txBody>
          <a:bodyPr wrap="square">
            <a:spAutoFit/>
          </a:bodyPr>
          <a:lstStyle/>
          <a:p>
            <a:pPr algn="l"/>
            <a:r>
              <a:rPr sz="1300" b="0" i="0">
                <a:solidFill>
                  <a:srgbClr val="A8B4C8"/>
                </a:solidFill>
                <a:latin typeface="Calibri"/>
              </a:rPr>
              <a:t>PREREQUISITE MODULE  |  35 MINUTES</a:t>
            </a:r>
          </a:p>
        </p:txBody>
      </p:sp>
      <p:sp>
        <p:nvSpPr>
          <p:cNvPr id="7" name="Rectangle 6"/>
          <p:cNvSpPr/>
          <p:nvPr/>
        </p:nvSpPr>
        <p:spPr>
          <a:xfrm>
            <a:off x="6492240" y="320040"/>
            <a:ext cx="5394960" cy="60807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040380"/>
            <a:ext cx="5394960" cy="274320"/>
          </a:xfrm>
          <a:prstGeom prst="rect">
            <a:avLst/>
          </a:prstGeom>
          <a:noFill/>
        </p:spPr>
        <p:txBody>
          <a:bodyPr wrap="square">
            <a:spAutoFit/>
          </a:bodyPr>
          <a:lstStyle/>
          <a:p>
            <a:pPr algn="ctr"/>
            <a:r>
              <a:rPr sz="900" b="1" i="0">
                <a:solidFill>
                  <a:srgbClr val="00B4FF"/>
                </a:solidFill>
                <a:latin typeface="Calibri"/>
              </a:rPr>
              <a:t>◼  IMAGE</a:t>
            </a:r>
          </a:p>
        </p:txBody>
      </p:sp>
      <p:sp>
        <p:nvSpPr>
          <p:cNvPr id="9" name="TextBox 8"/>
          <p:cNvSpPr txBox="1"/>
          <p:nvPr/>
        </p:nvSpPr>
        <p:spPr>
          <a:xfrm>
            <a:off x="6675120" y="3314700"/>
            <a:ext cx="5029200" cy="914400"/>
          </a:xfrm>
          <a:prstGeom prst="rect">
            <a:avLst/>
          </a:prstGeom>
          <a:noFill/>
        </p:spPr>
        <p:txBody>
          <a:bodyPr wrap="square">
            <a:spAutoFit/>
          </a:bodyPr>
          <a:lstStyle/>
          <a:p>
            <a:pPr algn="ctr"/>
            <a:r>
              <a:rPr sz="900" b="0" i="0">
                <a:solidFill>
                  <a:srgbClr val="A8B4C8"/>
                </a:solidFill>
                <a:latin typeface="Calibri"/>
              </a:rPr>
              <a:t>[IMAGE: Soldier reviewing data at a forward command post terminal]</a:t>
            </a:r>
          </a:p>
        </p:txBody>
      </p:sp>
      <p:sp>
        <p:nvSpPr>
          <p:cNvPr id="10" name="Rectangle 9"/>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OVERVIEW</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Situation Brief</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25880"/>
            <a:ext cx="11365992" cy="96012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25880"/>
            <a:ext cx="50800" cy="96012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914400" cy="256032"/>
          </a:xfrm>
          <a:prstGeom prst="rect">
            <a:avLst/>
          </a:prstGeom>
          <a:noFill/>
        </p:spPr>
        <p:txBody>
          <a:bodyPr wrap="square">
            <a:spAutoFit/>
          </a:bodyPr>
          <a:lstStyle/>
          <a:p>
            <a:pPr algn="l"/>
            <a:r>
              <a:rPr sz="900" b="1" i="0">
                <a:solidFill>
                  <a:srgbClr val="FFAA00"/>
                </a:solidFill>
                <a:latin typeface="Calibri"/>
              </a:rPr>
              <a:t>BLUF</a:t>
            </a:r>
          </a:p>
        </p:txBody>
      </p:sp>
      <p:sp>
        <p:nvSpPr>
          <p:cNvPr id="10" name="TextBox 9"/>
          <p:cNvSpPr txBox="1"/>
          <p:nvPr/>
        </p:nvSpPr>
        <p:spPr>
          <a:xfrm>
            <a:off x="594360" y="1618488"/>
            <a:ext cx="11000232" cy="594360"/>
          </a:xfrm>
          <a:prstGeom prst="rect">
            <a:avLst/>
          </a:prstGeom>
          <a:noFill/>
        </p:spPr>
        <p:txBody>
          <a:bodyPr wrap="square">
            <a:spAutoFit/>
          </a:bodyPr>
          <a:lstStyle/>
          <a:p>
            <a:pPr algn="l"/>
            <a:r>
              <a:rPr sz="1400" b="0" i="0">
                <a:solidFill>
                  <a:srgbClr val="FFFFFF"/>
                </a:solidFill>
                <a:latin typeface="Calibri"/>
              </a:rPr>
              <a:t>Six mental models separate operators who use AI effectively from those who waste tokens, break things, and overpay.</a:t>
            </a:r>
          </a:p>
        </p:txBody>
      </p:sp>
      <p:sp>
        <p:nvSpPr>
          <p:cNvPr id="11" name="TextBox 10"/>
          <p:cNvSpPr txBox="1"/>
          <p:nvPr/>
        </p:nvSpPr>
        <p:spPr>
          <a:xfrm>
            <a:off x="411480" y="2377440"/>
            <a:ext cx="4572000" cy="320040"/>
          </a:xfrm>
          <a:prstGeom prst="rect">
            <a:avLst/>
          </a:prstGeom>
          <a:noFill/>
        </p:spPr>
        <p:txBody>
          <a:bodyPr wrap="square">
            <a:spAutoFit/>
          </a:bodyPr>
          <a:lstStyle/>
          <a:p>
            <a:pPr algn="l"/>
            <a:r>
              <a:rPr sz="1200" b="1" i="0">
                <a:solidFill>
                  <a:srgbClr val="FFAA00"/>
                </a:solidFill>
                <a:latin typeface="Calibri"/>
              </a:rPr>
              <a:t>⏱  35 minutes (self-contained)</a:t>
            </a:r>
          </a:p>
        </p:txBody>
      </p:sp>
      <p:sp>
        <p:nvSpPr>
          <p:cNvPr id="12" name="Rectangle 11"/>
          <p:cNvSpPr/>
          <p:nvPr/>
        </p:nvSpPr>
        <p:spPr>
          <a:xfrm>
            <a:off x="411480" y="2788920"/>
            <a:ext cx="11365992" cy="36118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88920"/>
            <a:ext cx="50800" cy="36118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5486400" cy="256032"/>
          </a:xfrm>
          <a:prstGeom prst="rect">
            <a:avLst/>
          </a:prstGeom>
          <a:noFill/>
        </p:spPr>
        <p:txBody>
          <a:bodyPr wrap="square">
            <a:spAutoFit/>
          </a:bodyPr>
          <a:lstStyle/>
          <a:p>
            <a:pPr algn="l"/>
            <a:r>
              <a:rPr sz="900" b="1" i="0">
                <a:solidFill>
                  <a:srgbClr val="00B4FF"/>
                </a:solidFill>
                <a:latin typeface="Calibri"/>
              </a:rPr>
              <a:t>LEARNING OBJECTIVES</a:t>
            </a:r>
          </a:p>
        </p:txBody>
      </p:sp>
      <p:sp>
        <p:nvSpPr>
          <p:cNvPr id="15" name="TextBox 14"/>
          <p:cNvSpPr txBox="1"/>
          <p:nvPr/>
        </p:nvSpPr>
        <p:spPr>
          <a:xfrm>
            <a:off x="594360" y="3154680"/>
            <a:ext cx="11000232" cy="3108960"/>
          </a:xfrm>
          <a:prstGeom prst="rect">
            <a:avLst/>
          </a:prstGeom>
          <a:noFill/>
        </p:spPr>
        <p:txBody>
          <a:bodyPr wrap="square">
            <a:spAutoFit/>
          </a:bodyPr>
          <a:lstStyle/>
          <a:p>
            <a:pPr algn="l">
              <a:spcBef>
                <a:spcPts val="400"/>
              </a:spcBef>
            </a:pPr>
            <a:r>
              <a:rPr sz="1300" b="0">
                <a:solidFill>
                  <a:srgbClr val="A8B4C8"/>
                </a:solidFill>
                <a:latin typeface="Calibri"/>
              </a:rPr>
              <a:t>  ›  Understand the 'harness': an LLM becomes agentic when paired with tools</a:t>
            </a:r>
          </a:p>
          <a:p>
            <a:pPr algn="l">
              <a:spcBef>
                <a:spcPts val="400"/>
              </a:spcBef>
            </a:pPr>
            <a:r>
              <a:rPr sz="1300" b="0">
                <a:solidFill>
                  <a:srgbClr val="A8B4C8"/>
                </a:solidFill>
                <a:latin typeface="Calibri"/>
              </a:rPr>
              <a:t>  ›  Grasp why context windows matter and when they become a constraint</a:t>
            </a:r>
          </a:p>
          <a:p>
            <a:pPr algn="l">
              <a:spcBef>
                <a:spcPts val="400"/>
              </a:spcBef>
            </a:pPr>
            <a:r>
              <a:rPr sz="1300" b="0">
                <a:solidFill>
                  <a:srgbClr val="A8B4C8"/>
                </a:solidFill>
                <a:latin typeface="Calibri"/>
              </a:rPr>
              <a:t>  ›  Treat tokens as a resource with real cost</a:t>
            </a:r>
          </a:p>
          <a:p>
            <a:pPr algn="l">
              <a:spcBef>
                <a:spcPts val="400"/>
              </a:spcBef>
            </a:pPr>
            <a:r>
              <a:rPr sz="1300" b="0">
                <a:solidFill>
                  <a:srgbClr val="A8B4C8"/>
                </a:solidFill>
                <a:latin typeface="Calibri"/>
              </a:rPr>
              <a:t>  ›  Understand what tool calls are and why they enable verification</a:t>
            </a:r>
          </a:p>
          <a:p>
            <a:pPr algn="l">
              <a:spcBef>
                <a:spcPts val="400"/>
              </a:spcBef>
            </a:pPr>
            <a:r>
              <a:rPr sz="1300" b="0">
                <a:solidFill>
                  <a:srgbClr val="A8B4C8"/>
                </a:solidFill>
                <a:latin typeface="Calibri"/>
              </a:rPr>
              <a:t>  ›  Adopt active supervision as your default posture</a:t>
            </a:r>
          </a:p>
          <a:p>
            <a:pPr algn="l">
              <a:spcBef>
                <a:spcPts val="400"/>
              </a:spcBef>
            </a:pPr>
            <a:r>
              <a:rPr sz="1300" b="0">
                <a:solidFill>
                  <a:srgbClr val="A8B4C8"/>
                </a:solidFill>
                <a:latin typeface="Calibri"/>
              </a:rPr>
              <a:t>  ›  Build cost-consciousness as a core habit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01</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01</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The Harness
Mental Model</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LLM + Tools = Agency. Without tools, Claude is a chatbot. With tools, Claude is a collaborator.</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with radio harness — the gear that connects and enables action]</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Is the Harness?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An LLM by itself is text-in, text-out. It cannot act on the world.</a:t>
            </a:r>
          </a:p>
          <a:p>
            <a:pPr algn="l">
              <a:spcBef>
                <a:spcPts val="700"/>
              </a:spcBef>
            </a:pPr>
            <a:r>
              <a:rPr sz="1500" b="0">
                <a:solidFill>
                  <a:srgbClr val="FFFFFF"/>
                </a:solidFill>
                <a:latin typeface="Calibri"/>
              </a:rPr>
              <a:t>  ›  The harness is the tool layer that makes an LLM into an agent:</a:t>
            </a:r>
          </a:p>
          <a:p>
            <a:pPr algn="l">
              <a:spcBef>
                <a:spcPts val="300"/>
              </a:spcBef>
            </a:pPr>
            <a:r>
              <a:rPr sz="1300" b="0">
                <a:solidFill>
                  <a:srgbClr val="A8B4C8"/>
                </a:solidFill>
                <a:latin typeface="Calibri"/>
              </a:rPr>
              <a:t>      ◦  Eyes — tools to read files, check systems, fetch URLs</a:t>
            </a:r>
          </a:p>
          <a:p>
            <a:pPr algn="l">
              <a:spcBef>
                <a:spcPts val="300"/>
              </a:spcBef>
            </a:pPr>
            <a:r>
              <a:rPr sz="1300" b="0">
                <a:solidFill>
                  <a:srgbClr val="A8B4C8"/>
                </a:solidFill>
                <a:latin typeface="Calibri"/>
              </a:rPr>
              <a:t>      ◦  Hands — tools to write files, edit code, create directories</a:t>
            </a:r>
          </a:p>
          <a:p>
            <a:pPr algn="l">
              <a:spcBef>
                <a:spcPts val="300"/>
              </a:spcBef>
            </a:pPr>
            <a:r>
              <a:rPr sz="1300" b="0">
                <a:solidFill>
                  <a:srgbClr val="A8B4C8"/>
                </a:solidFill>
                <a:latin typeface="Calibri"/>
              </a:rPr>
              <a:t>      ◦  Body — tools to run commands, call APIs, deploy outputs</a:t>
            </a:r>
          </a:p>
          <a:p>
            <a:pPr algn="l">
              <a:spcBef>
                <a:spcPts val="700"/>
              </a:spcBef>
            </a:pPr>
            <a:r>
              <a:rPr sz="1500" b="0">
                <a:solidFill>
                  <a:srgbClr val="FFFFFF"/>
                </a:solidFill>
                <a:latin typeface="Calibri"/>
              </a:rPr>
              <a:t>  ›  The engine cannot act without a harness. The harness needs an operator.</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Working vocabulary: Engine = the LLM (reasons, generates). Harness = tool layer (gives the engine reach). Operator = you (directs the mission, owns the result).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Engine-Harness-Operator Stack</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Engine — the LLM. Reasoning brain. Generates, plans, decides.</a:t>
            </a:r>
          </a:p>
          <a:p>
            <a:pPr algn="l">
              <a:spcBef>
                <a:spcPts val="700"/>
              </a:spcBef>
            </a:pPr>
            <a:r>
              <a:rPr sz="1500" b="0">
                <a:solidFill>
                  <a:srgbClr val="FFFFFF"/>
                </a:solidFill>
                <a:latin typeface="Calibri"/>
              </a:rPr>
              <a:t>  ›  Harness — the tool layer. Gives the engine access to files, commands, and external systems.</a:t>
            </a:r>
          </a:p>
          <a:p>
            <a:pPr algn="l">
              <a:spcBef>
                <a:spcPts val="700"/>
              </a:spcBef>
            </a:pPr>
            <a:r>
              <a:rPr sz="1500" b="0">
                <a:solidFill>
                  <a:srgbClr val="FFFFFF"/>
                </a:solidFill>
                <a:latin typeface="Calibri"/>
              </a:rPr>
              <a:t>  ›  Operator — you. Directs the mission, approves consequential actions, carries accountability.</a:t>
            </a:r>
          </a:p>
          <a:p>
            <a:pPr algn="l">
              <a:spcBef>
                <a:spcPts val="700"/>
              </a:spcBef>
            </a:pPr>
            <a:r>
              <a:rPr sz="1500" b="0">
                <a:solidFill>
                  <a:srgbClr val="FFFFFF"/>
                </a:solidFill>
                <a:latin typeface="Calibri"/>
              </a:rPr>
              <a:t>  ›  Formula: LLM (knowledge + reasoning) + Tools (sensors + actuators) = Agency</a:t>
            </a:r>
          </a:p>
          <a:p>
            <a:pPr algn="l">
              <a:spcBef>
                <a:spcPts val="700"/>
              </a:spcBef>
            </a:pPr>
            <a:r>
              <a:rPr sz="1500" b="0">
                <a:solidFill>
                  <a:srgbClr val="FFFFFF"/>
                </a:solidFill>
                <a:latin typeface="Calibri"/>
              </a:rPr>
              <a:t>  ›  Without tools: Claude writes code but cannot run it or read your file system.</a:t>
            </a:r>
          </a:p>
          <a:p>
            <a:pPr algn="l">
              <a:spcBef>
                <a:spcPts val="700"/>
              </a:spcBef>
            </a:pPr>
            <a:r>
              <a:rPr sz="1500" b="0">
                <a:solidFill>
                  <a:srgbClr val="FFFFFF"/>
                </a:solidFill>
                <a:latin typeface="Calibri"/>
              </a:rPr>
              <a:t>  ›  With tools: Claude reads, modifies, tests, commits, and iterates on your actual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Your Job in the Harness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When you invoke Claude with tools enabled, you are building a feedback loop.</a:t>
            </a:r>
          </a:p>
          <a:p>
            <a:pPr algn="l">
              <a:spcBef>
                <a:spcPts val="700"/>
              </a:spcBef>
            </a:pPr>
            <a:r>
              <a:rPr sz="1500" b="0">
                <a:solidFill>
                  <a:srgbClr val="FFFFFF"/>
                </a:solidFill>
                <a:latin typeface="Calibri"/>
              </a:rPr>
              <a:t>  ›  Claude sees the world via tools, takes action, observes the result, and adjusts.</a:t>
            </a:r>
          </a:p>
          <a:p>
            <a:pPr algn="l">
              <a:spcBef>
                <a:spcPts val="700"/>
              </a:spcBef>
            </a:pPr>
            <a:r>
              <a:rPr sz="1500" b="0">
                <a:solidFill>
                  <a:srgbClr val="FFFFFF"/>
                </a:solidFill>
                <a:latin typeface="Calibri"/>
              </a:rPr>
              <a:t>  ›  Your four responsibilities as operator:</a:t>
            </a:r>
          </a:p>
          <a:p>
            <a:pPr algn="l">
              <a:spcBef>
                <a:spcPts val="300"/>
              </a:spcBef>
            </a:pPr>
            <a:r>
              <a:rPr sz="1300" b="0">
                <a:solidFill>
                  <a:srgbClr val="A8B4C8"/>
                </a:solidFill>
                <a:latin typeface="Calibri"/>
              </a:rPr>
              <a:t>      ◦  Set up the right tools and permissions</a:t>
            </a:r>
          </a:p>
          <a:p>
            <a:pPr algn="l">
              <a:spcBef>
                <a:spcPts val="300"/>
              </a:spcBef>
            </a:pPr>
            <a:r>
              <a:rPr sz="1300" b="0">
                <a:solidFill>
                  <a:srgbClr val="A8B4C8"/>
                </a:solidFill>
                <a:latin typeface="Calibri"/>
              </a:rPr>
              <a:t>      ◦  Give clear instructions — vague orders get vague results</a:t>
            </a:r>
          </a:p>
          <a:p>
            <a:pPr algn="l">
              <a:spcBef>
                <a:spcPts val="300"/>
              </a:spcBef>
            </a:pPr>
            <a:r>
              <a:rPr sz="1300" b="0">
                <a:solidFill>
                  <a:srgbClr val="A8B4C8"/>
                </a:solidFill>
                <a:latin typeface="Calibri"/>
              </a:rPr>
              <a:t>      ◦  Supervise the feedback loop</a:t>
            </a:r>
          </a:p>
          <a:p>
            <a:pPr algn="l">
              <a:spcBef>
                <a:spcPts val="300"/>
              </a:spcBef>
            </a:pPr>
            <a:r>
              <a:rPr sz="1300" b="0">
                <a:solidFill>
                  <a:srgbClr val="A8B4C8"/>
                </a:solidFill>
                <a:latin typeface="Calibri"/>
              </a:rPr>
              <a:t>      ◦  Interrupt and correct when it goes wrong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Warning: Your job is not to give the LLM a task and walk away. You are not a spectator. You are the operator — you own the output.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give Claude a mission: search 200 field reports for grid 38SMB4521 and return every matching excerpt.
Without a harness, Claude cannot read the files. It can only generate plausible-sounding excerpts from memory — and you have no way to know which it did.
With a harness, Claude calls tools against the actual files and returns real, traceable results.
What does that difference mean for how you verify the output?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The Harness Mental Model</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your AI chatbot. Ask it: 'Rename the folder project to project-v1.' Read the response.</a:t>
            </a:r>
          </a:p>
          <a:p>
            <a:pPr algn="l">
              <a:spcBef>
                <a:spcPts val="1000"/>
              </a:spcBef>
            </a:pPr>
            <a:r>
              <a:rPr sz="1400" b="0">
                <a:solidFill>
                  <a:srgbClr val="FFFFFF"/>
                </a:solidFill>
                <a:latin typeface="Calibri"/>
              </a:rPr>
              <a:t>  2.   Identify: did it rename the folder, or tell you how? That gap is the harness.</a:t>
            </a:r>
          </a:p>
          <a:p>
            <a:pPr algn="l">
              <a:spcBef>
                <a:spcPts val="1000"/>
              </a:spcBef>
            </a:pPr>
            <a:r>
              <a:rPr sz="1400" b="0">
                <a:solidFill>
                  <a:srgbClr val="FFFFFF"/>
                </a:solidFill>
                <a:latin typeface="Calibri"/>
              </a:rPr>
              <a:t>  3.   If you have Claude Code available, ask it the same thing in a project folder. Compare.</a:t>
            </a:r>
          </a:p>
          <a:p>
            <a:pPr algn="l">
              <a:spcBef>
                <a:spcPts val="1000"/>
              </a:spcBef>
            </a:pPr>
            <a:r>
              <a:rPr sz="1400" b="0">
                <a:solidFill>
                  <a:srgbClr val="FFFFFF"/>
                </a:solidFill>
                <a:latin typeface="Calibri"/>
              </a:rPr>
              <a:t>  4.   You are seeing the difference between a text engine and an agent.</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at terminal comparing two different outputs on dual monitors]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The Harness Mental Model</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An LLM alone is text-in, text-out — it cannot act without tools.</a:t>
            </a:r>
          </a:p>
          <a:p>
            <a:pPr algn="l">
              <a:spcBef>
                <a:spcPts val="1400"/>
              </a:spcBef>
            </a:pPr>
            <a:r>
              <a:rPr sz="1600" b="0">
                <a:solidFill>
                  <a:srgbClr val="FFFFFF"/>
                </a:solidFill>
                <a:latin typeface="Calibri"/>
              </a:rPr>
              <a:t>  ›  The harness (tool layer) gives the engine eyes, hands, and a body.</a:t>
            </a:r>
          </a:p>
          <a:p>
            <a:pPr algn="l">
              <a:spcBef>
                <a:spcPts val="1400"/>
              </a:spcBef>
            </a:pPr>
            <a:r>
              <a:rPr sz="1600" b="0">
                <a:solidFill>
                  <a:srgbClr val="FFFFFF"/>
                </a:solidFill>
                <a:latin typeface="Calibri"/>
              </a:rPr>
              <a:t>  ›  Engine + Harness + Operator = the complete agentic system.</a:t>
            </a:r>
          </a:p>
          <a:p>
            <a:pPr algn="l">
              <a:spcBef>
                <a:spcPts val="1400"/>
              </a:spcBef>
            </a:pPr>
            <a:r>
              <a:rPr sz="1600" b="0">
                <a:solidFill>
                  <a:srgbClr val="FFFFFF"/>
                </a:solidFill>
                <a:latin typeface="Calibri"/>
              </a:rPr>
              <a:t>  ›  Your role: set up tools, give clear orders, supervise the loop, own the result.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1.5</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1.5</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The Model
Landscape</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Three families dominate agentic work. Each offers tiers — fast/cheap to slow/powerful. Match the model to the mission.</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Army equipment lineup — different tools for different mission sets]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Model Families and Tiers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Three major families: Claude (Anthropic), GPT (OpenAI), Gemini (Google).</a:t>
            </a:r>
          </a:p>
          <a:p>
            <a:pPr algn="l">
              <a:spcBef>
                <a:spcPts val="700"/>
              </a:spcBef>
            </a:pPr>
            <a:r>
              <a:rPr sz="1500" b="0">
                <a:solidFill>
                  <a:srgbClr val="FFFFFF"/>
                </a:solidFill>
                <a:latin typeface="Calibri"/>
              </a:rPr>
              <a:t>  ›  Each offers multiple tiers — fast/cheap through slow/powerful.</a:t>
            </a:r>
          </a:p>
          <a:p>
            <a:pPr algn="l">
              <a:spcBef>
                <a:spcPts val="700"/>
              </a:spcBef>
            </a:pPr>
            <a:r>
              <a:rPr sz="1500" b="0">
                <a:solidFill>
                  <a:srgbClr val="FFFFFF"/>
                </a:solidFill>
                <a:latin typeface="Calibri"/>
              </a:rPr>
              <a:t>  ›  Claude's tiers — the standard working toolchain:</a:t>
            </a:r>
          </a:p>
          <a:p>
            <a:pPr algn="l">
              <a:spcBef>
                <a:spcPts val="300"/>
              </a:spcBef>
            </a:pPr>
            <a:r>
              <a:rPr sz="1300" b="0">
                <a:solidFill>
                  <a:srgbClr val="A8B4C8"/>
                </a:solidFill>
                <a:latin typeface="Calibri"/>
              </a:rPr>
              <a:t>      ◦  Haiku — fast and cheap. High-volume tasks, evaluation loops, simple formatting.</a:t>
            </a:r>
          </a:p>
          <a:p>
            <a:pPr algn="l">
              <a:spcBef>
                <a:spcPts val="300"/>
              </a:spcBef>
            </a:pPr>
            <a:r>
              <a:rPr sz="1300" b="0">
                <a:solidFill>
                  <a:srgbClr val="A8B4C8"/>
                </a:solidFill>
                <a:latin typeface="Calibri"/>
              </a:rPr>
              <a:t>      ◦  Sonnet — balanced. The standard working model for most missions.</a:t>
            </a:r>
          </a:p>
          <a:p>
            <a:pPr algn="l">
              <a:spcBef>
                <a:spcPts val="300"/>
              </a:spcBef>
            </a:pPr>
            <a:r>
              <a:rPr sz="1300" b="0">
                <a:solidFill>
                  <a:srgbClr val="A8B4C8"/>
                </a:solidFill>
                <a:latin typeface="Calibri"/>
              </a:rPr>
              <a:t>      ◦  Opus — powerful and expensive. Reserve for the hardest reasoning tasks.</a:t>
            </a:r>
          </a:p>
          <a:p>
            <a:pPr algn="l">
              <a:spcBef>
                <a:spcPts val="700"/>
              </a:spcBef>
            </a:pPr>
            <a:r>
              <a:rPr sz="1500" b="0">
                <a:solidFill>
                  <a:srgbClr val="FFFFFF"/>
                </a:solidFill>
                <a:latin typeface="Calibri"/>
              </a:rPr>
              <a:t>  ›  'Always use the biggest model' is the wrong instinct.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Decision rule: Match the model to the task. Summarization: fast tier. Complex analysis: capable tier. Tight loops: cheapest tier that meets quality requirements.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Name Drift Is Real</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Model names and pricing change with every major release.</a:t>
            </a:r>
          </a:p>
          <a:p>
            <a:pPr algn="l">
              <a:spcBef>
                <a:spcPts val="700"/>
              </a:spcBef>
            </a:pPr>
            <a:r>
              <a:rPr sz="1500" b="0">
                <a:solidFill>
                  <a:srgbClr val="FFFFFF"/>
                </a:solidFill>
                <a:latin typeface="Calibri"/>
              </a:rPr>
              <a:t>  ›  The tier concept is durable. The specific names are not.</a:t>
            </a:r>
          </a:p>
          <a:p>
            <a:pPr algn="l">
              <a:spcBef>
                <a:spcPts val="700"/>
              </a:spcBef>
            </a:pPr>
            <a:r>
              <a:rPr sz="1500" b="0">
                <a:solidFill>
                  <a:srgbClr val="FFFFFF"/>
                </a:solidFill>
                <a:latin typeface="Calibri"/>
              </a:rPr>
              <a:t>  ›  Verify current model IDs and costs at anthropic.com before any course run.</a:t>
            </a:r>
          </a:p>
          <a:p>
            <a:pPr algn="l">
              <a:spcBef>
                <a:spcPts val="700"/>
              </a:spcBef>
            </a:pPr>
            <a:r>
              <a:rPr sz="1500" b="0">
                <a:solidFill>
                  <a:srgbClr val="FFFFFF"/>
                </a:solidFill>
                <a:latin typeface="Calibri"/>
              </a:rPr>
              <a:t>  ›  Bookmarking the docs is part of the job — not optional.</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Do not teach current prices or model names as facts. They will be wrong within a quarter. Teach the structure: tiers, cost scaling, task matching.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The Model Landscape</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Go to anthropic.com/claude and find the current model tiers.</a:t>
            </a:r>
          </a:p>
          <a:p>
            <a:pPr algn="l">
              <a:spcBef>
                <a:spcPts val="1000"/>
              </a:spcBef>
            </a:pPr>
            <a:r>
              <a:rPr sz="1400" b="0">
                <a:solidFill>
                  <a:srgbClr val="FFFFFF"/>
                </a:solidFill>
                <a:latin typeface="Calibri"/>
              </a:rPr>
              <a:t>  2.   Note the current names for fast, balanced, and powerful models. Do they match this section?</a:t>
            </a:r>
          </a:p>
          <a:p>
            <a:pPr algn="l">
              <a:spcBef>
                <a:spcPts val="1000"/>
              </a:spcBef>
            </a:pPr>
            <a:r>
              <a:rPr sz="1400" b="0">
                <a:solidFill>
                  <a:srgbClr val="FFFFFF"/>
                </a:solidFill>
                <a:latin typeface="Calibri"/>
              </a:rPr>
              <a:t>  3.   Pick one task you might do with AI (summarize, write code, analyze options).</a:t>
            </a:r>
          </a:p>
          <a:p>
            <a:pPr algn="l">
              <a:spcBef>
                <a:spcPts val="1000"/>
              </a:spcBef>
            </a:pPr>
            <a:r>
              <a:rPr sz="1400" b="0">
                <a:solidFill>
                  <a:srgbClr val="FFFFFF"/>
                </a:solidFill>
                <a:latin typeface="Calibri"/>
              </a:rPr>
              <a:t>  4.   Decide which tier is appropriate and write one sentence explaining why.</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cross-referencing field manual with digital screen]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The Model Landscape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Three families: Claude, GPT, Gemini. Each has fast, balanced, and powerful tiers.</a:t>
            </a:r>
          </a:p>
          <a:p>
            <a:pPr algn="l">
              <a:spcBef>
                <a:spcPts val="1400"/>
              </a:spcBef>
            </a:pPr>
            <a:r>
              <a:rPr sz="1600" b="0">
                <a:solidFill>
                  <a:srgbClr val="FFFFFF"/>
                </a:solidFill>
                <a:latin typeface="Calibri"/>
              </a:rPr>
              <a:t>  ›  Match the model to the task — bigger is not always better.</a:t>
            </a:r>
          </a:p>
          <a:p>
            <a:pPr algn="l">
              <a:spcBef>
                <a:spcPts val="1400"/>
              </a:spcBef>
            </a:pPr>
            <a:r>
              <a:rPr sz="1600" b="0">
                <a:solidFill>
                  <a:srgbClr val="FFFFFF"/>
                </a:solidFill>
                <a:latin typeface="Calibri"/>
              </a:rPr>
              <a:t>  ›  Model names drift with releases. Verify before you teach or build.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1.6</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1.6</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How the
Model Fails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Confident does not mean correct. The model has no truth-checking step — that step is yours.</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double-checking map coordinates before calling in a grid]</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Failure Mode 1: Hallucination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model generates tokens that are statistically likely to follow prior context.</a:t>
            </a:r>
          </a:p>
          <a:p>
            <a:pPr algn="l">
              <a:spcBef>
                <a:spcPts val="700"/>
              </a:spcBef>
            </a:pPr>
            <a:r>
              <a:rPr sz="1500" b="0">
                <a:solidFill>
                  <a:srgbClr val="FFFFFF"/>
                </a:solidFill>
                <a:latin typeface="Calibri"/>
              </a:rPr>
              <a:t>  ›  It has no separate truth-checking step.</a:t>
            </a:r>
          </a:p>
          <a:p>
            <a:pPr algn="l">
              <a:spcBef>
                <a:spcPts val="700"/>
              </a:spcBef>
            </a:pPr>
            <a:r>
              <a:rPr sz="1500" b="0">
                <a:solidFill>
                  <a:srgbClr val="FFFFFF"/>
                </a:solidFill>
                <a:latin typeface="Calibri"/>
              </a:rPr>
              <a:t>  ›  It cannot distinguish accurate training data from plausible completion.</a:t>
            </a:r>
          </a:p>
          <a:p>
            <a:pPr algn="l">
              <a:spcBef>
                <a:spcPts val="700"/>
              </a:spcBef>
            </a:pPr>
            <a:r>
              <a:rPr sz="1500" b="0">
                <a:solidFill>
                  <a:srgbClr val="FFFFFF"/>
                </a:solidFill>
                <a:latin typeface="Calibri"/>
              </a:rPr>
              <a:t>  ›  Confident output and correct output are entirely unrelated.</a:t>
            </a:r>
          </a:p>
          <a:p>
            <a:pPr algn="l">
              <a:spcBef>
                <a:spcPts val="700"/>
              </a:spcBef>
            </a:pPr>
            <a:r>
              <a:rPr sz="1500" b="0">
                <a:solidFill>
                  <a:srgbClr val="FFFFFF"/>
                </a:solidFill>
                <a:latin typeface="Calibri"/>
              </a:rPr>
              <a:t>  ›  This is expected system behavior — not a rare bug.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sharp junior analyst who never says 'I don't know.' Confident, fluent, and occasionally making it up. You check the work — fluency is not evidence of accuracy.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Failure Modes 2, 3, and 4</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Confident-Wrong — hallucination is not always dramatic.</a:t>
            </a:r>
          </a:p>
          <a:p>
            <a:pPr algn="l">
              <a:spcBef>
                <a:spcPts val="300"/>
              </a:spcBef>
            </a:pPr>
            <a:r>
              <a:rPr sz="1300" b="0">
                <a:solidFill>
                  <a:srgbClr val="A8B4C8"/>
                </a:solidFill>
                <a:latin typeface="Calibri"/>
              </a:rPr>
              <a:t>      ◦  Subtly wrong dates, statistics, citations. Equally confident tone regardless of accuracy.</a:t>
            </a:r>
          </a:p>
          <a:p>
            <a:pPr algn="l">
              <a:spcBef>
                <a:spcPts val="300"/>
              </a:spcBef>
            </a:pPr>
            <a:r>
              <a:rPr sz="1300" b="0">
                <a:solidFill>
                  <a:srgbClr val="A8B4C8"/>
                </a:solidFill>
                <a:latin typeface="Calibri"/>
              </a:rPr>
              <a:t>      ◦  Never use the model's confidence as a signal of truth.</a:t>
            </a:r>
          </a:p>
          <a:p>
            <a:pPr algn="l">
              <a:spcBef>
                <a:spcPts val="700"/>
              </a:spcBef>
            </a:pPr>
            <a:r>
              <a:rPr sz="1500" b="0">
                <a:solidFill>
                  <a:srgbClr val="FFFFFF"/>
                </a:solidFill>
                <a:latin typeface="Calibri"/>
              </a:rPr>
              <a:t>  ›  Nondeterminism — the model uses temperature, introducing randomness by design.</a:t>
            </a:r>
          </a:p>
          <a:p>
            <a:pPr algn="l">
              <a:spcBef>
                <a:spcPts val="300"/>
              </a:spcBef>
            </a:pPr>
            <a:r>
              <a:rPr sz="1300" b="0">
                <a:solidFill>
                  <a:srgbClr val="A8B4C8"/>
                </a:solidFill>
                <a:latin typeface="Calibri"/>
              </a:rPr>
              <a:t>      ◦  Same prompt, different run, different result. One output is not 'the answer.'</a:t>
            </a:r>
          </a:p>
          <a:p>
            <a:pPr algn="l">
              <a:spcBef>
                <a:spcPts val="700"/>
              </a:spcBef>
            </a:pPr>
            <a:r>
              <a:rPr sz="1500" b="0">
                <a:solidFill>
                  <a:srgbClr val="FFFFFF"/>
                </a:solidFill>
                <a:latin typeface="Calibri"/>
              </a:rPr>
              <a:t>  ›  Knowledge Cutoff — the model was trained to a point in time.</a:t>
            </a:r>
          </a:p>
          <a:p>
            <a:pPr algn="l">
              <a:spcBef>
                <a:spcPts val="300"/>
              </a:spcBef>
            </a:pPr>
            <a:r>
              <a:rPr sz="1300" b="0">
                <a:solidFill>
                  <a:srgbClr val="A8B4C8"/>
                </a:solidFill>
                <a:latin typeface="Calibri"/>
              </a:rPr>
              <a:t>      ◦  It may refuse, guess, or confidently describe events that did not happen.</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All three failure modes look identical from the outside. Verify anything time-sensitive regardless of how confidently the model presents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receive an intelligence summary from Claude with three specific claims about adversary activity. Claude presents all three confidently.
You have no way to tell whether they came from source documents Claude read, or from training data pattern-matching.
What do you do before you include this summary in a product?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How the Model Fails</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Ask Claude: 'What is the current price per million tokens for Claude Sonnet?' Read the answer.</a:t>
            </a:r>
          </a:p>
          <a:p>
            <a:pPr algn="l">
              <a:spcBef>
                <a:spcPts val="1000"/>
              </a:spcBef>
            </a:pPr>
            <a:r>
              <a:rPr sz="1400" b="0">
                <a:solidFill>
                  <a:srgbClr val="FFFFFF"/>
                </a:solidFill>
                <a:latin typeface="Calibri"/>
              </a:rPr>
              <a:t>  2.   Go to anthropic.com/pricing and compare. Are they the same?</a:t>
            </a:r>
          </a:p>
          <a:p>
            <a:pPr algn="l">
              <a:spcBef>
                <a:spcPts val="1000"/>
              </a:spcBef>
            </a:pPr>
            <a:r>
              <a:rPr sz="1400" b="0">
                <a:solidFill>
                  <a:srgbClr val="FFFFFF"/>
                </a:solidFill>
                <a:latin typeface="Calibri"/>
              </a:rPr>
              <a:t>  3.   Ask Claude: 'When is your knowledge cutoff?' Note whether it flags any uncertainty.</a:t>
            </a:r>
          </a:p>
          <a:p>
            <a:pPr algn="l">
              <a:spcBef>
                <a:spcPts val="1000"/>
              </a:spcBef>
            </a:pPr>
            <a:r>
              <a:rPr sz="1400" b="0">
                <a:solidFill>
                  <a:srgbClr val="FFFFFF"/>
                </a:solidFill>
                <a:latin typeface="Calibri"/>
              </a:rPr>
              <a:t>  4.   Ask: 'What major Claude models were released after your cutoff?' Observe how it handles the gap.</a:t>
            </a:r>
          </a:p>
          <a:p>
            <a:pPr algn="l">
              <a:spcBef>
                <a:spcPts val="1000"/>
              </a:spcBef>
            </a:pPr>
            <a:r>
              <a:rPr sz="1400" b="0">
                <a:solidFill>
                  <a:srgbClr val="FFFFFF"/>
                </a:solidFill>
                <a:latin typeface="Calibri"/>
              </a:rPr>
              <a:t>  5.   You have just demonstrated all three failure modes in a single exercise.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Analyst comparing two documents side by side — verifying source vs. output]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How the Model Fails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Hallucination: the model completes plausibly, not accurately. No truth-checking step.</a:t>
            </a:r>
          </a:p>
          <a:p>
            <a:pPr algn="l">
              <a:spcBef>
                <a:spcPts val="1400"/>
              </a:spcBef>
            </a:pPr>
            <a:r>
              <a:rPr sz="1600" b="0">
                <a:solidFill>
                  <a:srgbClr val="FFFFFF"/>
                </a:solidFill>
                <a:latin typeface="Calibri"/>
              </a:rPr>
              <a:t>  ›  Nondeterminism: same prompt, different run, different result — by design.</a:t>
            </a:r>
          </a:p>
          <a:p>
            <a:pPr algn="l">
              <a:spcBef>
                <a:spcPts val="1400"/>
              </a:spcBef>
            </a:pPr>
            <a:r>
              <a:rPr sz="1600" b="0">
                <a:solidFill>
                  <a:srgbClr val="FFFFFF"/>
                </a:solidFill>
                <a:latin typeface="Calibri"/>
              </a:rPr>
              <a:t>  ›  Knowledge cutoff: confident answers about events past training may be wrong.</a:t>
            </a:r>
          </a:p>
          <a:p>
            <a:pPr algn="l">
              <a:spcBef>
                <a:spcPts val="1400"/>
              </a:spcBef>
            </a:pPr>
            <a:r>
              <a:rPr sz="1600" b="0">
                <a:solidFill>
                  <a:srgbClr val="FFFFFF"/>
                </a:solidFill>
                <a:latin typeface="Calibri"/>
              </a:rPr>
              <a:t>  ›  Verification is your job — a property of how the system works, not a sign of distrust.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02</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02</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Context
Windows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 context window is the LLM's working memory. Fill it and it starts forgetting — silently.</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Tactical whiteboard filling up with overlapping mission graphics and notes]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Is a Context Window?</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context window is the total text (in tokens) the LLM can 'see' at one time.</a:t>
            </a:r>
          </a:p>
          <a:p>
            <a:pPr algn="l">
              <a:spcBef>
                <a:spcPts val="700"/>
              </a:spcBef>
            </a:pPr>
            <a:r>
              <a:rPr sz="1500" b="0">
                <a:solidFill>
                  <a:srgbClr val="FFFFFF"/>
                </a:solidFill>
                <a:latin typeface="Calibri"/>
              </a:rPr>
              <a:t>  ›  Think of it as working memory — a finite whiteboard.</a:t>
            </a:r>
          </a:p>
          <a:p>
            <a:pPr algn="l">
              <a:spcBef>
                <a:spcPts val="700"/>
              </a:spcBef>
            </a:pPr>
            <a:r>
              <a:rPr sz="1500" b="0">
                <a:solidFill>
                  <a:srgbClr val="FFFFFF"/>
                </a:solidFill>
                <a:latin typeface="Calibri"/>
              </a:rPr>
              <a:t>  ›  Current Claude models: 200,000 tokens.</a:t>
            </a:r>
          </a:p>
          <a:p>
            <a:pPr algn="l">
              <a:spcBef>
                <a:spcPts val="700"/>
              </a:spcBef>
            </a:pPr>
            <a:r>
              <a:rPr sz="1500" b="0">
                <a:solidFill>
                  <a:srgbClr val="FFFFFF"/>
                </a:solidFill>
                <a:latin typeface="Calibri"/>
              </a:rPr>
              <a:t>  ›  One page of text ≈ 300-500 tokens. A 50-page document ≈ 15,000-25,000 tokens.</a:t>
            </a:r>
          </a:p>
          <a:p>
            <a:pPr algn="l">
              <a:spcBef>
                <a:spcPts val="700"/>
              </a:spcBef>
            </a:pPr>
            <a:r>
              <a:rPr sz="1500" b="0">
                <a:solidFill>
                  <a:srgbClr val="FFFFFF"/>
                </a:solidFill>
                <a:latin typeface="Calibri"/>
              </a:rPr>
              <a:t>  ›  Tool call results accumulate in context — a long session can fill the window through results alone.</a:t>
            </a:r>
          </a:p>
          <a:p>
            <a:pPr algn="l">
              <a:spcBef>
                <a:spcPts val="700"/>
              </a:spcBef>
            </a:pPr>
            <a:r>
              <a:rPr sz="1500" b="0">
                <a:solidFill>
                  <a:srgbClr val="FFFFFF"/>
                </a:solidFill>
                <a:latin typeface="Calibri"/>
              </a:rPr>
              <a:t>  ›  Watch for: contradictions, missed instructions, degrading response quality.</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Verify current context window sizes before any course run — they change with model releases.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Three Rules of Context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Rule 1: Context is not infinite.</a:t>
            </a:r>
          </a:p>
          <a:p>
            <a:pPr algn="l">
              <a:spcBef>
                <a:spcPts val="300"/>
              </a:spcBef>
            </a:pPr>
            <a:r>
              <a:rPr sz="1300" b="0">
                <a:solidFill>
                  <a:srgbClr val="A8B4C8"/>
                </a:solidFill>
                <a:latin typeface="Calibri"/>
              </a:rPr>
              <a:t>      ◦  At 200,000 tokens you have real limits. Long conversations and verbose reasoning add up fast.</a:t>
            </a:r>
          </a:p>
          <a:p>
            <a:pPr algn="l">
              <a:spcBef>
                <a:spcPts val="700"/>
              </a:spcBef>
            </a:pPr>
            <a:r>
              <a:rPr sz="1500" b="0">
                <a:solidFill>
                  <a:srgbClr val="FFFFFF"/>
                </a:solidFill>
                <a:latin typeface="Calibri"/>
              </a:rPr>
              <a:t>  ›  Rule 2: Tool results accumulate in context.</a:t>
            </a:r>
          </a:p>
          <a:p>
            <a:pPr algn="l">
              <a:spcBef>
                <a:spcPts val="300"/>
              </a:spcBef>
            </a:pPr>
            <a:r>
              <a:rPr sz="1300" b="0">
                <a:solidFill>
                  <a:srgbClr val="A8B4C8"/>
                </a:solidFill>
                <a:latin typeface="Calibri"/>
              </a:rPr>
              <a:t>      ◦  The file read itself doesn't consume tokens. But every result returned does — and it builds up.</a:t>
            </a:r>
          </a:p>
          <a:p>
            <a:pPr algn="l">
              <a:spcBef>
                <a:spcPts val="700"/>
              </a:spcBef>
            </a:pPr>
            <a:r>
              <a:rPr sz="1500" b="0">
                <a:solidFill>
                  <a:srgbClr val="FFFFFF"/>
                </a:solidFill>
                <a:latin typeface="Calibri"/>
              </a:rPr>
              <a:t>  ›  Rule 3: You control what's in context.</a:t>
            </a:r>
          </a:p>
          <a:p>
            <a:pPr algn="l">
              <a:spcBef>
                <a:spcPts val="300"/>
              </a:spcBef>
            </a:pPr>
            <a:r>
              <a:rPr sz="1300" b="0">
                <a:solidFill>
                  <a:srgbClr val="A8B4C8"/>
                </a:solidFill>
                <a:latin typeface="Calibri"/>
              </a:rPr>
              <a:t>      ◦  You decide what to include, how verbose to be, how much history to keep.</a:t>
            </a:r>
          </a:p>
          <a:p>
            <a:pPr algn="l">
              <a:spcBef>
                <a:spcPts val="700"/>
              </a:spcBef>
            </a:pPr>
            <a:r>
              <a:rPr sz="1500" b="0">
                <a:solidFill>
                  <a:srgbClr val="FFFFFF"/>
                </a:solidFill>
                <a:latin typeface="Calibri"/>
              </a:rPr>
              <a:t>  ›  Strategic use of context is a skill — not a setting.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Context Windows in the Harness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Claude does not need the entire codebase in context to work on large projects.</a:t>
            </a:r>
          </a:p>
          <a:p>
            <a:pPr algn="l">
              <a:spcBef>
                <a:spcPts val="700"/>
              </a:spcBef>
            </a:pPr>
            <a:r>
              <a:rPr sz="1500" b="0">
                <a:solidFill>
                  <a:srgbClr val="FFFFFF"/>
                </a:solidFill>
                <a:latin typeface="Calibri"/>
              </a:rPr>
              <a:t>  ›  The tool call loop keeps context lean:</a:t>
            </a:r>
          </a:p>
          <a:p>
            <a:pPr algn="l">
              <a:spcBef>
                <a:spcPts val="300"/>
              </a:spcBef>
            </a:pPr>
            <a:r>
              <a:rPr sz="1300" b="0">
                <a:solidFill>
                  <a:srgbClr val="A8B4C8"/>
                </a:solidFill>
                <a:latin typeface="Calibri"/>
              </a:rPr>
              <a:t>      ◦  Claude generates a request: 'Read /path/to/file.js'</a:t>
            </a:r>
          </a:p>
          <a:p>
            <a:pPr algn="l">
              <a:spcBef>
                <a:spcPts val="300"/>
              </a:spcBef>
            </a:pPr>
            <a:r>
              <a:rPr sz="1300" b="0">
                <a:solidFill>
                  <a:srgbClr val="A8B4C8"/>
                </a:solidFill>
                <a:latin typeface="Calibri"/>
              </a:rPr>
              <a:t>      ◦  The tool executes and returns the file contents into context</a:t>
            </a:r>
          </a:p>
          <a:p>
            <a:pPr algn="l">
              <a:spcBef>
                <a:spcPts val="300"/>
              </a:spcBef>
            </a:pPr>
            <a:r>
              <a:rPr sz="1300" b="0">
                <a:solidFill>
                  <a:srgbClr val="A8B4C8"/>
                </a:solidFill>
                <a:latin typeface="Calibri"/>
              </a:rPr>
              <a:t>      ◦  Claude reasons about what it read, then calls the next tool or generates output</a:t>
            </a:r>
          </a:p>
          <a:p>
            <a:pPr algn="l">
              <a:spcBef>
                <a:spcPts val="700"/>
              </a:spcBef>
            </a:pPr>
            <a:r>
              <a:rPr sz="1500" b="0">
                <a:solidFill>
                  <a:srgbClr val="FFFFFF"/>
                </a:solidFill>
                <a:latin typeface="Calibri"/>
              </a:rPr>
              <a:t>  ›  Claude reads what it needs, when it needs it. Smart sampling, not cramming.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Solution when context fills: start a fresh session, paste only relevant context, or ask Claude to read from files instead of pasting everything.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are in a Claude Code session that has been running for two hours. You have read 30 files, run 15 commands, and had a long back-and-forth.
Claude starts giving you answers that contradict what it said an hour ago.
What is the most likely cause, and what do you do?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Context Windows</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Claude (web). Start a fresh conversation. Type: 'My name is [your name]. Remember this.'</a:t>
            </a:r>
          </a:p>
          <a:p>
            <a:pPr algn="l">
              <a:spcBef>
                <a:spcPts val="1000"/>
              </a:spcBef>
            </a:pPr>
            <a:r>
              <a:rPr sz="1400" b="0">
                <a:solidFill>
                  <a:srgbClr val="FFFFFF"/>
                </a:solidFill>
                <a:latin typeface="Calibri"/>
              </a:rPr>
              <a:t>  2.   Have a long, unrelated conversation — 10 to 20 back-and-forth exchanges.</a:t>
            </a:r>
          </a:p>
          <a:p>
            <a:pPr algn="l">
              <a:spcBef>
                <a:spcPts val="1000"/>
              </a:spcBef>
            </a:pPr>
            <a:r>
              <a:rPr sz="1400" b="0">
                <a:solidFill>
                  <a:srgbClr val="FFFFFF"/>
                </a:solidFill>
                <a:latin typeface="Calibri"/>
              </a:rPr>
              <a:t>  3.   Ask: 'What was my name?' Note whether Claude still knows.</a:t>
            </a:r>
          </a:p>
          <a:p>
            <a:pPr algn="l">
              <a:spcBef>
                <a:spcPts val="1000"/>
              </a:spcBef>
            </a:pPr>
            <a:r>
              <a:rPr sz="1400" b="0">
                <a:solidFill>
                  <a:srgbClr val="FFFFFF"/>
                </a:solidFill>
                <a:latin typeface="Calibri"/>
              </a:rPr>
              <a:t>  4.   If you have Claude Code, run a long session with several file reads. Ask Claude to summarize what it has done. Check accuracy.</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reviewing a long operation log — noting what has been forgotten or dropped]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Context Windows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The context window is finite working memory — fill it and the model loses earlier content.</a:t>
            </a:r>
          </a:p>
          <a:p>
            <a:pPr algn="l">
              <a:spcBef>
                <a:spcPts val="1400"/>
              </a:spcBef>
            </a:pPr>
            <a:r>
              <a:rPr sz="1600" b="0">
                <a:solidFill>
                  <a:srgbClr val="FFFFFF"/>
                </a:solidFill>
                <a:latin typeface="Calibri"/>
              </a:rPr>
              <a:t>  ›  Tool call results accumulate in context and can silently fill the window.</a:t>
            </a:r>
          </a:p>
          <a:p>
            <a:pPr algn="l">
              <a:spcBef>
                <a:spcPts val="1400"/>
              </a:spcBef>
            </a:pPr>
            <a:r>
              <a:rPr sz="1600" b="0">
                <a:solidFill>
                  <a:srgbClr val="FFFFFF"/>
                </a:solidFill>
                <a:latin typeface="Calibri"/>
              </a:rPr>
              <a:t>  ›  You control what goes in. Strategic use of context is a skill.</a:t>
            </a:r>
          </a:p>
          <a:p>
            <a:pPr algn="l">
              <a:spcBef>
                <a:spcPts val="1400"/>
              </a:spcBef>
            </a:pPr>
            <a:r>
              <a:rPr sz="1600" b="0">
                <a:solidFill>
                  <a:srgbClr val="FFFFFF"/>
                </a:solidFill>
                <a:latin typeface="Calibri"/>
              </a:rPr>
              <a:t>  ›  Start fresh sessions proactively before context degradation causes problems.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03</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03</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Tokens as
Currency</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Every token costs time and money. Concise, structured prompts save iterations. Verbose prompts waste both.</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Supply sergeant accounting for limited ammunition and fuel — finite resources]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Is a Token?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token is the unit of text the LLM processes — not a word, but a chunk.</a:t>
            </a:r>
          </a:p>
          <a:p>
            <a:pPr algn="l">
              <a:spcBef>
                <a:spcPts val="700"/>
              </a:spcBef>
            </a:pPr>
            <a:r>
              <a:rPr sz="1500" b="0">
                <a:solidFill>
                  <a:srgbClr val="FFFFFF"/>
                </a:solidFill>
                <a:latin typeface="Calibri"/>
              </a:rPr>
              <a:t>  ›  1 token ≈ 0.75 English words (varies by language and content type).</a:t>
            </a:r>
          </a:p>
          <a:p>
            <a:pPr algn="l">
              <a:spcBef>
                <a:spcPts val="700"/>
              </a:spcBef>
            </a:pPr>
            <a:r>
              <a:rPr sz="1500" b="0">
                <a:solidFill>
                  <a:srgbClr val="FFFFFF"/>
                </a:solidFill>
                <a:latin typeface="Calibri"/>
              </a:rPr>
              <a:t>  ›  1 page of text ≈ 300-500 tokens. 1 line of code ≈ 5-15 tokens (code is denser).</a:t>
            </a:r>
          </a:p>
          <a:p>
            <a:pPr algn="l">
              <a:spcBef>
                <a:spcPts val="700"/>
              </a:spcBef>
            </a:pPr>
            <a:r>
              <a:rPr sz="1500" b="0">
                <a:solidFill>
                  <a:srgbClr val="FFFFFF"/>
                </a:solidFill>
                <a:latin typeface="Calibri"/>
              </a:rPr>
              <a:t>  ›  Every input token costs money. Every output token costs more.</a:t>
            </a:r>
          </a:p>
          <a:p>
            <a:pPr algn="l">
              <a:spcBef>
                <a:spcPts val="700"/>
              </a:spcBef>
            </a:pPr>
            <a:r>
              <a:rPr sz="1500" b="0">
                <a:solidFill>
                  <a:srgbClr val="FFFFFF"/>
                </a:solidFill>
                <a:latin typeface="Calibri"/>
              </a:rPr>
              <a:t>  ›  Total cost = (input tokens × input price) + (output tokens × output price).</a:t>
            </a:r>
          </a:p>
          <a:p>
            <a:pPr algn="l">
              <a:spcBef>
                <a:spcPts val="700"/>
              </a:spcBef>
            </a:pPr>
            <a:r>
              <a:rPr sz="1500" b="0">
                <a:solidFill>
                  <a:srgbClr val="FFFFFF"/>
                </a:solidFill>
                <a:latin typeface="Calibri"/>
              </a:rPr>
              <a:t>  ›  More tokens = slower response time and higher dollar cost.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Verify current pricing at anthropic.com/pricing — do not rely on token costs in this deck. The structure is durable; the numbers are not.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Four Token Principles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Principle 1: Concision is a feature.</a:t>
            </a:r>
          </a:p>
          <a:p>
            <a:pPr algn="l">
              <a:spcBef>
                <a:spcPts val="300"/>
              </a:spcBef>
            </a:pPr>
            <a:r>
              <a:rPr sz="1300" b="0">
                <a:solidFill>
                  <a:srgbClr val="A8B4C8"/>
                </a:solidFill>
                <a:latin typeface="Calibri"/>
              </a:rPr>
              <a:t>      ◦  A 100-word structured prompt often beats a 500-word rambling one. Less noise, lower cost.</a:t>
            </a:r>
          </a:p>
          <a:p>
            <a:pPr algn="l">
              <a:spcBef>
                <a:spcPts val="700"/>
              </a:spcBef>
            </a:pPr>
            <a:r>
              <a:rPr sz="1500" b="0">
                <a:solidFill>
                  <a:srgbClr val="FFFFFF"/>
                </a:solidFill>
                <a:latin typeface="Calibri"/>
              </a:rPr>
              <a:t>  ›  Principle 2: Repetition is waste.</a:t>
            </a:r>
          </a:p>
          <a:p>
            <a:pPr algn="l">
              <a:spcBef>
                <a:spcPts val="300"/>
              </a:spcBef>
            </a:pPr>
            <a:r>
              <a:rPr sz="1300" b="0">
                <a:solidFill>
                  <a:srgbClr val="A8B4C8"/>
                </a:solidFill>
                <a:latin typeface="Calibri"/>
              </a:rPr>
              <a:t>      ◦  Asking the same question 3 times = 3x the tokens. Iterate once.</a:t>
            </a:r>
          </a:p>
          <a:p>
            <a:pPr algn="l">
              <a:spcBef>
                <a:spcPts val="700"/>
              </a:spcBef>
            </a:pPr>
            <a:r>
              <a:rPr sz="1500" b="0">
                <a:solidFill>
                  <a:srgbClr val="FFFFFF"/>
                </a:solidFill>
                <a:latin typeface="Calibri"/>
              </a:rPr>
              <a:t>  ›  Principle 3: Cheap vs. expensive operations matter.</a:t>
            </a:r>
          </a:p>
          <a:p>
            <a:pPr algn="l">
              <a:spcBef>
                <a:spcPts val="300"/>
              </a:spcBef>
            </a:pPr>
            <a:r>
              <a:rPr sz="1300" b="0">
                <a:solidFill>
                  <a:srgbClr val="A8B4C8"/>
                </a:solidFill>
                <a:latin typeface="Calibri"/>
              </a:rPr>
              <a:t>      ◦  Cheap: ask Claude to read a file via tool call. Expensive: paste 30,000 tokens into the prompt.</a:t>
            </a:r>
          </a:p>
          <a:p>
            <a:pPr algn="l">
              <a:spcBef>
                <a:spcPts val="700"/>
              </a:spcBef>
            </a:pPr>
            <a:r>
              <a:rPr sz="1500" b="0">
                <a:solidFill>
                  <a:srgbClr val="FFFFFF"/>
                </a:solidFill>
                <a:latin typeface="Calibri"/>
              </a:rPr>
              <a:t>  ›  Principle 4: Plan before you prompt.</a:t>
            </a:r>
          </a:p>
          <a:p>
            <a:pPr algn="l">
              <a:spcBef>
                <a:spcPts val="300"/>
              </a:spcBef>
            </a:pPr>
            <a:r>
              <a:rPr sz="1300" b="0">
                <a:solidFill>
                  <a:srgbClr val="A8B4C8"/>
                </a:solidFill>
                <a:latin typeface="Calibri"/>
              </a:rPr>
              <a:t>      ◦  What context does Claude need? What should it read via tools vs. receive pasted?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need Claude to analyze a 200-page field manual.
Option A: Paste the entire manual into the chat and ask your question.
Option B: Ask Claude to search the manual using tools and read only the relevant sections.
Which is more cost-effective? Which produces more reliable results? Why?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Tokens as Currency</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Write a vague prompt asking Claude to help you with a project. Count the words.</a:t>
            </a:r>
          </a:p>
          <a:p>
            <a:pPr algn="l">
              <a:spcBef>
                <a:spcPts val="1000"/>
              </a:spcBef>
            </a:pPr>
            <a:r>
              <a:rPr sz="1400" b="0">
                <a:solidFill>
                  <a:srgbClr val="FFFFFF"/>
                </a:solidFill>
                <a:latin typeface="Calibri"/>
              </a:rPr>
              <a:t>  2.   Rewrite it as a structured prompt: task, context, constraints, output format. Count the words again.</a:t>
            </a:r>
          </a:p>
          <a:p>
            <a:pPr algn="l">
              <a:spcBef>
                <a:spcPts val="1000"/>
              </a:spcBef>
            </a:pPr>
            <a:r>
              <a:rPr sz="1400" b="0">
                <a:solidFill>
                  <a:srgbClr val="FFFFFF"/>
                </a:solidFill>
                <a:latin typeface="Calibri"/>
              </a:rPr>
              <a:t>  3.   Submit both and compare the quality of the first response each time.</a:t>
            </a:r>
          </a:p>
          <a:p>
            <a:pPr algn="l">
              <a:spcBef>
                <a:spcPts val="1000"/>
              </a:spcBef>
            </a:pPr>
            <a:r>
              <a:rPr sz="1400" b="0">
                <a:solidFill>
                  <a:srgbClr val="FFFFFF"/>
                </a:solidFill>
                <a:latin typeface="Calibri"/>
              </a:rPr>
              <a:t>  4.   Which required fewer follow-up iterations? Which approach was cheaper?</a:t>
            </a:r>
          </a:p>
          <a:p>
            <a:pPr algn="l">
              <a:spcBef>
                <a:spcPts val="1000"/>
              </a:spcBef>
            </a:pPr>
            <a:r>
              <a:rPr sz="1400" b="0">
                <a:solidFill>
                  <a:srgbClr val="FFFFFF"/>
                </a:solidFill>
                <a:latin typeface="Calibri"/>
              </a:rPr>
              <a:t>  5.   Optional: paste each prompt into a tokenizer and count the actual token cost.</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Two mission briefs side by side — one a wall of text, one a clean OPORD format]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Tokens as Currency</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Every token has a cost in time and money. Treat it as a finite resource.</a:t>
            </a:r>
          </a:p>
          <a:p>
            <a:pPr algn="l">
              <a:spcBef>
                <a:spcPts val="1400"/>
              </a:spcBef>
            </a:pPr>
            <a:r>
              <a:rPr sz="1600" b="0">
                <a:solidFill>
                  <a:srgbClr val="FFFFFF"/>
                </a:solidFill>
                <a:latin typeface="Calibri"/>
              </a:rPr>
              <a:t>  ›  Structured prompts outperform verbose ones — less noise, fewer iterations.</a:t>
            </a:r>
          </a:p>
          <a:p>
            <a:pPr algn="l">
              <a:spcBef>
                <a:spcPts val="1400"/>
              </a:spcBef>
            </a:pPr>
            <a:r>
              <a:rPr sz="1600" b="0">
                <a:solidFill>
                  <a:srgbClr val="FFFFFF"/>
                </a:solidFill>
                <a:latin typeface="Calibri"/>
              </a:rPr>
              <a:t>  ›  Use tool calls to read files instead of pasting large documents into context.</a:t>
            </a:r>
          </a:p>
          <a:p>
            <a:pPr algn="l">
              <a:spcBef>
                <a:spcPts val="1400"/>
              </a:spcBef>
            </a:pPr>
            <a:r>
              <a:rPr sz="1600" b="0">
                <a:solidFill>
                  <a:srgbClr val="FFFFFF"/>
                </a:solidFill>
                <a:latin typeface="Calibri"/>
              </a:rPr>
              <a:t>  ›  Plan before you prompt. One clear ask beats five vague ones every time.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04</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04</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Tool Calls and
Determinism</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Tool calls let Claude verify its reasoning against actual system state — not generate from memory.</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physically verifying equipment readiness against a checklist]</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Is a Tool Call?</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tool call is a structured request from the LLM to an external system.</a:t>
            </a:r>
          </a:p>
          <a:p>
            <a:pPr algn="l">
              <a:spcBef>
                <a:spcPts val="700"/>
              </a:spcBef>
            </a:pPr>
            <a:r>
              <a:rPr sz="1500" b="0">
                <a:solidFill>
                  <a:srgbClr val="FFFFFF"/>
                </a:solidFill>
                <a:latin typeface="Calibri"/>
              </a:rPr>
              <a:t>  ›  It says: 'Execute this specific action and return the result.'</a:t>
            </a:r>
          </a:p>
          <a:p>
            <a:pPr algn="l">
              <a:spcBef>
                <a:spcPts val="700"/>
              </a:spcBef>
            </a:pPr>
            <a:r>
              <a:rPr sz="1500" b="0">
                <a:solidFill>
                  <a:srgbClr val="FFFFFF"/>
                </a:solidFill>
                <a:latin typeface="Calibri"/>
              </a:rPr>
              <a:t>  ›  Claude does not execute tool calls itself — it requests that the harness execute them.</a:t>
            </a:r>
          </a:p>
          <a:p>
            <a:pPr algn="l">
              <a:spcBef>
                <a:spcPts val="700"/>
              </a:spcBef>
            </a:pPr>
            <a:r>
              <a:rPr sz="1500" b="0">
                <a:solidFill>
                  <a:srgbClr val="FFFFFF"/>
                </a:solidFill>
                <a:latin typeface="Calibri"/>
              </a:rPr>
              <a:t>  ›  Types of tool calls:</a:t>
            </a:r>
          </a:p>
          <a:p>
            <a:pPr algn="l">
              <a:spcBef>
                <a:spcPts val="300"/>
              </a:spcBef>
            </a:pPr>
            <a:r>
              <a:rPr sz="1300" b="0">
                <a:solidFill>
                  <a:srgbClr val="A8B4C8"/>
                </a:solidFill>
                <a:latin typeface="Calibri"/>
              </a:rPr>
              <a:t>      ◦  Reading: read files, list directories, check git status, fetch URLs</a:t>
            </a:r>
          </a:p>
          <a:p>
            <a:pPr algn="l">
              <a:spcBef>
                <a:spcPts val="300"/>
              </a:spcBef>
            </a:pPr>
            <a:r>
              <a:rPr sz="1300" b="0">
                <a:solidFill>
                  <a:srgbClr val="A8B4C8"/>
                </a:solidFill>
                <a:latin typeface="Calibri"/>
              </a:rPr>
              <a:t>      ◦  Writing: create, edit, delete, move files</a:t>
            </a:r>
          </a:p>
          <a:p>
            <a:pPr algn="l">
              <a:spcBef>
                <a:spcPts val="300"/>
              </a:spcBef>
            </a:pPr>
            <a:r>
              <a:rPr sz="1300" b="0">
                <a:solidFill>
                  <a:srgbClr val="A8B4C8"/>
                </a:solidFill>
                <a:latin typeface="Calibri"/>
              </a:rPr>
              <a:t>      ◦  Executing: run commands, run tests, deploy code, call APIs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Example: read("/src/auth.js") → result → write("/src/auth.js", fix) → run("npm test") → all tests pass. Every step is traceable.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Why Tool Calls Enable Verification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Without tools: Claude generates text. You cannot verify whether it hallucinated.</a:t>
            </a:r>
          </a:p>
          <a:p>
            <a:pPr algn="l">
              <a:spcBef>
                <a:spcPts val="700"/>
              </a:spcBef>
            </a:pPr>
            <a:r>
              <a:rPr sz="1500" b="0">
                <a:solidFill>
                  <a:srgbClr val="FFFFFF"/>
                </a:solidFill>
                <a:latin typeface="Calibri"/>
              </a:rPr>
              <a:t>  ›  With tools: Claude can verify its own reasoning against actual system state.</a:t>
            </a:r>
          </a:p>
          <a:p>
            <a:pPr algn="l">
              <a:spcBef>
                <a:spcPts val="700"/>
              </a:spcBef>
            </a:pPr>
            <a:r>
              <a:rPr sz="1500" b="0">
                <a:solidFill>
                  <a:srgbClr val="FFFFFF"/>
                </a:solidFill>
                <a:latin typeface="Calibri"/>
              </a:rPr>
              <a:t>  ›  Every tool call is a verifiable, traceable action — your audit trail.</a:t>
            </a:r>
          </a:p>
          <a:p>
            <a:pPr algn="l">
              <a:spcBef>
                <a:spcPts val="300"/>
              </a:spcBef>
            </a:pPr>
            <a:r>
              <a:rPr sz="1300" b="0">
                <a:solidFill>
                  <a:srgbClr val="A8B4C8"/>
                </a:solidFill>
                <a:latin typeface="Calibri"/>
              </a:rPr>
              <a:t>      ◦  Claude read that specific file. Claude ran that specific test.</a:t>
            </a:r>
          </a:p>
          <a:p>
            <a:pPr algn="l">
              <a:spcBef>
                <a:spcPts val="300"/>
              </a:spcBef>
            </a:pPr>
            <a:r>
              <a:rPr sz="1300" b="0">
                <a:solidFill>
                  <a:srgbClr val="A8B4C8"/>
                </a:solidFill>
                <a:latin typeface="Calibri"/>
              </a:rPr>
              <a:t>      ◦  Claude wrote that specific content. You can trace every step.</a:t>
            </a:r>
          </a:p>
          <a:p>
            <a:pPr algn="l">
              <a:spcBef>
                <a:spcPts val="700"/>
              </a:spcBef>
            </a:pPr>
            <a:r>
              <a:rPr sz="1500" b="0">
                <a:solidFill>
                  <a:srgbClr val="FFFFFF"/>
                </a:solidFill>
                <a:latin typeface="Calibri"/>
              </a:rPr>
              <a:t>  ›  That is not possible with pure text generation.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Claude tells you it has verified that your export script produces correctly formatted output.
Scenario A: Claude reviewed the output description you pasted and said it looks correct.
Scenario B: Claude called a read tool on the actual output file and checked it against the template.
Which scenario gives you a defensible product? Why?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Tool Calls and Determinism</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In Claude Code, ask: 'What is in my current directory?' Watch it call the list tool and return real results.</a:t>
            </a:r>
          </a:p>
          <a:p>
            <a:pPr algn="l">
              <a:spcBef>
                <a:spcPts val="1000"/>
              </a:spcBef>
            </a:pPr>
            <a:r>
              <a:rPr sz="1400" b="0">
                <a:solidFill>
                  <a:srgbClr val="FFFFFF"/>
                </a:solidFill>
                <a:latin typeface="Calibri"/>
              </a:rPr>
              <a:t>  2.   Ask: 'Read [a specific file in your project].' Watch it read the actual file — not guess at contents.</a:t>
            </a:r>
          </a:p>
          <a:p>
            <a:pPr algn="l">
              <a:spcBef>
                <a:spcPts val="1000"/>
              </a:spcBef>
            </a:pPr>
            <a:r>
              <a:rPr sz="1400" b="0">
                <a:solidFill>
                  <a:srgbClr val="FFFFFF"/>
                </a:solidFill>
                <a:latin typeface="Calibri"/>
              </a:rPr>
              <a:t>  3.   Ask Claude to make a small edit. Before it writes, ask: 'What exactly are you going to change and why?'</a:t>
            </a:r>
          </a:p>
          <a:p>
            <a:pPr algn="l">
              <a:spcBef>
                <a:spcPts val="1000"/>
              </a:spcBef>
            </a:pPr>
            <a:r>
              <a:rPr sz="1400" b="0">
                <a:solidFill>
                  <a:srgbClr val="FFFFFF"/>
                </a:solidFill>
                <a:latin typeface="Calibri"/>
              </a:rPr>
              <a:t>  4.   Verify before approving. You are tracing the tool call loop live. Every action is visible.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reading back a radio transmission to confirm accuracy before relaying]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Tool Calls and Determinism</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 tool call is a structured request: execute this action and return the result.</a:t>
            </a:r>
          </a:p>
          <a:p>
            <a:pPr algn="l">
              <a:spcBef>
                <a:spcPts val="1400"/>
              </a:spcBef>
            </a:pPr>
            <a:r>
              <a:rPr sz="1600" b="0">
                <a:solidFill>
                  <a:srgbClr val="FFFFFF"/>
                </a:solidFill>
                <a:latin typeface="Calibri"/>
              </a:rPr>
              <a:t>  ›  Tool calls let Claude verify its reasoning against real system state — not generate from memory.</a:t>
            </a:r>
          </a:p>
          <a:p>
            <a:pPr algn="l">
              <a:spcBef>
                <a:spcPts val="1400"/>
              </a:spcBef>
            </a:pPr>
            <a:r>
              <a:rPr sz="1600" b="0">
                <a:solidFill>
                  <a:srgbClr val="FFFFFF"/>
                </a:solidFill>
                <a:latin typeface="Calibri"/>
              </a:rPr>
              <a:t>  ›  Every tool call is a verifiable, traceable action — your audit trail.</a:t>
            </a:r>
          </a:p>
          <a:p>
            <a:pPr algn="l">
              <a:spcBef>
                <a:spcPts val="1400"/>
              </a:spcBef>
            </a:pPr>
            <a:r>
              <a:rPr sz="1600" b="0">
                <a:solidFill>
                  <a:srgbClr val="FFFFFF"/>
                </a:solidFill>
                <a:latin typeface="Calibri"/>
              </a:rPr>
              <a:t>  ›  Without tool calls, you cannot distinguish correct output from confident hallucination.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05</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05</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Operator Posture
and Supervision</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The agent is a motivated PFC with file-system access. Over-brief, supervise closely, verify before you sign.</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NCO supervising a junior soldier completing a task at a terminal]</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Is Operator Posture?</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Your posture is your stance toward the AI:</a:t>
            </a:r>
          </a:p>
          <a:p>
            <a:pPr algn="l">
              <a:spcBef>
                <a:spcPts val="300"/>
              </a:spcBef>
            </a:pPr>
            <a:r>
              <a:rPr sz="1300" b="0">
                <a:solidFill>
                  <a:srgbClr val="A8B4C8"/>
                </a:solidFill>
                <a:latin typeface="Calibri"/>
              </a:rPr>
              <a:t>      ◦  Delegating — asking it to do everything while you step away (wrong)</a:t>
            </a:r>
          </a:p>
          <a:p>
            <a:pPr algn="l">
              <a:spcBef>
                <a:spcPts val="300"/>
              </a:spcBef>
            </a:pPr>
            <a:r>
              <a:rPr sz="1300" b="0">
                <a:solidFill>
                  <a:srgbClr val="A8B4C8"/>
                </a:solidFill>
                <a:latin typeface="Calibri"/>
              </a:rPr>
              <a:t>      ◦  Supervising — watching closely, intervening as needed (correct)</a:t>
            </a:r>
          </a:p>
          <a:p>
            <a:pPr algn="l">
              <a:spcBef>
                <a:spcPts val="300"/>
              </a:spcBef>
            </a:pPr>
            <a:r>
              <a:rPr sz="1300" b="0">
                <a:solidFill>
                  <a:srgbClr val="A8B4C8"/>
                </a:solidFill>
                <a:latin typeface="Calibri"/>
              </a:rPr>
              <a:t>      ◦  Collaborating — both thinking, both deciding (correct, context-dependent)</a:t>
            </a:r>
          </a:p>
          <a:p>
            <a:pPr algn="l">
              <a:spcBef>
                <a:spcPts val="700"/>
              </a:spcBef>
            </a:pPr>
            <a:r>
              <a:rPr sz="1500" b="0">
                <a:solidFill>
                  <a:srgbClr val="FFFFFF"/>
                </a:solidFill>
                <a:latin typeface="Calibri"/>
              </a:rPr>
              <a:t>  ›  The agent is a motivated PFC with file-system access and a mission.</a:t>
            </a:r>
          </a:p>
          <a:p>
            <a:pPr algn="l">
              <a:spcBef>
                <a:spcPts val="700"/>
              </a:spcBef>
            </a:pPr>
            <a:r>
              <a:rPr sz="1500" b="0">
                <a:solidFill>
                  <a:srgbClr val="FFFFFF"/>
                </a:solidFill>
                <a:latin typeface="Calibri"/>
              </a:rPr>
              <a:t>  ›  Capable, fast, eager — and will execute confidently on an ambiguous brief.</a:t>
            </a:r>
          </a:p>
          <a:p>
            <a:pPr algn="l">
              <a:spcBef>
                <a:spcPts val="700"/>
              </a:spcBef>
            </a:pPr>
            <a:r>
              <a:rPr sz="1500" b="0">
                <a:solidFill>
                  <a:srgbClr val="FFFFFF"/>
                </a:solidFill>
                <a:latin typeface="Calibri"/>
              </a:rPr>
              <a:t>  ›  The capability does not transfer the accountability. You sign for the result.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Human in the loop means you are the decision point — not a passive observer. Review before committing. Intervene early.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Three Ways Supervision Breaks Down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Mistake 1: Over-trust</a:t>
            </a:r>
          </a:p>
          <a:p>
            <a:pPr algn="l">
              <a:spcBef>
                <a:spcPts val="300"/>
              </a:spcBef>
            </a:pPr>
            <a:r>
              <a:rPr sz="1300" b="0">
                <a:solidFill>
                  <a:srgbClr val="A8B4C8"/>
                </a:solidFill>
                <a:latin typeface="Calibri"/>
              </a:rPr>
              <a:t>      ◦  You let Claude run for hours without reviewing. You get 20 breaking changes you didn't expect.</a:t>
            </a:r>
          </a:p>
          <a:p>
            <a:pPr algn="l">
              <a:spcBef>
                <a:spcPts val="300"/>
              </a:spcBef>
            </a:pPr>
            <a:r>
              <a:rPr sz="1300" b="0">
                <a:solidFill>
                  <a:srgbClr val="A8B4C8"/>
                </a:solidFill>
                <a:latin typeface="Calibri"/>
              </a:rPr>
              <a:t>      ◦  Fix: review after each major step. Ask Claude to show changes before committing.</a:t>
            </a:r>
          </a:p>
          <a:p>
            <a:pPr algn="l">
              <a:spcBef>
                <a:spcPts val="700"/>
              </a:spcBef>
            </a:pPr>
            <a:r>
              <a:rPr sz="1500" b="0">
                <a:solidFill>
                  <a:srgbClr val="FFFFFF"/>
                </a:solidFill>
                <a:latin typeface="Calibri"/>
              </a:rPr>
              <a:t>  ›  Mistake 2: Under-involvement</a:t>
            </a:r>
          </a:p>
          <a:p>
            <a:pPr algn="l">
              <a:spcBef>
                <a:spcPts val="300"/>
              </a:spcBef>
            </a:pPr>
            <a:r>
              <a:rPr sz="1300" b="0">
                <a:solidFill>
                  <a:srgbClr val="A8B4C8"/>
                </a:solidFill>
                <a:latin typeface="Calibri"/>
              </a:rPr>
              <a:t>      ◦  You give a vague order ('Make this faster'). Claude spends 5,000 tokens on guesses.</a:t>
            </a:r>
          </a:p>
          <a:p>
            <a:pPr algn="l">
              <a:spcBef>
                <a:spcPts val="300"/>
              </a:spcBef>
            </a:pPr>
            <a:r>
              <a:rPr sz="1300" b="0">
                <a:solidFill>
                  <a:srgbClr val="A8B4C8"/>
                </a:solidFill>
                <a:latin typeface="Calibri"/>
              </a:rPr>
              <a:t>      ◦  Fix: specific orders. Name the file, the goal, the constraint, what success looks like.</a:t>
            </a:r>
          </a:p>
          <a:p>
            <a:pPr algn="l">
              <a:spcBef>
                <a:spcPts val="700"/>
              </a:spcBef>
            </a:pPr>
            <a:r>
              <a:rPr sz="1500" b="0">
                <a:solidFill>
                  <a:srgbClr val="FFFFFF"/>
                </a:solidFill>
                <a:latin typeface="Calibri"/>
              </a:rPr>
              <a:t>  ›  Mistake 3: Automation Fallacy</a:t>
            </a:r>
          </a:p>
          <a:p>
            <a:pPr algn="l">
              <a:spcBef>
                <a:spcPts val="300"/>
              </a:spcBef>
            </a:pPr>
            <a:r>
              <a:rPr sz="1300" b="0">
                <a:solidFill>
                  <a:srgbClr val="A8B4C8"/>
                </a:solidFill>
                <a:latin typeface="Calibri"/>
              </a:rPr>
              <a:t>      ◦  You chain build, test, and deploy. One step fails silently. Broken output ships.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Fix for automation fallacy: verify intermediate results. Chain actions with verification between each step — never run the full pipeline blind.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Golden Rule</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If you don't understand what Claude is about to do — don't let it do it.</a:t>
            </a:r>
          </a:p>
          <a:p>
            <a:pPr algn="l">
              <a:spcBef>
                <a:spcPts val="700"/>
              </a:spcBef>
            </a:pPr>
            <a:r>
              <a:rPr sz="1500" b="0">
                <a:solidFill>
                  <a:srgbClr val="FFFFFF"/>
                </a:solidFill>
                <a:latin typeface="Calibri"/>
              </a:rPr>
              <a:t>  ›  Ask Claude to explain before approving any consequential action.</a:t>
            </a:r>
          </a:p>
          <a:p>
            <a:pPr algn="l">
              <a:spcBef>
                <a:spcPts val="700"/>
              </a:spcBef>
            </a:pPr>
            <a:r>
              <a:rPr sz="1500" b="0">
                <a:solidFill>
                  <a:srgbClr val="FFFFFF"/>
                </a:solidFill>
                <a:latin typeface="Calibri"/>
              </a:rPr>
              <a:t>  ›  You are the operator. You are responsible for the output.</a:t>
            </a:r>
          </a:p>
          <a:p>
            <a:pPr algn="l">
              <a:spcBef>
                <a:spcPts val="700"/>
              </a:spcBef>
            </a:pPr>
            <a:r>
              <a:rPr sz="1500" b="0">
                <a:solidFill>
                  <a:srgbClr val="FFFFFF"/>
                </a:solidFill>
                <a:latin typeface="Calibri"/>
              </a:rPr>
              <a:t>  ›  The supervision loop:</a:t>
            </a:r>
          </a:p>
          <a:p>
            <a:pPr algn="l">
              <a:spcBef>
                <a:spcPts val="300"/>
              </a:spcBef>
            </a:pPr>
            <a:r>
              <a:rPr sz="1300" b="0">
                <a:solidFill>
                  <a:srgbClr val="A8B4C8"/>
                </a:solidFill>
                <a:latin typeface="Calibri"/>
              </a:rPr>
              <a:t>      ◦  You specify → Claude clarifies → You confirm → Claude acts → You review → Claude adjusts → You approve</a:t>
            </a:r>
          </a:p>
          <a:p>
            <a:pPr algn="l">
              <a:spcBef>
                <a:spcPts val="700"/>
              </a:spcBef>
            </a:pPr>
            <a:r>
              <a:rPr sz="1500" b="0">
                <a:solidFill>
                  <a:srgbClr val="FFFFFF"/>
                </a:solidFill>
                <a:latin typeface="Calibri"/>
              </a:rPr>
              <a:t>  ›  You are at every decision point. Claude executes and reports back.</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If Claude says 'I'll clean up the database' and you don't understand the change — ask first. Review before execution. Always.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Claude has been running a long session and proposes to 'clean up the database by removing duplicate records.' It sounds reasonable.
What questions do you ask before approving this action?
What could go wrong if you approve without reviewing?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Operator Posture and Supervision</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Give Claude a task with a vague brief: 'Improve my code.' Read what it produces.</a:t>
            </a:r>
          </a:p>
          <a:p>
            <a:pPr algn="l">
              <a:spcBef>
                <a:spcPts val="1000"/>
              </a:spcBef>
            </a:pPr>
            <a:r>
              <a:rPr sz="1400" b="0">
                <a:solidFill>
                  <a:srgbClr val="FFFFFF"/>
                </a:solidFill>
                <a:latin typeface="Calibri"/>
              </a:rPr>
              <a:t>  2.   Give the same task with a specific brief: name the file, the goal, the constraint, what success looks like.</a:t>
            </a:r>
          </a:p>
          <a:p>
            <a:pPr algn="l">
              <a:spcBef>
                <a:spcPts val="1000"/>
              </a:spcBef>
            </a:pPr>
            <a:r>
              <a:rPr sz="1400" b="0">
                <a:solidFill>
                  <a:srgbClr val="FFFFFF"/>
                </a:solidFill>
                <a:latin typeface="Calibri"/>
              </a:rPr>
              <a:t>  3.   Compare. Which result could you review and approve without asking follow-up questions?</a:t>
            </a:r>
          </a:p>
          <a:p>
            <a:pPr algn="l">
              <a:spcBef>
                <a:spcPts val="1000"/>
              </a:spcBef>
            </a:pPr>
            <a:r>
              <a:rPr sz="1400" b="0">
                <a:solidFill>
                  <a:srgbClr val="FFFFFF"/>
                </a:solidFill>
                <a:latin typeface="Calibri"/>
              </a:rPr>
              <a:t>  4.   Label your vague brief: which supervision failure mode does it most resemble?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Two mission briefs — one handwritten with no detail, one full 5-paragraph OPORD]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Operator Posture and Supervision</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Active supervision: you review at each step and intervene before consequential actions execute.</a:t>
            </a:r>
          </a:p>
          <a:p>
            <a:pPr algn="l">
              <a:spcBef>
                <a:spcPts val="1400"/>
              </a:spcBef>
            </a:pPr>
            <a:r>
              <a:rPr sz="1600" b="0">
                <a:solidFill>
                  <a:srgbClr val="FFFFFF"/>
                </a:solidFill>
                <a:latin typeface="Calibri"/>
              </a:rPr>
              <a:t>  ›  Three failure modes: over-trust, under-involvement, automation fallacy.</a:t>
            </a:r>
          </a:p>
          <a:p>
            <a:pPr algn="l">
              <a:spcBef>
                <a:spcPts val="1400"/>
              </a:spcBef>
            </a:pPr>
            <a:r>
              <a:rPr sz="1600" b="0">
                <a:solidFill>
                  <a:srgbClr val="FFFFFF"/>
                </a:solidFill>
                <a:latin typeface="Calibri"/>
              </a:rPr>
              <a:t>  ›  The agent is a motivated PFC — capable and eager, but needs clear orders and oversight.</a:t>
            </a:r>
          </a:p>
          <a:p>
            <a:pPr algn="l">
              <a:spcBef>
                <a:spcPts val="1400"/>
              </a:spcBef>
            </a:pPr>
            <a:r>
              <a:rPr sz="1600" b="0">
                <a:solidFill>
                  <a:srgbClr val="FFFFFF"/>
                </a:solidFill>
                <a:latin typeface="Calibri"/>
              </a:rPr>
              <a:t>  ›  You own the output. The capability does not transfer the accountability.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06</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06</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Cost-Consciousness
as a Core Skill</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Efficiency is not optional — it is the difference between a sustainable workflow and one that burns the budget on noise.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Logistics NCO tracking supply expenditures against a limited budget line]</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Three Cost Dimensions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Dimension 1: Token Cost</a:t>
            </a:r>
          </a:p>
          <a:p>
            <a:pPr algn="l">
              <a:spcBef>
                <a:spcPts val="300"/>
              </a:spcBef>
            </a:pPr>
            <a:r>
              <a:rPr sz="1300" b="0">
                <a:solidFill>
                  <a:srgbClr val="A8B4C8"/>
                </a:solidFill>
                <a:latin typeface="Calibri"/>
              </a:rPr>
              <a:t>      ◦  Every input token costs money. Every output token costs more. 100k session = 10x a 10k session.</a:t>
            </a:r>
          </a:p>
          <a:p>
            <a:pPr algn="l">
              <a:spcBef>
                <a:spcPts val="700"/>
              </a:spcBef>
            </a:pPr>
            <a:r>
              <a:rPr sz="1500" b="0">
                <a:solidFill>
                  <a:srgbClr val="FFFFFF"/>
                </a:solidFill>
                <a:latin typeface="Calibri"/>
              </a:rPr>
              <a:t>  ›  Dimension 2: Time Cost</a:t>
            </a:r>
          </a:p>
          <a:p>
            <a:pPr algn="l">
              <a:spcBef>
                <a:spcPts val="300"/>
              </a:spcBef>
            </a:pPr>
            <a:r>
              <a:rPr sz="1300" b="0">
                <a:solidFill>
                  <a:srgbClr val="A8B4C8"/>
                </a:solidFill>
                <a:latin typeface="Calibri"/>
              </a:rPr>
              <a:t>      ◦  Longer conversations take longer. More tool calls take longer. Dead time adds up.</a:t>
            </a:r>
          </a:p>
          <a:p>
            <a:pPr algn="l">
              <a:spcBef>
                <a:spcPts val="700"/>
              </a:spcBef>
            </a:pPr>
            <a:r>
              <a:rPr sz="1500" b="0">
                <a:solidFill>
                  <a:srgbClr val="FFFFFF"/>
                </a:solidFill>
                <a:latin typeface="Calibri"/>
              </a:rPr>
              <a:t>  ›  Dimension 3: Iteration Cost</a:t>
            </a:r>
          </a:p>
          <a:p>
            <a:pPr algn="l">
              <a:spcBef>
                <a:spcPts val="300"/>
              </a:spcBef>
            </a:pPr>
            <a:r>
              <a:rPr sz="1300" b="0">
                <a:solidFill>
                  <a:srgbClr val="A8B4C8"/>
                </a:solidFill>
                <a:latin typeface="Calibri"/>
              </a:rPr>
              <a:t>      ◦  10 iterations to get it right = 10x the tokens. One clear prompt beats five vague ones.</a:t>
            </a:r>
          </a:p>
          <a:p>
            <a:pPr algn="l">
              <a:spcBef>
                <a:spcPts val="700"/>
              </a:spcBef>
            </a:pPr>
            <a:r>
              <a:rPr sz="1500" b="0">
                <a:solidFill>
                  <a:srgbClr val="FFFFFF"/>
                </a:solidFill>
                <a:latin typeface="Calibri"/>
              </a:rPr>
              <a:t>  ›  Efficient communication is the gate to everything else.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Five Cost-Conscious Behaviors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1. Write clear, structured prompts first — not verbose ones.</a:t>
            </a:r>
          </a:p>
          <a:p>
            <a:pPr algn="l">
              <a:spcBef>
                <a:spcPts val="700"/>
              </a:spcBef>
            </a:pPr>
            <a:r>
              <a:rPr sz="1500" b="0">
                <a:solidFill>
                  <a:srgbClr val="FFFFFF"/>
                </a:solidFill>
                <a:latin typeface="Calibri"/>
              </a:rPr>
              <a:t>  ›  2. Use tools to read files instead of pasting large documents into the prompt.</a:t>
            </a:r>
          </a:p>
          <a:p>
            <a:pPr algn="l">
              <a:spcBef>
                <a:spcPts val="700"/>
              </a:spcBef>
            </a:pPr>
            <a:r>
              <a:rPr sz="1500" b="0">
                <a:solidFill>
                  <a:srgbClr val="FFFFFF"/>
                </a:solidFill>
                <a:latin typeface="Calibri"/>
              </a:rPr>
              <a:t>  ›  3. Iterate tightly — review immediately, not a day later.</a:t>
            </a:r>
          </a:p>
          <a:p>
            <a:pPr algn="l">
              <a:spcBef>
                <a:spcPts val="700"/>
              </a:spcBef>
            </a:pPr>
            <a:r>
              <a:rPr sz="1500" b="0">
                <a:solidFill>
                  <a:srgbClr val="FFFFFF"/>
                </a:solidFill>
                <a:latin typeface="Calibri"/>
              </a:rPr>
              <a:t>  ›  4. Know when to ask Claude vs. when to solve it yourself.</a:t>
            </a:r>
          </a:p>
          <a:p>
            <a:pPr algn="l">
              <a:spcBef>
                <a:spcPts val="300"/>
              </a:spcBef>
            </a:pPr>
            <a:r>
              <a:rPr sz="1300" b="0">
                <a:solidFill>
                  <a:srgbClr val="A8B4C8"/>
                </a:solidFill>
                <a:latin typeface="Calibri"/>
              </a:rPr>
              <a:t>      ◦  Use Claude: architectural decisions, complex logic, unfamiliar code.</a:t>
            </a:r>
          </a:p>
          <a:p>
            <a:pPr algn="l">
              <a:spcBef>
                <a:spcPts val="300"/>
              </a:spcBef>
            </a:pPr>
            <a:r>
              <a:rPr sz="1300" b="0">
                <a:solidFill>
                  <a:srgbClr val="A8B4C8"/>
                </a:solidFill>
                <a:latin typeface="Calibri"/>
              </a:rPr>
              <a:t>      ◦  Use search: syntax lookups, simple API questions, quick references.</a:t>
            </a:r>
          </a:p>
          <a:p>
            <a:pPr algn="l">
              <a:spcBef>
                <a:spcPts val="700"/>
              </a:spcBef>
            </a:pPr>
            <a:r>
              <a:rPr sz="1500" b="0">
                <a:solidFill>
                  <a:srgbClr val="FFFFFF"/>
                </a:solidFill>
                <a:latin typeface="Calibri"/>
              </a:rPr>
              <a:t>  ›  5. Plan before you build. 5 minutes planning often saves 50 minutes of iteration.</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One clear prompt beats five vague ones every time. Iteration is where cost hides — not in the prompt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need to debug a slow API endpoint.
You have the endpoint's source file, the database schema, and the server logs.
What is the most cost-efficient way to give Claude what it needs?
What would the expensive version look like?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Cost-Consciousness</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Write a prompt you would normally send to Claude for help with a task.</a:t>
            </a:r>
          </a:p>
          <a:p>
            <a:pPr algn="l">
              <a:spcBef>
                <a:spcPts val="1000"/>
              </a:spcBef>
            </a:pPr>
            <a:r>
              <a:rPr sz="1400" b="0">
                <a:solidFill>
                  <a:srgbClr val="FFFFFF"/>
                </a:solidFill>
                <a:latin typeface="Calibri"/>
              </a:rPr>
              <a:t>  2.   Apply cost-conscious principles: cut repetition, add structure, narrow the scope, specify output format.</a:t>
            </a:r>
          </a:p>
          <a:p>
            <a:pPr algn="l">
              <a:spcBef>
                <a:spcPts val="1000"/>
              </a:spcBef>
            </a:pPr>
            <a:r>
              <a:rPr sz="1400" b="0">
                <a:solidFill>
                  <a:srgbClr val="FFFFFF"/>
                </a:solidFill>
                <a:latin typeface="Calibri"/>
              </a:rPr>
              <a:t>  3.   Count words before and after. Is the revised version clearer and shorter?</a:t>
            </a:r>
          </a:p>
          <a:p>
            <a:pPr algn="l">
              <a:spcBef>
                <a:spcPts val="1000"/>
              </a:spcBef>
            </a:pPr>
            <a:r>
              <a:rPr sz="1400" b="0">
                <a:solidFill>
                  <a:srgbClr val="FFFFFF"/>
                </a:solidFill>
                <a:latin typeface="Calibri"/>
              </a:rPr>
              <a:t>  4.   Submit the revised prompt. Did you get a usable first response, or still need multiple follow-ups?</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editing a draft operations order — cutting lines, tightening the mission statement]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Cost-Consciousness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Three cost dimensions: token cost, time cost, iteration cost.</a:t>
            </a:r>
          </a:p>
          <a:p>
            <a:pPr algn="l">
              <a:spcBef>
                <a:spcPts val="1400"/>
              </a:spcBef>
            </a:pPr>
            <a:r>
              <a:rPr sz="1600" b="0">
                <a:solidFill>
                  <a:srgbClr val="FFFFFF"/>
                </a:solidFill>
                <a:latin typeface="Calibri"/>
              </a:rPr>
              <a:t>  ›  Structured prompts reduce iterations — which is where most cost actually hides.</a:t>
            </a:r>
          </a:p>
          <a:p>
            <a:pPr algn="l">
              <a:spcBef>
                <a:spcPts val="1400"/>
              </a:spcBef>
            </a:pPr>
            <a:r>
              <a:rPr sz="1600" b="0">
                <a:solidFill>
                  <a:srgbClr val="FFFFFF"/>
                </a:solidFill>
                <a:latin typeface="Calibri"/>
              </a:rPr>
              <a:t>  ›  Use tools to read files instead of pasting large documents.</a:t>
            </a:r>
          </a:p>
          <a:p>
            <a:pPr algn="l">
              <a:spcBef>
                <a:spcPts val="1400"/>
              </a:spcBef>
            </a:pPr>
            <a:r>
              <a:rPr sz="1600" b="0">
                <a:solidFill>
                  <a:srgbClr val="FFFFFF"/>
                </a:solidFill>
                <a:latin typeface="Calibri"/>
              </a:rPr>
              <a:t>  ›  Plan before you build. Five minutes planning saves fifty minutes of iteration.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07</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07</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Worked
Examples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All six mental models in action on scenarios you will actually face.</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After-action review board — soldiers analyzing what went right and wrong]</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Example 1: The Harness in Action</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Intelligence summary from raw source documents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WITHOUT THE HARNESS:</a:t>
            </a:r>
          </a:p>
          <a:p>
            <a:pPr algn="l">
              <a:spcBef>
                <a:spcPts val="300"/>
              </a:spcBef>
            </a:pPr>
            <a:r>
              <a:rPr sz="1200" b="0">
                <a:solidFill>
                  <a:srgbClr val="A8B4C8"/>
                </a:solidFill>
                <a:latin typeface="Calibri"/>
              </a:rPr>
              <a:t>  You: "Write an intel summary on adversary logistics activity."</a:t>
            </a:r>
          </a:p>
          <a:p>
            <a:pPr algn="l">
              <a:spcBef>
                <a:spcPts val="300"/>
              </a:spcBef>
            </a:pPr>
            <a:r>
              <a:rPr sz="1200" b="0">
                <a:solidFill>
                  <a:srgbClr val="A8B4C8"/>
                </a:solidFill>
                <a:latin typeface="Calibri"/>
              </a:rPr>
              <a:t>  Claude generates from training data. Two claims unverifiable. Brief gets pulled.</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WITH THE HARNESS:</a:t>
            </a:r>
          </a:p>
          <a:p>
            <a:pPr algn="l">
              <a:spcBef>
                <a:spcPts val="300"/>
              </a:spcBef>
            </a:pPr>
            <a:r>
              <a:rPr sz="1200" b="0">
                <a:solidFill>
                  <a:srgbClr val="A8B4C8"/>
                </a:solidFill>
                <a:latin typeface="Calibri"/>
              </a:rPr>
              <a:t>  You: "Write an intel summary. Read source docs in /reports/AO-North/."</a:t>
            </a:r>
          </a:p>
          <a:p>
            <a:pPr algn="l">
              <a:spcBef>
                <a:spcPts val="300"/>
              </a:spcBef>
            </a:pPr>
            <a:r>
              <a:rPr sz="1200" b="0">
                <a:solidFill>
                  <a:srgbClr val="A8B4C8"/>
                </a:solidFill>
                <a:latin typeface="Calibri"/>
              </a:rPr>
              <a:t>  Claude lists 14 files, reads 11 with relevant content, excludes 3.</a:t>
            </a:r>
          </a:p>
          <a:p>
            <a:pPr algn="l">
              <a:spcBef>
                <a:spcPts val="300"/>
              </a:spcBef>
            </a:pPr>
            <a:r>
              <a:rPr sz="1200" b="0">
                <a:solidFill>
                  <a:srgbClr val="A8B4C8"/>
                </a:solidFill>
                <a:latin typeface="Calibri"/>
              </a:rPr>
              <a:t>  Returns summary with citations — every claim is traceable.</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First approach — you cannot defend the output.</a:t>
            </a:r>
          </a:p>
          <a:p>
            <a:pPr algn="l">
              <a:spcBef>
                <a:spcPts val="300"/>
              </a:spcBef>
            </a:pPr>
            <a:r>
              <a:rPr sz="1200" b="0">
                <a:solidFill>
                  <a:srgbClr val="FFFFFF"/>
                </a:solidFill>
                <a:latin typeface="Calibri"/>
              </a:rPr>
              <a:t>Second approach — every claim traces to a source file.</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Analyst comparing raw source documents to a final intelligence product]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Example 2: Context Windows and Smart Sampling</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Find all mentions of a grid coordinate across 500 field reports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BAD APPROACH:</a:t>
            </a:r>
          </a:p>
          <a:p>
            <a:pPr algn="l">
              <a:spcBef>
                <a:spcPts val="300"/>
              </a:spcBef>
            </a:pPr>
            <a:r>
              <a:rPr sz="1200" b="0">
                <a:solidFill>
                  <a:srgbClr val="A8B4C8"/>
                </a:solidFill>
                <a:latin typeface="Calibri"/>
              </a:rPr>
              <a:t>  Paste all 500 reports (100,000 tokens) into the chat.</a:t>
            </a:r>
          </a:p>
          <a:p>
            <a:pPr algn="l">
              <a:spcBef>
                <a:spcPts val="300"/>
              </a:spcBef>
            </a:pPr>
            <a:r>
              <a:rPr sz="1200" b="0">
                <a:solidFill>
                  <a:srgbClr val="A8B4C8"/>
                </a:solidFill>
                <a:latin typeface="Calibri"/>
              </a:rPr>
              <a:t>  Claude overwhelmed. Results incomplete. Coverage unverifiable.</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GOOD APPROACH:</a:t>
            </a:r>
          </a:p>
          <a:p>
            <a:pPr algn="l">
              <a:spcBef>
                <a:spcPts val="300"/>
              </a:spcBef>
            </a:pPr>
            <a:r>
              <a:rPr sz="1200" b="0">
                <a:solidFill>
                  <a:srgbClr val="A8B4C8"/>
                </a:solidFill>
                <a:latin typeface="Calibri"/>
              </a:rPr>
              <a:t>  "Search /reports/field/ for grid 38SMB4521. Return excerpts with filenames."</a:t>
            </a:r>
          </a:p>
          <a:p>
            <a:pPr algn="l">
              <a:spcBef>
                <a:spcPts val="300"/>
              </a:spcBef>
            </a:pPr>
            <a:r>
              <a:rPr sz="1200" b="0">
                <a:solidFill>
                  <a:srgbClr val="A8B4C8"/>
                </a:solidFill>
                <a:latin typeface="Calibri"/>
              </a:rPr>
              <a:t>  Claude: lists 500 files → grep finds 7 matches → reads those 7 files.</a:t>
            </a:r>
          </a:p>
          <a:p>
            <a:pPr algn="l">
              <a:spcBef>
                <a:spcPts val="300"/>
              </a:spcBef>
            </a:pPr>
            <a:r>
              <a:rPr sz="1200" b="0">
                <a:solidFill>
                  <a:srgbClr val="A8B4C8"/>
                </a:solidFill>
                <a:latin typeface="Calibri"/>
              </a:rPr>
              <a:t>  Returns 9 mentions across 7 reports. Complete and traceable.</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Context cost — Bad: 100,000 tokens.  Good: ~20,000 tokens.</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Targeted database search vs. reading an entire stack of paper reports]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Example 4: Operator Supervision Preventing a Bad Product</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Drafting a SITREP from unstructured notes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WITHOUT SUPERVISION (over-trust):</a:t>
            </a:r>
          </a:p>
          <a:p>
            <a:pPr algn="l">
              <a:spcBef>
                <a:spcPts val="300"/>
              </a:spcBef>
            </a:pPr>
            <a:r>
              <a:rPr sz="1200" b="0">
                <a:solidFill>
                  <a:srgbClr val="A8B4C8"/>
                </a:solidFill>
                <a:latin typeface="Calibri"/>
              </a:rPr>
              <a:t>  You: "Draft a SITREP from my notes."</a:t>
            </a:r>
          </a:p>
          <a:p>
            <a:pPr algn="l">
              <a:spcBef>
                <a:spcPts val="300"/>
              </a:spcBef>
            </a:pPr>
            <a:r>
              <a:rPr sz="1200" b="0">
                <a:solidFill>
                  <a:srgbClr val="A8B4C8"/>
                </a:solidFill>
                <a:latin typeface="Calibri"/>
              </a:rPr>
              <a:t>  Claude infers a casualty figure not in your notes. You don't review. You submit.</a:t>
            </a:r>
          </a:p>
          <a:p>
            <a:pPr algn="l">
              <a:spcBef>
                <a:spcPts val="300"/>
              </a:spcBef>
            </a:pPr>
            <a:r>
              <a:rPr sz="1200" b="0">
                <a:solidFill>
                  <a:srgbClr val="A8B4C8"/>
                </a:solidFill>
                <a:latin typeface="Calibri"/>
              </a:rPr>
              <a:t>  Correction required. Trust degraded.</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WITH SUPERVISION (active oversight):</a:t>
            </a:r>
          </a:p>
          <a:p>
            <a:pPr algn="l">
              <a:spcBef>
                <a:spcPts val="300"/>
              </a:spcBef>
            </a:pPr>
            <a:r>
              <a:rPr sz="1200" b="0">
                <a:solidFill>
                  <a:srgbClr val="A8B4C8"/>
                </a:solidFill>
                <a:latin typeface="Calibri"/>
              </a:rPr>
              <a:t>  You: "Draft SITREP from /notes/0600-update.txt. Use only that file. Flag gaps."</a:t>
            </a:r>
          </a:p>
          <a:p>
            <a:pPr algn="l">
              <a:spcBef>
                <a:spcPts val="300"/>
              </a:spcBef>
            </a:pPr>
            <a:r>
              <a:rPr sz="1200" b="0">
                <a:solidFill>
                  <a:srgbClr val="A8B4C8"/>
                </a:solidFill>
                <a:latin typeface="Calibri"/>
              </a:rPr>
              <a:t>  Claude drafts, flags two required fields, traces every claim to source lines.</a:t>
            </a:r>
          </a:p>
          <a:p>
            <a:pPr algn="l">
              <a:spcBef>
                <a:spcPts val="300"/>
              </a:spcBef>
            </a:pPr>
            <a:r>
              <a:rPr sz="1200" b="0">
                <a:solidFill>
                  <a:srgbClr val="A8B4C8"/>
                </a:solidFill>
                <a:latin typeface="Calibri"/>
              </a:rPr>
              <a:t>  You fill the gaps with verified data. Defensible product.</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NCO reviewing a SITREP line-by-line before initialing and passing it up]</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The Six Mental Models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89888"/>
            <a:ext cx="11365992" cy="384048"/>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44752"/>
            <a:ext cx="2651760" cy="384048"/>
          </a:xfrm>
          <a:prstGeom prst="rect">
            <a:avLst/>
          </a:prstGeom>
          <a:noFill/>
        </p:spPr>
        <p:txBody>
          <a:bodyPr wrap="square">
            <a:spAutoFit/>
          </a:bodyPr>
          <a:lstStyle/>
          <a:p>
            <a:pPr algn="l"/>
            <a:r>
              <a:rPr sz="1100" b="1" i="0">
                <a:solidFill>
                  <a:srgbClr val="0A0C14"/>
                </a:solidFill>
                <a:latin typeface="Calibri"/>
              </a:rPr>
              <a:t>MODEL</a:t>
            </a:r>
          </a:p>
        </p:txBody>
      </p:sp>
      <p:sp>
        <p:nvSpPr>
          <p:cNvPr id="9" name="TextBox 8"/>
          <p:cNvSpPr txBox="1"/>
          <p:nvPr/>
        </p:nvSpPr>
        <p:spPr>
          <a:xfrm>
            <a:off x="3291840" y="1444752"/>
            <a:ext cx="4023360" cy="384048"/>
          </a:xfrm>
          <a:prstGeom prst="rect">
            <a:avLst/>
          </a:prstGeom>
          <a:noFill/>
        </p:spPr>
        <p:txBody>
          <a:bodyPr wrap="square">
            <a:spAutoFit/>
          </a:bodyPr>
          <a:lstStyle/>
          <a:p>
            <a:pPr algn="l"/>
            <a:r>
              <a:rPr sz="1100" b="1" i="0">
                <a:solidFill>
                  <a:srgbClr val="0A0C14"/>
                </a:solidFill>
                <a:latin typeface="Calibri"/>
              </a:rPr>
              <a:t>CORE IDEA</a:t>
            </a:r>
          </a:p>
        </p:txBody>
      </p:sp>
      <p:sp>
        <p:nvSpPr>
          <p:cNvPr id="10" name="TextBox 9"/>
          <p:cNvSpPr txBox="1"/>
          <p:nvPr/>
        </p:nvSpPr>
        <p:spPr>
          <a:xfrm>
            <a:off x="7498080" y="1444752"/>
            <a:ext cx="4572000" cy="384048"/>
          </a:xfrm>
          <a:prstGeom prst="rect">
            <a:avLst/>
          </a:prstGeom>
          <a:noFill/>
        </p:spPr>
        <p:txBody>
          <a:bodyPr wrap="square">
            <a:spAutoFit/>
          </a:bodyPr>
          <a:lstStyle/>
          <a:p>
            <a:pPr algn="l"/>
            <a:r>
              <a:rPr sz="1100" b="1" i="0">
                <a:solidFill>
                  <a:srgbClr val="0A0C14"/>
                </a:solidFill>
                <a:latin typeface="Calibri"/>
              </a:rPr>
              <a:t>WHY IT MATTERS</a:t>
            </a:r>
          </a:p>
        </p:txBody>
      </p:sp>
      <p:sp>
        <p:nvSpPr>
          <p:cNvPr id="11" name="Rectangle 10"/>
          <p:cNvSpPr/>
          <p:nvPr/>
        </p:nvSpPr>
        <p:spPr>
          <a:xfrm>
            <a:off x="411480" y="1773936"/>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7393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847088"/>
            <a:ext cx="2514600" cy="731520"/>
          </a:xfrm>
          <a:prstGeom prst="rect">
            <a:avLst/>
          </a:prstGeom>
          <a:noFill/>
        </p:spPr>
        <p:txBody>
          <a:bodyPr wrap="square">
            <a:spAutoFit/>
          </a:bodyPr>
          <a:lstStyle/>
          <a:p>
            <a:pPr algn="l"/>
            <a:r>
              <a:rPr sz="1100" b="1" i="0">
                <a:solidFill>
                  <a:srgbClr val="00B4FF"/>
                </a:solidFill>
                <a:latin typeface="Calibri"/>
              </a:rPr>
              <a:t>The Harness</a:t>
            </a:r>
          </a:p>
        </p:txBody>
      </p:sp>
      <p:sp>
        <p:nvSpPr>
          <p:cNvPr id="14" name="TextBox 13"/>
          <p:cNvSpPr txBox="1"/>
          <p:nvPr/>
        </p:nvSpPr>
        <p:spPr>
          <a:xfrm>
            <a:off x="3310128" y="1847088"/>
            <a:ext cx="3886200" cy="731520"/>
          </a:xfrm>
          <a:prstGeom prst="rect">
            <a:avLst/>
          </a:prstGeom>
          <a:noFill/>
        </p:spPr>
        <p:txBody>
          <a:bodyPr wrap="square">
            <a:spAutoFit/>
          </a:bodyPr>
          <a:lstStyle/>
          <a:p>
            <a:pPr algn="l"/>
            <a:r>
              <a:rPr sz="1100" b="0" i="0">
                <a:solidFill>
                  <a:srgbClr val="FFFFFF"/>
                </a:solidFill>
                <a:latin typeface="Calibri"/>
              </a:rPr>
              <a:t>LLM + tools = agency</a:t>
            </a:r>
          </a:p>
        </p:txBody>
      </p:sp>
      <p:sp>
        <p:nvSpPr>
          <p:cNvPr id="15" name="TextBox 14"/>
          <p:cNvSpPr txBox="1"/>
          <p:nvPr/>
        </p:nvSpPr>
        <p:spPr>
          <a:xfrm>
            <a:off x="7516368" y="1847088"/>
            <a:ext cx="4434840" cy="731520"/>
          </a:xfrm>
          <a:prstGeom prst="rect">
            <a:avLst/>
          </a:prstGeom>
          <a:noFill/>
        </p:spPr>
        <p:txBody>
          <a:bodyPr wrap="square">
            <a:spAutoFit/>
          </a:bodyPr>
          <a:lstStyle/>
          <a:p>
            <a:pPr algn="l"/>
            <a:r>
              <a:rPr sz="1100" b="0" i="0">
                <a:solidFill>
                  <a:srgbClr val="A8B4C8"/>
                </a:solidFill>
                <a:latin typeface="Calibri"/>
              </a:rPr>
              <a:t>Without tools, Claude is a chatbot. With tools, a collaborator.</a:t>
            </a:r>
          </a:p>
        </p:txBody>
      </p:sp>
      <p:sp>
        <p:nvSpPr>
          <p:cNvPr id="16" name="Rectangle 15"/>
          <p:cNvSpPr/>
          <p:nvPr/>
        </p:nvSpPr>
        <p:spPr>
          <a:xfrm>
            <a:off x="411480" y="2532888"/>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53288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606040"/>
            <a:ext cx="2514600" cy="731520"/>
          </a:xfrm>
          <a:prstGeom prst="rect">
            <a:avLst/>
          </a:prstGeom>
          <a:noFill/>
        </p:spPr>
        <p:txBody>
          <a:bodyPr wrap="square">
            <a:spAutoFit/>
          </a:bodyPr>
          <a:lstStyle/>
          <a:p>
            <a:pPr algn="l"/>
            <a:r>
              <a:rPr sz="1100" b="1" i="0">
                <a:solidFill>
                  <a:srgbClr val="00B4FF"/>
                </a:solidFill>
                <a:latin typeface="Calibri"/>
              </a:rPr>
              <a:t>Context Windows</a:t>
            </a:r>
          </a:p>
        </p:txBody>
      </p:sp>
      <p:sp>
        <p:nvSpPr>
          <p:cNvPr id="19" name="TextBox 18"/>
          <p:cNvSpPr txBox="1"/>
          <p:nvPr/>
        </p:nvSpPr>
        <p:spPr>
          <a:xfrm>
            <a:off x="3310128" y="2606040"/>
            <a:ext cx="3886200" cy="731520"/>
          </a:xfrm>
          <a:prstGeom prst="rect">
            <a:avLst/>
          </a:prstGeom>
          <a:noFill/>
        </p:spPr>
        <p:txBody>
          <a:bodyPr wrap="square">
            <a:spAutoFit/>
          </a:bodyPr>
          <a:lstStyle/>
          <a:p>
            <a:pPr algn="l"/>
            <a:r>
              <a:rPr sz="1100" b="0" i="0">
                <a:solidFill>
                  <a:srgbClr val="FFFFFF"/>
                </a:solidFill>
                <a:latin typeface="Calibri"/>
              </a:rPr>
              <a:t>Limited working memory</a:t>
            </a:r>
          </a:p>
        </p:txBody>
      </p:sp>
      <p:sp>
        <p:nvSpPr>
          <p:cNvPr id="20" name="TextBox 19"/>
          <p:cNvSpPr txBox="1"/>
          <p:nvPr/>
        </p:nvSpPr>
        <p:spPr>
          <a:xfrm>
            <a:off x="7516368" y="2606040"/>
            <a:ext cx="4434840" cy="731520"/>
          </a:xfrm>
          <a:prstGeom prst="rect">
            <a:avLst/>
          </a:prstGeom>
          <a:noFill/>
        </p:spPr>
        <p:txBody>
          <a:bodyPr wrap="square">
            <a:spAutoFit/>
          </a:bodyPr>
          <a:lstStyle/>
          <a:p>
            <a:pPr algn="l"/>
            <a:r>
              <a:rPr sz="1100" b="0" i="0">
                <a:solidFill>
                  <a:srgbClr val="A8B4C8"/>
                </a:solidFill>
                <a:latin typeface="Calibri"/>
              </a:rPr>
              <a:t>Use tools to read on-demand. Don't cram everything into context.</a:t>
            </a:r>
          </a:p>
        </p:txBody>
      </p:sp>
      <p:sp>
        <p:nvSpPr>
          <p:cNvPr id="21" name="Rectangle 20"/>
          <p:cNvSpPr/>
          <p:nvPr/>
        </p:nvSpPr>
        <p:spPr>
          <a:xfrm>
            <a:off x="411480" y="3291840"/>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291840"/>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364992"/>
            <a:ext cx="2514600" cy="731520"/>
          </a:xfrm>
          <a:prstGeom prst="rect">
            <a:avLst/>
          </a:prstGeom>
          <a:noFill/>
        </p:spPr>
        <p:txBody>
          <a:bodyPr wrap="square">
            <a:spAutoFit/>
          </a:bodyPr>
          <a:lstStyle/>
          <a:p>
            <a:pPr algn="l"/>
            <a:r>
              <a:rPr sz="1100" b="1" i="0">
                <a:solidFill>
                  <a:srgbClr val="00B4FF"/>
                </a:solidFill>
                <a:latin typeface="Calibri"/>
              </a:rPr>
              <a:t>Tokens as Currency</a:t>
            </a:r>
          </a:p>
        </p:txBody>
      </p:sp>
      <p:sp>
        <p:nvSpPr>
          <p:cNvPr id="24" name="TextBox 23"/>
          <p:cNvSpPr txBox="1"/>
          <p:nvPr/>
        </p:nvSpPr>
        <p:spPr>
          <a:xfrm>
            <a:off x="3310128" y="3364992"/>
            <a:ext cx="3886200" cy="731520"/>
          </a:xfrm>
          <a:prstGeom prst="rect">
            <a:avLst/>
          </a:prstGeom>
          <a:noFill/>
        </p:spPr>
        <p:txBody>
          <a:bodyPr wrap="square">
            <a:spAutoFit/>
          </a:bodyPr>
          <a:lstStyle/>
          <a:p>
            <a:pPr algn="l"/>
            <a:r>
              <a:rPr sz="1100" b="0" i="0">
                <a:solidFill>
                  <a:srgbClr val="FFFFFF"/>
                </a:solidFill>
                <a:latin typeface="Calibri"/>
              </a:rPr>
              <a:t>Every token costs time and money</a:t>
            </a:r>
          </a:p>
        </p:txBody>
      </p:sp>
      <p:sp>
        <p:nvSpPr>
          <p:cNvPr id="25" name="TextBox 24"/>
          <p:cNvSpPr txBox="1"/>
          <p:nvPr/>
        </p:nvSpPr>
        <p:spPr>
          <a:xfrm>
            <a:off x="7516368" y="3364992"/>
            <a:ext cx="4434840" cy="731520"/>
          </a:xfrm>
          <a:prstGeom prst="rect">
            <a:avLst/>
          </a:prstGeom>
          <a:noFill/>
        </p:spPr>
        <p:txBody>
          <a:bodyPr wrap="square">
            <a:spAutoFit/>
          </a:bodyPr>
          <a:lstStyle/>
          <a:p>
            <a:pPr algn="l"/>
            <a:r>
              <a:rPr sz="1100" b="0" i="0">
                <a:solidFill>
                  <a:srgbClr val="A8B4C8"/>
                </a:solidFill>
                <a:latin typeface="Calibri"/>
              </a:rPr>
              <a:t>Concise, structured prompts save iterations and cost.</a:t>
            </a:r>
          </a:p>
        </p:txBody>
      </p:sp>
      <p:sp>
        <p:nvSpPr>
          <p:cNvPr id="26" name="Rectangle 25"/>
          <p:cNvSpPr/>
          <p:nvPr/>
        </p:nvSpPr>
        <p:spPr>
          <a:xfrm>
            <a:off x="411480" y="4050792"/>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050792"/>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4123944"/>
            <a:ext cx="2514600" cy="731520"/>
          </a:xfrm>
          <a:prstGeom prst="rect">
            <a:avLst/>
          </a:prstGeom>
          <a:noFill/>
        </p:spPr>
        <p:txBody>
          <a:bodyPr wrap="square">
            <a:spAutoFit/>
          </a:bodyPr>
          <a:lstStyle/>
          <a:p>
            <a:pPr algn="l"/>
            <a:r>
              <a:rPr sz="1100" b="1" i="0">
                <a:solidFill>
                  <a:srgbClr val="00B4FF"/>
                </a:solidFill>
                <a:latin typeface="Calibri"/>
              </a:rPr>
              <a:t>Tool Calls</a:t>
            </a:r>
          </a:p>
        </p:txBody>
      </p:sp>
      <p:sp>
        <p:nvSpPr>
          <p:cNvPr id="29" name="TextBox 28"/>
          <p:cNvSpPr txBox="1"/>
          <p:nvPr/>
        </p:nvSpPr>
        <p:spPr>
          <a:xfrm>
            <a:off x="3310128" y="4123944"/>
            <a:ext cx="3886200" cy="731520"/>
          </a:xfrm>
          <a:prstGeom prst="rect">
            <a:avLst/>
          </a:prstGeom>
          <a:noFill/>
        </p:spPr>
        <p:txBody>
          <a:bodyPr wrap="square">
            <a:spAutoFit/>
          </a:bodyPr>
          <a:lstStyle/>
          <a:p>
            <a:pPr algn="l"/>
            <a:r>
              <a:rPr sz="1100" b="0" i="0">
                <a:solidFill>
                  <a:srgbClr val="FFFFFF"/>
                </a:solidFill>
                <a:latin typeface="Calibri"/>
              </a:rPr>
              <a:t>Requests that execute outside context</a:t>
            </a:r>
          </a:p>
        </p:txBody>
      </p:sp>
      <p:sp>
        <p:nvSpPr>
          <p:cNvPr id="30" name="TextBox 29"/>
          <p:cNvSpPr txBox="1"/>
          <p:nvPr/>
        </p:nvSpPr>
        <p:spPr>
          <a:xfrm>
            <a:off x="7516368" y="4123944"/>
            <a:ext cx="4434840" cy="731520"/>
          </a:xfrm>
          <a:prstGeom prst="rect">
            <a:avLst/>
          </a:prstGeom>
          <a:noFill/>
        </p:spPr>
        <p:txBody>
          <a:bodyPr wrap="square">
            <a:spAutoFit/>
          </a:bodyPr>
          <a:lstStyle/>
          <a:p>
            <a:pPr algn="l"/>
            <a:r>
              <a:rPr sz="1100" b="0" i="0">
                <a:solidFill>
                  <a:srgbClr val="A8B4C8"/>
                </a:solidFill>
                <a:latin typeface="Calibri"/>
              </a:rPr>
              <a:t>Verification is possible. Hallucinations can be caught.</a:t>
            </a:r>
          </a:p>
        </p:txBody>
      </p:sp>
      <p:sp>
        <p:nvSpPr>
          <p:cNvPr id="31" name="Rectangle 30"/>
          <p:cNvSpPr/>
          <p:nvPr/>
        </p:nvSpPr>
        <p:spPr>
          <a:xfrm>
            <a:off x="411480" y="4809744"/>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809744"/>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882896"/>
            <a:ext cx="2514600" cy="731520"/>
          </a:xfrm>
          <a:prstGeom prst="rect">
            <a:avLst/>
          </a:prstGeom>
          <a:noFill/>
        </p:spPr>
        <p:txBody>
          <a:bodyPr wrap="square">
            <a:spAutoFit/>
          </a:bodyPr>
          <a:lstStyle/>
          <a:p>
            <a:pPr algn="l"/>
            <a:r>
              <a:rPr sz="1100" b="1" i="0">
                <a:solidFill>
                  <a:srgbClr val="00B4FF"/>
                </a:solidFill>
                <a:latin typeface="Calibri"/>
              </a:rPr>
              <a:t>Operator Posture</a:t>
            </a:r>
          </a:p>
        </p:txBody>
      </p:sp>
      <p:sp>
        <p:nvSpPr>
          <p:cNvPr id="34" name="TextBox 33"/>
          <p:cNvSpPr txBox="1"/>
          <p:nvPr/>
        </p:nvSpPr>
        <p:spPr>
          <a:xfrm>
            <a:off x="3310128" y="4882896"/>
            <a:ext cx="3886200" cy="731520"/>
          </a:xfrm>
          <a:prstGeom prst="rect">
            <a:avLst/>
          </a:prstGeom>
          <a:noFill/>
        </p:spPr>
        <p:txBody>
          <a:bodyPr wrap="square">
            <a:spAutoFit/>
          </a:bodyPr>
          <a:lstStyle/>
          <a:p>
            <a:pPr algn="l"/>
            <a:r>
              <a:rPr sz="1100" b="0" i="0">
                <a:solidFill>
                  <a:srgbClr val="FFFFFF"/>
                </a:solidFill>
                <a:latin typeface="Calibri"/>
              </a:rPr>
              <a:t>You supervise, Claude executes</a:t>
            </a:r>
          </a:p>
        </p:txBody>
      </p:sp>
      <p:sp>
        <p:nvSpPr>
          <p:cNvPr id="35" name="TextBox 34"/>
          <p:cNvSpPr txBox="1"/>
          <p:nvPr/>
        </p:nvSpPr>
        <p:spPr>
          <a:xfrm>
            <a:off x="7516368" y="4882896"/>
            <a:ext cx="4434840" cy="731520"/>
          </a:xfrm>
          <a:prstGeom prst="rect">
            <a:avLst/>
          </a:prstGeom>
          <a:noFill/>
        </p:spPr>
        <p:txBody>
          <a:bodyPr wrap="square">
            <a:spAutoFit/>
          </a:bodyPr>
          <a:lstStyle/>
          <a:p>
            <a:pPr algn="l"/>
            <a:r>
              <a:rPr sz="1100" b="0" i="0">
                <a:solidFill>
                  <a:srgbClr val="A8B4C8"/>
                </a:solidFill>
                <a:latin typeface="Calibri"/>
              </a:rPr>
              <a:t>You are responsible. Review before committing. Intervene early.</a:t>
            </a:r>
          </a:p>
        </p:txBody>
      </p:sp>
      <p:sp>
        <p:nvSpPr>
          <p:cNvPr id="36" name="Rectangle 35"/>
          <p:cNvSpPr/>
          <p:nvPr/>
        </p:nvSpPr>
        <p:spPr>
          <a:xfrm>
            <a:off x="411480" y="5568696"/>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1480" y="556869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8" y="5641848"/>
            <a:ext cx="2514600" cy="731520"/>
          </a:xfrm>
          <a:prstGeom prst="rect">
            <a:avLst/>
          </a:prstGeom>
          <a:noFill/>
        </p:spPr>
        <p:txBody>
          <a:bodyPr wrap="square">
            <a:spAutoFit/>
          </a:bodyPr>
          <a:lstStyle/>
          <a:p>
            <a:pPr algn="l"/>
            <a:r>
              <a:rPr sz="1100" b="1" i="0">
                <a:solidFill>
                  <a:srgbClr val="00B4FF"/>
                </a:solidFill>
                <a:latin typeface="Calibri"/>
              </a:rPr>
              <a:t>Cost-Consciousness</a:t>
            </a:r>
          </a:p>
        </p:txBody>
      </p:sp>
      <p:sp>
        <p:nvSpPr>
          <p:cNvPr id="39" name="TextBox 38"/>
          <p:cNvSpPr txBox="1"/>
          <p:nvPr/>
        </p:nvSpPr>
        <p:spPr>
          <a:xfrm>
            <a:off x="3310128" y="5641848"/>
            <a:ext cx="3886200" cy="731520"/>
          </a:xfrm>
          <a:prstGeom prst="rect">
            <a:avLst/>
          </a:prstGeom>
          <a:noFill/>
        </p:spPr>
        <p:txBody>
          <a:bodyPr wrap="square">
            <a:spAutoFit/>
          </a:bodyPr>
          <a:lstStyle/>
          <a:p>
            <a:pPr algn="l"/>
            <a:r>
              <a:rPr sz="1100" b="0" i="0">
                <a:solidFill>
                  <a:srgbClr val="FFFFFF"/>
                </a:solidFill>
                <a:latin typeface="Calibri"/>
              </a:rPr>
              <a:t>Efficiency is a core skill</a:t>
            </a:r>
          </a:p>
        </p:txBody>
      </p:sp>
      <p:sp>
        <p:nvSpPr>
          <p:cNvPr id="40" name="TextBox 39"/>
          <p:cNvSpPr txBox="1"/>
          <p:nvPr/>
        </p:nvSpPr>
        <p:spPr>
          <a:xfrm>
            <a:off x="7516368" y="5641848"/>
            <a:ext cx="4434840" cy="731520"/>
          </a:xfrm>
          <a:prstGeom prst="rect">
            <a:avLst/>
          </a:prstGeom>
          <a:noFill/>
        </p:spPr>
        <p:txBody>
          <a:bodyPr wrap="square">
            <a:spAutoFit/>
          </a:bodyPr>
          <a:lstStyle/>
          <a:p>
            <a:pPr algn="l"/>
            <a:r>
              <a:rPr sz="1100" b="0" i="0">
                <a:solidFill>
                  <a:srgbClr val="A8B4C8"/>
                </a:solidFill>
                <a:latin typeface="Calibri"/>
              </a:rPr>
              <a:t>Plan before building. Iterate tightly. Match model to mission.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explain what the harness is and why tools are required for agency</a:t>
            </a:r>
          </a:p>
          <a:p>
            <a:pPr algn="l">
              <a:spcBef>
                <a:spcPts val="800"/>
              </a:spcBef>
            </a:pPr>
            <a:r>
              <a:rPr sz="1300" b="0">
                <a:solidFill>
                  <a:srgbClr val="A8B4C8"/>
                </a:solidFill>
                <a:latin typeface="Calibri"/>
              </a:rPr>
              <a:t>  ☐   I know the three parts of the engine-harness-operator stack and what each does</a:t>
            </a:r>
          </a:p>
          <a:p>
            <a:pPr algn="l">
              <a:spcBef>
                <a:spcPts val="800"/>
              </a:spcBef>
            </a:pPr>
            <a:r>
              <a:rPr sz="1300" b="0">
                <a:solidFill>
                  <a:srgbClr val="A8B4C8"/>
                </a:solidFill>
                <a:latin typeface="Calibri"/>
              </a:rPr>
              <a:t>  ☐   I can describe what a context window is and what happens when tool results accumulate</a:t>
            </a:r>
          </a:p>
          <a:p>
            <a:pPr algn="l">
              <a:spcBef>
                <a:spcPts val="800"/>
              </a:spcBef>
            </a:pPr>
            <a:r>
              <a:rPr sz="1300" b="0">
                <a:solidFill>
                  <a:srgbClr val="A8B4C8"/>
                </a:solidFill>
                <a:latin typeface="Calibri"/>
              </a:rPr>
              <a:t>  ☐   I understand what tokens cost and can identify the efficient vs. expensive approach</a:t>
            </a:r>
          </a:p>
          <a:p>
            <a:pPr algn="l">
              <a:spcBef>
                <a:spcPts val="800"/>
              </a:spcBef>
            </a:pPr>
            <a:r>
              <a:rPr sz="1300" b="0">
                <a:solidFill>
                  <a:srgbClr val="A8B4C8"/>
                </a:solidFill>
                <a:latin typeface="Calibri"/>
              </a:rPr>
              <a:t>  ☐   I can explain what a tool call is and why it enables verification</a:t>
            </a:r>
          </a:p>
          <a:p>
            <a:pPr algn="l">
              <a:spcBef>
                <a:spcPts val="800"/>
              </a:spcBef>
            </a:pPr>
            <a:r>
              <a:rPr sz="1300" b="0">
                <a:solidFill>
                  <a:srgbClr val="A8B4C8"/>
                </a:solidFill>
                <a:latin typeface="Calibri"/>
              </a:rPr>
              <a:t>  ☐   I know what active supervision means and can name the three ways it breaks down</a:t>
            </a:r>
          </a:p>
          <a:p>
            <a:pPr algn="l">
              <a:spcBef>
                <a:spcPts val="800"/>
              </a:spcBef>
            </a:pPr>
            <a:r>
              <a:rPr sz="1300" b="0">
                <a:solidFill>
                  <a:srgbClr val="A8B4C8"/>
                </a:solidFill>
                <a:latin typeface="Calibri"/>
              </a:rPr>
              <a:t>  ☐   I can identify cost-conscious vs. wasteful prompting behavior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2286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548640"/>
            <a:ext cx="7315200" cy="347472"/>
          </a:xfrm>
          <a:prstGeom prst="rect">
            <a:avLst/>
          </a:prstGeom>
          <a:noFill/>
        </p:spPr>
        <p:txBody>
          <a:bodyPr wrap="square">
            <a:spAutoFit/>
          </a:bodyPr>
          <a:lstStyle/>
          <a:p>
            <a:pPr algn="l"/>
            <a:r>
              <a:rPr sz="1100" b="1" i="0">
                <a:solidFill>
                  <a:srgbClr val="00B4FF"/>
                </a:solidFill>
                <a:latin typeface="Calibri"/>
              </a:rPr>
              <a:t>END OF MODULE</a:t>
            </a:r>
          </a:p>
        </p:txBody>
      </p:sp>
      <p:sp>
        <p:nvSpPr>
          <p:cNvPr id="6" name="TextBox 5"/>
          <p:cNvSpPr txBox="1"/>
          <p:nvPr/>
        </p:nvSpPr>
        <p:spPr>
          <a:xfrm>
            <a:off x="411480" y="1005840"/>
            <a:ext cx="7315200" cy="1828800"/>
          </a:xfrm>
          <a:prstGeom prst="rect">
            <a:avLst/>
          </a:prstGeom>
          <a:noFill/>
        </p:spPr>
        <p:txBody>
          <a:bodyPr wrap="square">
            <a:spAutoFit/>
          </a:bodyPr>
          <a:lstStyle/>
          <a:p>
            <a:pPr algn="l"/>
            <a:r>
              <a:rPr sz="4000" b="1" i="0">
                <a:solidFill>
                  <a:srgbClr val="FFFFFF"/>
                </a:solidFill>
                <a:latin typeface="Calibri"/>
              </a:rPr>
              <a:t>Mental Models for
AI-Assisted Operations</a:t>
            </a:r>
          </a:p>
        </p:txBody>
      </p:sp>
      <p:sp>
        <p:nvSpPr>
          <p:cNvPr id="7" name="Rectangle 6"/>
          <p:cNvSpPr/>
          <p:nvPr/>
        </p:nvSpPr>
        <p:spPr>
          <a:xfrm>
            <a:off x="411480" y="2971800"/>
            <a:ext cx="548640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3657600" cy="320040"/>
          </a:xfrm>
          <a:prstGeom prst="rect">
            <a:avLst/>
          </a:prstGeom>
          <a:noFill/>
        </p:spPr>
        <p:txBody>
          <a:bodyPr wrap="square">
            <a:spAutoFit/>
          </a:bodyPr>
          <a:lstStyle/>
          <a:p>
            <a:pPr algn="l"/>
            <a:r>
              <a:rPr sz="1100" b="1" i="0">
                <a:solidFill>
                  <a:srgbClr val="FFAA00"/>
                </a:solidFill>
                <a:latin typeface="Calibri"/>
              </a:rPr>
              <a:t>NEXT STEPS</a:t>
            </a:r>
          </a:p>
        </p:txBody>
      </p:sp>
      <p:sp>
        <p:nvSpPr>
          <p:cNvPr id="9" name="TextBox 8"/>
          <p:cNvSpPr txBox="1"/>
          <p:nvPr/>
        </p:nvSpPr>
        <p:spPr>
          <a:xfrm>
            <a:off x="411480" y="3566160"/>
            <a:ext cx="6858000" cy="2560320"/>
          </a:xfrm>
          <a:prstGeom prst="rect">
            <a:avLst/>
          </a:prstGeom>
          <a:noFill/>
        </p:spPr>
        <p:txBody>
          <a:bodyPr wrap="square">
            <a:spAutoFit/>
          </a:bodyPr>
          <a:lstStyle/>
          <a:p>
            <a:pPr algn="l">
              <a:spcBef>
                <a:spcPts val="1000"/>
              </a:spcBef>
            </a:pPr>
            <a:r>
              <a:rPr sz="1400" b="0">
                <a:solidFill>
                  <a:srgbClr val="A8B4C8"/>
                </a:solidFill>
                <a:latin typeface="Calibri"/>
              </a:rPr>
              <a:t>  1.   Read this module twice — once to understand, once to internalize.</a:t>
            </a:r>
          </a:p>
          <a:p>
            <a:pPr algn="l">
              <a:spcBef>
                <a:spcPts val="1000"/>
              </a:spcBef>
            </a:pPr>
            <a:r>
              <a:rPr sz="1400" b="0">
                <a:solidFill>
                  <a:srgbClr val="A8B4C8"/>
                </a:solidFill>
                <a:latin typeface="Calibri"/>
              </a:rPr>
              <a:t>  2.   Complete the Section 8 exercise: identify the mental models in the transcript.</a:t>
            </a:r>
          </a:p>
          <a:p>
            <a:pPr algn="l">
              <a:spcBef>
                <a:spcPts val="1000"/>
              </a:spcBef>
            </a:pPr>
            <a:r>
              <a:rPr sz="1400" b="0">
                <a:solidFill>
                  <a:srgbClr val="A8B4C8"/>
                </a:solidFill>
                <a:latin typeface="Calibri"/>
              </a:rPr>
              <a:t>  3.   In your first Claude Code session, call out which model is in play as you work.</a:t>
            </a:r>
          </a:p>
          <a:p>
            <a:pPr algn="l">
              <a:spcBef>
                <a:spcPts val="1000"/>
              </a:spcBef>
            </a:pPr>
            <a:r>
              <a:rPr sz="1400" b="0">
                <a:solidFill>
                  <a:srgbClr val="A8B4C8"/>
                </a:solidFill>
                <a:latin typeface="Calibri"/>
              </a:rPr>
              <a:t>  4.   Build the habit. These are not concepts — they are habits of thought.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