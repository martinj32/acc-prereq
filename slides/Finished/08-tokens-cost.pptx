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0"/>
            <a:ext cx="127000" cy="6858000"/>
          </a:xfrm>
          <a:prstGeom prst="rect">
            <a:avLst/>
          </a:prstGeom>
          <a:solidFill>
            <a:srgbClr val="00B4FF"/>
          </a:solidFill>
          <a:ln>
            <a:noFill/>
          </a:ln>
          <a:effectLst>
            <a:glow rad="635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74320"/>
            <a:ext cx="5486400" cy="320040"/>
          </a:xfrm>
          <a:prstGeom prst="rect">
            <a:avLst/>
          </a:prstGeom>
          <a:noFill/>
        </p:spPr>
        <p:txBody>
          <a:bodyPr wrap="square">
            <a:spAutoFit/>
          </a:bodyPr>
          <a:lstStyle/>
          <a:p>
            <a:pPr algn="l"/>
            <a:r>
              <a:rPr sz="1000" b="1" i="0">
                <a:solidFill>
                  <a:srgbClr val="00B4FF"/>
                </a:solidFill>
                <a:latin typeface="Calibri"/>
              </a:rPr>
              <a:t>AGENTIC COMMANDERS COURSE</a:t>
            </a:r>
          </a:p>
        </p:txBody>
      </p:sp>
      <p:sp>
        <p:nvSpPr>
          <p:cNvPr id="4" name="TextBox 3"/>
          <p:cNvSpPr txBox="1"/>
          <p:nvPr/>
        </p:nvSpPr>
        <p:spPr>
          <a:xfrm>
            <a:off x="274320" y="914400"/>
            <a:ext cx="5943600" cy="2560320"/>
          </a:xfrm>
          <a:prstGeom prst="rect">
            <a:avLst/>
          </a:prstGeom>
          <a:noFill/>
        </p:spPr>
        <p:txBody>
          <a:bodyPr wrap="square">
            <a:spAutoFit/>
          </a:bodyPr>
          <a:lstStyle/>
          <a:p>
            <a:pPr algn="l"/>
            <a:r>
              <a:rPr sz="4000" b="1" i="0">
                <a:solidFill>
                  <a:srgbClr val="FFFFFF"/>
                </a:solidFill>
                <a:latin typeface="Calibri"/>
              </a:rPr>
              <a:t>Ammunition
Discipline:
Tokens, Context
&amp; Cost</a:t>
            </a:r>
          </a:p>
        </p:txBody>
      </p:sp>
      <p:sp>
        <p:nvSpPr>
          <p:cNvPr id="5" name="Rectangle 4"/>
          <p:cNvSpPr/>
          <p:nvPr/>
        </p:nvSpPr>
        <p:spPr>
          <a:xfrm>
            <a:off x="274320" y="3657600"/>
            <a:ext cx="5303520" cy="254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3794760"/>
            <a:ext cx="5486400" cy="457200"/>
          </a:xfrm>
          <a:prstGeom prst="rect">
            <a:avLst/>
          </a:prstGeom>
          <a:noFill/>
        </p:spPr>
        <p:txBody>
          <a:bodyPr wrap="square">
            <a:spAutoFit/>
          </a:bodyPr>
          <a:lstStyle/>
          <a:p>
            <a:pPr algn="l"/>
            <a:r>
              <a:rPr sz="1300" b="0" i="0">
                <a:solidFill>
                  <a:srgbClr val="A8B4C8"/>
                </a:solidFill>
                <a:latin typeface="Calibri"/>
              </a:rPr>
              <a:t>PREREQUISITE MODULE  |  SELF-PACED</a:t>
            </a:r>
          </a:p>
        </p:txBody>
      </p:sp>
      <p:sp>
        <p:nvSpPr>
          <p:cNvPr id="7" name="Rectangle 6"/>
          <p:cNvSpPr/>
          <p:nvPr/>
        </p:nvSpPr>
        <p:spPr>
          <a:xfrm>
            <a:off x="6492240" y="320040"/>
            <a:ext cx="5394960" cy="60807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3040380"/>
            <a:ext cx="5394960" cy="274320"/>
          </a:xfrm>
          <a:prstGeom prst="rect">
            <a:avLst/>
          </a:prstGeom>
          <a:noFill/>
        </p:spPr>
        <p:txBody>
          <a:bodyPr wrap="square">
            <a:spAutoFit/>
          </a:bodyPr>
          <a:lstStyle/>
          <a:p>
            <a:pPr algn="ctr"/>
            <a:r>
              <a:rPr sz="900" b="1" i="0">
                <a:solidFill>
                  <a:srgbClr val="00B4FF"/>
                </a:solidFill>
                <a:latin typeface="Calibri"/>
              </a:rPr>
              <a:t>◼  IMAGE</a:t>
            </a:r>
          </a:p>
        </p:txBody>
      </p:sp>
      <p:sp>
        <p:nvSpPr>
          <p:cNvPr id="9" name="TextBox 8"/>
          <p:cNvSpPr txBox="1"/>
          <p:nvPr/>
        </p:nvSpPr>
        <p:spPr>
          <a:xfrm>
            <a:off x="6675120" y="3314700"/>
            <a:ext cx="5029200" cy="914400"/>
          </a:xfrm>
          <a:prstGeom prst="rect">
            <a:avLst/>
          </a:prstGeom>
          <a:noFill/>
        </p:spPr>
        <p:txBody>
          <a:bodyPr wrap="square">
            <a:spAutoFit/>
          </a:bodyPr>
          <a:lstStyle/>
          <a:p>
            <a:pPr algn="ctr"/>
            <a:r>
              <a:rPr sz="900" b="0" i="0">
                <a:solidFill>
                  <a:srgbClr val="A8B4C8"/>
                </a:solidFill>
                <a:latin typeface="Calibri"/>
              </a:rPr>
              <a:t>[IMAGE: Soldier checking a basic load of ammunition before a mission — deliberate accounting of a finite resource]</a:t>
            </a:r>
          </a:p>
        </p:txBody>
      </p:sp>
      <p:sp>
        <p:nvSpPr>
          <p:cNvPr id="10" name="Rectangle 9"/>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MODULE OVERVIEW</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Situation Brief</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325880"/>
            <a:ext cx="11365992" cy="96012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325880"/>
            <a:ext cx="50800" cy="96012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371600"/>
            <a:ext cx="914400" cy="256032"/>
          </a:xfrm>
          <a:prstGeom prst="rect">
            <a:avLst/>
          </a:prstGeom>
          <a:noFill/>
        </p:spPr>
        <p:txBody>
          <a:bodyPr wrap="square">
            <a:spAutoFit/>
          </a:bodyPr>
          <a:lstStyle/>
          <a:p>
            <a:pPr algn="l"/>
            <a:r>
              <a:rPr sz="900" b="1" i="0">
                <a:solidFill>
                  <a:srgbClr val="FFAA00"/>
                </a:solidFill>
                <a:latin typeface="Calibri"/>
              </a:rPr>
              <a:t>BLUF</a:t>
            </a:r>
          </a:p>
        </p:txBody>
      </p:sp>
      <p:sp>
        <p:nvSpPr>
          <p:cNvPr id="10" name="TextBox 9"/>
          <p:cNvSpPr txBox="1"/>
          <p:nvPr/>
        </p:nvSpPr>
        <p:spPr>
          <a:xfrm>
            <a:off x="594360" y="1618488"/>
            <a:ext cx="11000232" cy="594360"/>
          </a:xfrm>
          <a:prstGeom prst="rect">
            <a:avLst/>
          </a:prstGeom>
          <a:noFill/>
        </p:spPr>
        <p:txBody>
          <a:bodyPr wrap="square">
            <a:spAutoFit/>
          </a:bodyPr>
          <a:lstStyle/>
          <a:p>
            <a:pPr algn="l"/>
            <a:r>
              <a:rPr sz="1400" b="0" i="0">
                <a:solidFill>
                  <a:srgbClr val="FFFFFF"/>
                </a:solidFill>
                <a:latin typeface="Calibri"/>
              </a:rPr>
              <a:t>You already know what a token IS (Module 1). This module is how to SPEND tokens like a pro: pick the right model with a simple heuristic, manage a context window that fills silently, and keep cost under control on real work.</a:t>
            </a:r>
          </a:p>
        </p:txBody>
      </p:sp>
      <p:sp>
        <p:nvSpPr>
          <p:cNvPr id="11" name="TextBox 10"/>
          <p:cNvSpPr txBox="1"/>
          <p:nvPr/>
        </p:nvSpPr>
        <p:spPr>
          <a:xfrm>
            <a:off x="411480" y="2377440"/>
            <a:ext cx="4572000" cy="320040"/>
          </a:xfrm>
          <a:prstGeom prst="rect">
            <a:avLst/>
          </a:prstGeom>
          <a:noFill/>
        </p:spPr>
        <p:txBody>
          <a:bodyPr wrap="square">
            <a:spAutoFit/>
          </a:bodyPr>
          <a:lstStyle/>
          <a:p>
            <a:pPr algn="l"/>
            <a:r>
              <a:rPr sz="1200" b="1" i="0">
                <a:solidFill>
                  <a:srgbClr val="FFAA00"/>
                </a:solidFill>
                <a:latin typeface="Calibri"/>
              </a:rPr>
              <a:t>⏱  Self-paced module (spirals on Module 1 — AI Foundations)</a:t>
            </a:r>
          </a:p>
        </p:txBody>
      </p:sp>
      <p:sp>
        <p:nvSpPr>
          <p:cNvPr id="12" name="Rectangle 11"/>
          <p:cNvSpPr/>
          <p:nvPr/>
        </p:nvSpPr>
        <p:spPr>
          <a:xfrm>
            <a:off x="411480" y="2788920"/>
            <a:ext cx="11365992" cy="36118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2788920"/>
            <a:ext cx="50800" cy="36118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852928"/>
            <a:ext cx="5486400" cy="256032"/>
          </a:xfrm>
          <a:prstGeom prst="rect">
            <a:avLst/>
          </a:prstGeom>
          <a:noFill/>
        </p:spPr>
        <p:txBody>
          <a:bodyPr wrap="square">
            <a:spAutoFit/>
          </a:bodyPr>
          <a:lstStyle/>
          <a:p>
            <a:pPr algn="l"/>
            <a:r>
              <a:rPr sz="900" b="1" i="0">
                <a:solidFill>
                  <a:srgbClr val="00B4FF"/>
                </a:solidFill>
                <a:latin typeface="Calibri"/>
              </a:rPr>
              <a:t>LEARNING OBJECTIVES</a:t>
            </a:r>
          </a:p>
        </p:txBody>
      </p:sp>
      <p:sp>
        <p:nvSpPr>
          <p:cNvPr id="15" name="TextBox 14"/>
          <p:cNvSpPr txBox="1"/>
          <p:nvPr/>
        </p:nvSpPr>
        <p:spPr>
          <a:xfrm>
            <a:off x="594360" y="3154680"/>
            <a:ext cx="11000232" cy="3108960"/>
          </a:xfrm>
          <a:prstGeom prst="rect">
            <a:avLst/>
          </a:prstGeom>
          <a:noFill/>
        </p:spPr>
        <p:txBody>
          <a:bodyPr wrap="square">
            <a:spAutoFit/>
          </a:bodyPr>
          <a:lstStyle/>
          <a:p>
            <a:pPr algn="l">
              <a:spcBef>
                <a:spcPts val="400"/>
              </a:spcBef>
            </a:pPr>
            <a:r>
              <a:rPr sz="1300" b="0">
                <a:solidFill>
                  <a:srgbClr val="A8B4C8"/>
                </a:solidFill>
                <a:latin typeface="Calibri"/>
              </a:rPr>
              <a:t>  ›  Treat tokens as ammunition: cost, speed, and accuracy scale with them</a:t>
            </a:r>
          </a:p>
          <a:p>
            <a:pPr algn="l">
              <a:spcBef>
                <a:spcPts val="400"/>
              </a:spcBef>
            </a:pPr>
            <a:r>
              <a:rPr sz="1300" b="0">
                <a:solidFill>
                  <a:srgbClr val="A8B4C8"/>
                </a:solidFill>
                <a:latin typeface="Calibri"/>
              </a:rPr>
              <a:t>  ›  Apply a model-selection heuristic: fast vs. reasoning vs. big-context</a:t>
            </a:r>
          </a:p>
          <a:p>
            <a:pPr algn="l">
              <a:spcBef>
                <a:spcPts val="400"/>
              </a:spcBef>
            </a:pPr>
            <a:r>
              <a:rPr sz="1300" b="0">
                <a:solidFill>
                  <a:srgbClr val="A8B4C8"/>
                </a:solidFill>
                <a:latin typeface="Calibri"/>
              </a:rPr>
              <a:t>  ›  Manage a context window that fills silently as tool results accumulate</a:t>
            </a:r>
          </a:p>
          <a:p>
            <a:pPr algn="l">
              <a:spcBef>
                <a:spcPts val="400"/>
              </a:spcBef>
            </a:pPr>
            <a:r>
              <a:rPr sz="1300" b="0">
                <a:solidFill>
                  <a:srgbClr val="A8B4C8"/>
                </a:solidFill>
                <a:latin typeface="Calibri"/>
              </a:rPr>
              <a:t>  ›  Run the four habits that keep token cost down</a:t>
            </a:r>
          </a:p>
          <a:p>
            <a:pPr algn="l">
              <a:spcBef>
                <a:spcPts val="400"/>
              </a:spcBef>
            </a:pPr>
            <a:r>
              <a:rPr sz="1300" b="0">
                <a:solidFill>
                  <a:srgbClr val="A8B4C8"/>
                </a:solidFill>
                <a:latin typeface="Calibri"/>
              </a:rPr>
              <a:t>  ›  Identify how AI is delivered and paid for: app, API, or managed key</a:t>
            </a:r>
          </a:p>
          <a:p>
            <a:pPr algn="l">
              <a:spcBef>
                <a:spcPts val="400"/>
              </a:spcBef>
            </a:pPr>
            <a:r>
              <a:rPr sz="1300" b="0">
                <a:solidFill>
                  <a:srgbClr val="A8B4C8"/>
                </a:solidFill>
                <a:latin typeface="Calibri"/>
              </a:rPr>
              <a:t>  ›  Connect cloud delivery back to the Module 1 data-handling boundary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01</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01</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Spend,
Don't Just
Count</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You know what a token IS from Module 1. Here is how to spend one like a pro — every token costs money and time.</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Soldier budgeting a limited supply of rounds across a long operation]</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From Knowing a Token to Using One</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You already own one fact from Module 1, so we do not re-teach it:</a:t>
            </a:r>
          </a:p>
          <a:p>
            <a:pPr algn="l">
              <a:spcBef>
                <a:spcPts val="300"/>
              </a:spcBef>
            </a:pPr>
            <a:r>
              <a:rPr sz="1300" b="0">
                <a:solidFill>
                  <a:srgbClr val="A8B4C8"/>
                </a:solidFill>
                <a:latin typeface="Calibri"/>
              </a:rPr>
              <a:t>      ◦  A token is the unit of text the model processes — roughly 0.75 of an English word; code is denser, so more tokens per line.</a:t>
            </a:r>
          </a:p>
          <a:p>
            <a:pPr algn="l">
              <a:spcBef>
                <a:spcPts val="700"/>
              </a:spcBef>
            </a:pPr>
            <a:r>
              <a:rPr sz="1500" b="0">
                <a:solidFill>
                  <a:srgbClr val="FFFFFF"/>
                </a:solidFill>
                <a:latin typeface="Calibri"/>
              </a:rPr>
              <a:t>  ›  That is the last time we define it. From here, it is all about spending.</a:t>
            </a:r>
          </a:p>
          <a:p>
            <a:pPr algn="l">
              <a:spcBef>
                <a:spcPts val="700"/>
              </a:spcBef>
            </a:pPr>
            <a:r>
              <a:rPr sz="1500" b="0">
                <a:solidFill>
                  <a:srgbClr val="FFFFFF"/>
                </a:solidFill>
                <a:latin typeface="Calibri"/>
              </a:rPr>
              <a:t>  ›  Three things scale with the tokens you spend:</a:t>
            </a:r>
          </a:p>
          <a:p>
            <a:pPr algn="l">
              <a:spcBef>
                <a:spcPts val="300"/>
              </a:spcBef>
            </a:pPr>
            <a:r>
              <a:rPr sz="1300" b="0">
                <a:solidFill>
                  <a:srgbClr val="A8B4C8"/>
                </a:solidFill>
                <a:latin typeface="Calibri"/>
              </a:rPr>
              <a:t>      ◦  Cost — every input token and every output token costs; output costs more</a:t>
            </a:r>
          </a:p>
          <a:p>
            <a:pPr algn="l">
              <a:spcBef>
                <a:spcPts val="300"/>
              </a:spcBef>
            </a:pPr>
            <a:r>
              <a:rPr sz="1300" b="0">
                <a:solidFill>
                  <a:srgbClr val="A8B4C8"/>
                </a:solidFill>
                <a:latin typeface="Calibri"/>
              </a:rPr>
              <a:t>      ◦  Speed — more tokens means a slower response</a:t>
            </a:r>
          </a:p>
          <a:p>
            <a:pPr algn="l">
              <a:spcBef>
                <a:spcPts val="300"/>
              </a:spcBef>
            </a:pPr>
            <a:r>
              <a:rPr sz="1300" b="0">
                <a:solidFill>
                  <a:srgbClr val="A8B4C8"/>
                </a:solidFill>
                <a:latin typeface="Calibri"/>
              </a:rPr>
              <a:t>      ◦  Accuracy — longer is not better; verbose prompts add noise</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The mental shift: Module 1 taught you to RECOGNIZE a token. Here you learn to BUDGET it. Treat tokens as free and you blow through context, overpay, and iterate ten times. Treat them as ammunition and one disciplined pass does the job.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In Module 1 you watched a context window fill and degrade.
Knowing now that a token costs money and time, what does a sprawling 80-turn conversation cost you that a tight one does not?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Feel the Weight of a Token</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Take a prompt you would normally send. Optionally paste it into a tokenizer (platform.openai.com/tokenizer) and note the token count next to the word count.</a:t>
            </a:r>
          </a:p>
          <a:p>
            <a:pPr algn="l">
              <a:spcBef>
                <a:spcPts val="1000"/>
              </a:spcBef>
            </a:pPr>
            <a:r>
              <a:rPr sz="1400" b="0">
                <a:solidFill>
                  <a:srgbClr val="FFFFFF"/>
                </a:solidFill>
                <a:latin typeface="Calibri"/>
              </a:rPr>
              <a:t>  2.   Rewrite the same request as a structured prompt: task, context, constraint, output format. Count again.</a:t>
            </a:r>
          </a:p>
          <a:p>
            <a:pPr algn="l">
              <a:spcBef>
                <a:spcPts val="1000"/>
              </a:spcBef>
            </a:pPr>
            <a:r>
              <a:rPr sz="1400" b="0">
                <a:solidFill>
                  <a:srgbClr val="FFFFFF"/>
                </a:solidFill>
                <a:latin typeface="Calibri"/>
              </a:rPr>
              <a:t>  3.   Notice which version is longer in the RIGHT way — more structure, not more noise.</a:t>
            </a:r>
          </a:p>
          <a:p>
            <a:pPr algn="l">
              <a:spcBef>
                <a:spcPts val="1000"/>
              </a:spcBef>
            </a:pPr>
            <a:r>
              <a:rPr sz="1400" b="0">
                <a:solidFill>
                  <a:srgbClr val="FFFFFF"/>
                </a:solidFill>
                <a:latin typeface="Calibri"/>
              </a:rPr>
              <a:t>  4.   You are not learning what a token is. You are learning to feel its weight.</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Side-by-side prompt cards, one rambling and one tight, with token counts marked on each]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Spend, Don't Just Count</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A token was defined in Module 1 — here it is about spending, not defining.</a:t>
            </a:r>
          </a:p>
          <a:p>
            <a:pPr algn="l">
              <a:spcBef>
                <a:spcPts val="1400"/>
              </a:spcBef>
            </a:pPr>
            <a:r>
              <a:rPr sz="1600" b="0">
                <a:solidFill>
                  <a:srgbClr val="FFFFFF"/>
                </a:solidFill>
                <a:latin typeface="Calibri"/>
              </a:rPr>
              <a:t>  ›  Cost, speed, and accuracy all scale with the tokens you spend.</a:t>
            </a:r>
          </a:p>
          <a:p>
            <a:pPr algn="l">
              <a:spcBef>
                <a:spcPts val="1400"/>
              </a:spcBef>
            </a:pPr>
            <a:r>
              <a:rPr sz="1600" b="0">
                <a:solidFill>
                  <a:srgbClr val="FFFFFF"/>
                </a:solidFill>
                <a:latin typeface="Calibri"/>
              </a:rPr>
              <a:t>  ›  Output tokens cost more than input tokens.</a:t>
            </a:r>
          </a:p>
          <a:p>
            <a:pPr algn="l">
              <a:spcBef>
                <a:spcPts val="1400"/>
              </a:spcBef>
            </a:pPr>
            <a:r>
              <a:rPr sz="1600" b="0">
                <a:solidFill>
                  <a:srgbClr val="FFFFFF"/>
                </a:solidFill>
                <a:latin typeface="Calibri"/>
              </a:rPr>
              <a:t>  ›  Treat tokens as ammunition, not as free.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02</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02</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Families,
Tiers &amp; the
Selection Rule</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Each model family offers a fast, a balanced, and a powerful tier. The top cost skill a junior can learn: match the tier to the task.</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Three vehicles staged for different missions — a fast scout, a balanced workhorse, and a heavy hauler]</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The Tiers — and Why Biggest Is the Wrong Default</a:t>
            </a:r>
          </a:p>
        </p:txBody>
      </p:sp>
      <p:sp>
        <p:nvSpPr>
          <p:cNvPr id="3" name="Rectangle 2"/>
          <p:cNvSpPr/>
          <p:nvPr/>
        </p:nvSpPr>
        <p:spPr>
          <a:xfrm>
            <a:off x="411480" y="868680"/>
            <a:ext cx="11365992" cy="25400"/>
          </a:xfrm>
          <a:prstGeom prst="rect">
            <a:avLst/>
          </a:prstGeom>
          <a:solidFill>
            <a:srgbClr val="FFAA00"/>
          </a:solidFill>
          <a:ln>
            <a:noFill/>
          </a:ln>
          <a:effectLst>
            <a:glow rad="50800">
              <a:srgbClr val="FFAA00">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Three families dominate: Claude (Anthropic), GPT (OpenAI), Gemini (Google).</a:t>
            </a:r>
          </a:p>
          <a:p>
            <a:pPr algn="l">
              <a:spcBef>
                <a:spcPts val="700"/>
              </a:spcBef>
            </a:pPr>
            <a:r>
              <a:rPr sz="1500" b="0">
                <a:solidFill>
                  <a:srgbClr val="FFFFFF"/>
                </a:solidFill>
                <a:latin typeface="Calibri"/>
              </a:rPr>
              <a:t>  ›  Each offers a fast/cheap, a balanced, and a powerful/expensive tier.</a:t>
            </a:r>
          </a:p>
          <a:p>
            <a:pPr algn="l">
              <a:spcBef>
                <a:spcPts val="700"/>
              </a:spcBef>
            </a:pPr>
            <a:r>
              <a:rPr sz="1500" b="0">
                <a:solidFill>
                  <a:srgbClr val="FFFFFF"/>
                </a:solidFill>
                <a:latin typeface="Calibri"/>
              </a:rPr>
              <a:t>  ›  Claude's tiers — the standard working toolchain:</a:t>
            </a:r>
          </a:p>
          <a:p>
            <a:pPr algn="l">
              <a:spcBef>
                <a:spcPts val="300"/>
              </a:spcBef>
            </a:pPr>
            <a:r>
              <a:rPr sz="1300" b="0">
                <a:solidFill>
                  <a:srgbClr val="A8B4C8"/>
                </a:solidFill>
                <a:latin typeface="Calibri"/>
              </a:rPr>
              <a:t>      ◦  Haiku — fast and cheap: eval loops, formatting, high-volume tasks</a:t>
            </a:r>
          </a:p>
          <a:p>
            <a:pPr algn="l">
              <a:spcBef>
                <a:spcPts val="300"/>
              </a:spcBef>
            </a:pPr>
            <a:r>
              <a:rPr sz="1300" b="0">
                <a:solidFill>
                  <a:srgbClr val="A8B4C8"/>
                </a:solidFill>
                <a:latin typeface="Calibri"/>
              </a:rPr>
              <a:t>      ◦  Sonnet — balanced: the standard working model for most tasks</a:t>
            </a:r>
          </a:p>
          <a:p>
            <a:pPr algn="l">
              <a:spcBef>
                <a:spcPts val="300"/>
              </a:spcBef>
            </a:pPr>
            <a:r>
              <a:rPr sz="1300" b="0">
                <a:solidFill>
                  <a:srgbClr val="A8B4C8"/>
                </a:solidFill>
                <a:latin typeface="Calibri"/>
              </a:rPr>
              <a:t>      ◦  Opus — powerful and expensive: reserve for the hardest reasoning</a:t>
            </a:r>
          </a:p>
          <a:p>
            <a:pPr algn="l">
              <a:spcBef>
                <a:spcPts val="700"/>
              </a:spcBef>
            </a:pPr>
            <a:r>
              <a:rPr sz="1500" b="0">
                <a:solidFill>
                  <a:srgbClr val="FFFFFF"/>
                </a:solidFill>
                <a:latin typeface="Calibri"/>
              </a:rPr>
              <a:t>  ›  Reaching for the biggest model every time is a diesel generator charging a phone.</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VERIFY BEFORE YOU RUN — model names, tiers, pricing, and context-window sizes change with every release. The tier CONCEPT is durable; the names and numbers are not. Verify current IDs and prices at anthropic.com/pricing and docs.anthropic.com before any course run.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The Model-Selection Heuristic</a:t>
            </a:r>
          </a:p>
        </p:txBody>
      </p:sp>
      <p:sp>
        <p:nvSpPr>
          <p:cNvPr id="3" name="Rectangle 2"/>
          <p:cNvSpPr/>
          <p:nvPr/>
        </p:nvSpPr>
        <p:spPr>
          <a:xfrm>
            <a:off x="411480" y="868680"/>
            <a:ext cx="11365992" cy="25400"/>
          </a:xfrm>
          <a:prstGeom prst="rect">
            <a:avLst/>
          </a:prstGeom>
          <a:solidFill>
            <a:srgbClr val="FFAA00"/>
          </a:solidFill>
          <a:ln>
            <a:noFill/>
          </a:ln>
          <a:effectLst>
            <a:glow rad="50800">
              <a:srgbClr val="FFAA00">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Sort the task into one of three buckets and pick on the spot:</a:t>
            </a:r>
          </a:p>
          <a:p>
            <a:pPr algn="l">
              <a:spcBef>
                <a:spcPts val="300"/>
              </a:spcBef>
            </a:pPr>
            <a:r>
              <a:rPr sz="1300" b="0">
                <a:solidFill>
                  <a:srgbClr val="A8B4C8"/>
                </a:solidFill>
                <a:latin typeface="Calibri"/>
              </a:rPr>
              <a:t>      ◦  Fast / cheap tier — mechanical, low-judgment work: summarize, reformat, classify, extract, tight eval loops. Smallest tier that meets the bar.</a:t>
            </a:r>
          </a:p>
          <a:p>
            <a:pPr algn="l">
              <a:spcBef>
                <a:spcPts val="300"/>
              </a:spcBef>
            </a:pPr>
            <a:r>
              <a:rPr sz="1300" b="0">
                <a:solidFill>
                  <a:srgbClr val="A8B4C8"/>
                </a:solidFill>
                <a:latin typeface="Calibri"/>
              </a:rPr>
              <a:t>      ◦  Reasoning tier — real analysis, planning, multi-step logic: assess options, write or refactor non-trivial code. Balanced or powerful tier.</a:t>
            </a:r>
          </a:p>
          <a:p>
            <a:pPr algn="l">
              <a:spcBef>
                <a:spcPts val="300"/>
              </a:spcBef>
            </a:pPr>
            <a:r>
              <a:rPr sz="1300" b="0">
                <a:solidFill>
                  <a:srgbClr val="A8B4C8"/>
                </a:solidFill>
                <a:latin typeface="Calibri"/>
              </a:rPr>
              <a:t>      ◦  Big-context tier — a large body of material at once: a long document, a sprawling codebase, a multi-source comparison. Fit the window, then verify its size.</a:t>
            </a:r>
          </a:p>
          <a:p>
            <a:pPr algn="l">
              <a:spcBef>
                <a:spcPts val="700"/>
              </a:spcBef>
            </a:pPr>
            <a:r>
              <a:rPr sz="1500" b="0">
                <a:solidFill>
                  <a:srgbClr val="FFFFFF"/>
                </a:solidFill>
                <a:latin typeface="Calibri"/>
              </a:rPr>
              <a:t>  ›  Match the model to the task. 'Always use the biggest' is expensive, slower, and usually unnecessary.</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Name drift is real — Haiku/Sonnet/Opus and competitor names will change. Teach the SHAPE (fast, balanced, powerful) and make bookmarking the provider docs part of the job.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You have a high-volume task: classify 2,000 short messages as urgent or routine. The work is simple but there is a lot of it.
Which tier — and why is reaching for the most powerful model the wrong call here?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Pick the Tier</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Go to the provider's model page (e.g., anthropic.com/claude) and find the current tiers. Do the names match what this section lists?</a:t>
            </a:r>
          </a:p>
          <a:p>
            <a:pPr algn="l">
              <a:spcBef>
                <a:spcPts val="1000"/>
              </a:spcBef>
            </a:pPr>
            <a:r>
              <a:rPr sz="1400" b="0">
                <a:solidFill>
                  <a:srgbClr val="FFFFFF"/>
                </a:solidFill>
                <a:latin typeface="Calibri"/>
              </a:rPr>
              <a:t>  2.   Pick three tasks you might actually do: a format conversion, a complex analysis, and a long-document read.</a:t>
            </a:r>
          </a:p>
          <a:p>
            <a:pPr algn="l">
              <a:spcBef>
                <a:spcPts val="1000"/>
              </a:spcBef>
            </a:pPr>
            <a:r>
              <a:rPr sz="1400" b="0">
                <a:solidFill>
                  <a:srgbClr val="FFFFFF"/>
                </a:solidFill>
                <a:latin typeface="Calibri"/>
              </a:rPr>
              <a:t>  3.   Assign each to a tier using the heuristic, and write one sentence per task explaining why.</a:t>
            </a:r>
          </a:p>
          <a:p>
            <a:pPr algn="l">
              <a:spcBef>
                <a:spcPts val="1000"/>
              </a:spcBef>
            </a:pPr>
            <a:r>
              <a:rPr sz="1400" b="0">
                <a:solidFill>
                  <a:srgbClr val="FFFFFF"/>
                </a:solidFill>
                <a:latin typeface="Calibri"/>
              </a:rPr>
              <a:t>  4.   Name drift is real. Bookmarking the docs is part of the discipline.</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Soldier matching three tools to three jobs on a planning board]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Families, Tiers &amp; the Selection Rule</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Every family offers three tiers: fast, balanced, powerful.</a:t>
            </a:r>
          </a:p>
          <a:p>
            <a:pPr algn="l">
              <a:spcBef>
                <a:spcPts val="1400"/>
              </a:spcBef>
            </a:pPr>
            <a:r>
              <a:rPr sz="1600" b="0">
                <a:solidFill>
                  <a:srgbClr val="FFFFFF"/>
                </a:solidFill>
                <a:latin typeface="Calibri"/>
              </a:rPr>
              <a:t>  ›  Matching the tier to the task is the biggest lever on cost.</a:t>
            </a:r>
          </a:p>
          <a:p>
            <a:pPr algn="l">
              <a:spcBef>
                <a:spcPts val="1400"/>
              </a:spcBef>
            </a:pPr>
            <a:r>
              <a:rPr sz="1600" b="0">
                <a:solidFill>
                  <a:srgbClr val="FFFFFF"/>
                </a:solidFill>
                <a:latin typeface="Calibri"/>
              </a:rPr>
              <a:t>  ›  Heuristic: fast for mechanical, reasoning for hard thinking, big-context for bulk.</a:t>
            </a:r>
          </a:p>
          <a:p>
            <a:pPr algn="l">
              <a:spcBef>
                <a:spcPts val="1400"/>
              </a:spcBef>
            </a:pPr>
            <a:r>
              <a:rPr sz="1600" b="0">
                <a:solidFill>
                  <a:srgbClr val="FFFFFF"/>
                </a:solidFill>
                <a:latin typeface="Calibri"/>
              </a:rPr>
              <a:t>  ›  VERIFY all model names, tiers, prices, and context sizes before use.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03</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03</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The Window
That Fills
Silently</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You know a context window is finite working memory (Module 1). In agentic work it fills silently — every tool result accumulates.</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A whiteboard quietly filling with notes until the earliest ones are crowded off the edge]</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The Three Operational Rules</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You know the shape from Module 1: a finite whiteboard; once full, old content gets crowded out. Here is what changes with an agent working.</a:t>
            </a:r>
          </a:p>
          <a:p>
            <a:pPr algn="l">
              <a:spcBef>
                <a:spcPts val="300"/>
              </a:spcBef>
            </a:pPr>
            <a:r>
              <a:rPr sz="1300" b="0">
                <a:solidFill>
                  <a:srgbClr val="A8B4C8"/>
                </a:solidFill>
                <a:latin typeface="Calibri"/>
              </a:rPr>
              <a:t>      ◦  Context is not infinite — multi-day chats, long docs, and verbose reasoning add up fast.</a:t>
            </a:r>
          </a:p>
          <a:p>
            <a:pPr algn="l">
              <a:spcBef>
                <a:spcPts val="300"/>
              </a:spcBef>
            </a:pPr>
            <a:r>
              <a:rPr sz="1300" b="0">
                <a:solidFill>
                  <a:srgbClr val="A8B4C8"/>
                </a:solidFill>
                <a:latin typeface="Calibri"/>
              </a:rPr>
              <a:t>      ◦  Tool results accumulate — the filesystem op doesn't cost context, but every RESULT returns into the window and stays.</a:t>
            </a:r>
          </a:p>
          <a:p>
            <a:pPr algn="l">
              <a:spcBef>
                <a:spcPts val="300"/>
              </a:spcBef>
            </a:pPr>
            <a:r>
              <a:rPr sz="1300" b="0">
                <a:solidFill>
                  <a:srgbClr val="A8B4C8"/>
                </a:solidFill>
                <a:latin typeface="Calibri"/>
              </a:rPr>
              <a:t>      ◦  You control what's in context — which docs, how verbose, how much history. Strategic use is a skill.</a:t>
            </a:r>
          </a:p>
          <a:p>
            <a:pPr algn="l">
              <a:spcBef>
                <a:spcPts val="700"/>
              </a:spcBef>
            </a:pPr>
            <a:r>
              <a:rPr sz="1500" b="0">
                <a:solidFill>
                  <a:srgbClr val="FFFFFF"/>
                </a:solidFill>
                <a:latin typeface="Calibri"/>
              </a:rPr>
              <a:t>  ›  A long session that reads many files can fill the window through tool-result accumulation, not just conversation.</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CONTEXT FILLS SILENTLY — most operators don't notice until the model contradicts itself, misses instructions, or degrades. By then you're deep in. Watch for the signals and start fresh PROACTIVELY.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Smart Sampling Beats Cramming</a:t>
            </a:r>
          </a:p>
        </p:txBody>
      </p:sp>
      <p:sp>
        <p:nvSpPr>
          <p:cNvPr id="3" name="Rectangle 2"/>
          <p:cNvSpPr/>
          <p:nvPr/>
        </p:nvSpPr>
        <p:spPr>
          <a:xfrm>
            <a:off x="411480" y="868680"/>
            <a:ext cx="11365992" cy="25400"/>
          </a:xfrm>
          <a:prstGeom prst="rect">
            <a:avLst/>
          </a:prstGeom>
          <a:solidFill>
            <a:srgbClr val="FFAA00"/>
          </a:solidFill>
          <a:ln>
            <a:noFill/>
          </a:ln>
          <a:effectLst>
            <a:glow rad="50800">
              <a:srgbClr val="FFAA00">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The fix for nearly every context problem: don't pour everything in — let the agent SAMPLE what it needs.</a:t>
            </a:r>
          </a:p>
          <a:p>
            <a:pPr algn="l">
              <a:spcBef>
                <a:spcPts val="300"/>
              </a:spcBef>
            </a:pPr>
            <a:r>
              <a:rPr sz="1300" b="0">
                <a:solidFill>
                  <a:srgbClr val="A8B4C8"/>
                </a:solidFill>
                <a:latin typeface="Calibri"/>
              </a:rPr>
              <a:t>      ◦  Single conversation getting long? Start fresh; paste only relevant context; or have the agent read from files instead of carrying history.</a:t>
            </a:r>
          </a:p>
          <a:p>
            <a:pPr algn="l">
              <a:spcBef>
                <a:spcPts val="300"/>
              </a:spcBef>
            </a:pPr>
            <a:r>
              <a:rPr sz="1300" b="0">
                <a:solidFill>
                  <a:srgbClr val="A8B4C8"/>
                </a:solidFill>
                <a:latin typeface="Calibri"/>
              </a:rPr>
              <a:t>      ◦  System prompt bloated? Keep it concise; rely on files (CLAUDE.md, me.md) the agent reads on demand, not stuffed into every request.</a:t>
            </a:r>
          </a:p>
          <a:p>
            <a:pPr algn="l">
              <a:spcBef>
                <a:spcPts val="300"/>
              </a:spcBef>
            </a:pPr>
            <a:r>
              <a:rPr sz="1300" b="0">
                <a:solidFill>
                  <a:srgbClr val="A8B4C8"/>
                </a:solidFill>
                <a:latin typeface="Calibri"/>
              </a:rPr>
              <a:t>      ◦  File-heavy work? Don't 'read the whole codebase' — use find/grep to locate the relevant 10-20 files, then read only those.</a:t>
            </a:r>
          </a:p>
          <a:p>
            <a:pPr algn="l">
              <a:spcBef>
                <a:spcPts val="700"/>
              </a:spcBef>
            </a:pPr>
            <a:r>
              <a:rPr sz="1500" b="0">
                <a:solidFill>
                  <a:srgbClr val="FFFFFF"/>
                </a:solidFill>
                <a:latin typeface="Calibri"/>
              </a:rPr>
              <a:t>  ›  An agent samples fresh at each tool call — that's why it can work on large projects without drowning.</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BIGGER IS NOT ALWAYS BETTER — a very large window still attends better to the beginning and end than the middle. Buried instructions get partially ignored. (Context-window sizes are version-sensitive — verify current numbers before teaching.)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You are two hours into an agent session: 30 files read, 15 commands run, a long back-and-forth. The agent starts contradicting what it said an hour ago.
What filled the window — and what do you do?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Watch the Window Under Pressure</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In an agent, ask it to find and read only the files relevant to a specific question, using search rather than reading everything. Watch it sample.</a:t>
            </a:r>
          </a:p>
          <a:p>
            <a:pPr algn="l">
              <a:spcBef>
                <a:spcPts val="1000"/>
              </a:spcBef>
            </a:pPr>
            <a:r>
              <a:rPr sz="1400" b="0">
                <a:solidFill>
                  <a:srgbClr val="FFFFFF"/>
                </a:solidFill>
                <a:latin typeface="Calibri"/>
              </a:rPr>
              <a:t>  2.   Run a longer session with several file reads and commands, then ask it to summarize what it has done so far. Check the accuracy.</a:t>
            </a:r>
          </a:p>
          <a:p>
            <a:pPr algn="l">
              <a:spcBef>
                <a:spcPts val="1000"/>
              </a:spcBef>
            </a:pPr>
            <a:r>
              <a:rPr sz="1400" b="0">
                <a:solidFill>
                  <a:srgbClr val="FFFFFF"/>
                </a:solidFill>
                <a:latin typeface="Calibri"/>
              </a:rPr>
              <a:t>  3.   Notice the first sign of drift — a contradiction, a forgotten constraint.</a:t>
            </a:r>
          </a:p>
          <a:p>
            <a:pPr algn="l">
              <a:spcBef>
                <a:spcPts val="1000"/>
              </a:spcBef>
            </a:pPr>
            <a:r>
              <a:rPr sz="1400" b="0">
                <a:solidFill>
                  <a:srgbClr val="FFFFFF"/>
                </a:solidFill>
                <a:latin typeface="Calibri"/>
              </a:rPr>
              <a:t>  4.   That drift is your cue to start a fresh session.</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Soldier monitoring a gauge creeping toward full while a task runs long]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The Window That Fills Silently</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Three rules: context is finite, tool results accumulate, you control what's in it.</a:t>
            </a:r>
          </a:p>
          <a:p>
            <a:pPr algn="l">
              <a:spcBef>
                <a:spcPts val="1400"/>
              </a:spcBef>
            </a:pPr>
            <a:r>
              <a:rPr sz="1600" b="0">
                <a:solidFill>
                  <a:srgbClr val="FFFFFF"/>
                </a:solidFill>
                <a:latin typeface="Calibri"/>
              </a:rPr>
              <a:t>  ›  The window fills silently — drift is your cue to start fresh.</a:t>
            </a:r>
          </a:p>
          <a:p>
            <a:pPr algn="l">
              <a:spcBef>
                <a:spcPts val="1400"/>
              </a:spcBef>
            </a:pPr>
            <a:r>
              <a:rPr sz="1600" b="0">
                <a:solidFill>
                  <a:srgbClr val="FFFFFF"/>
                </a:solidFill>
                <a:latin typeface="Calibri"/>
              </a:rPr>
              <a:t>  ›  Smart sampling (search, then read what's needed) beats cramming everything in.</a:t>
            </a:r>
          </a:p>
          <a:p>
            <a:pPr algn="l">
              <a:spcBef>
                <a:spcPts val="1400"/>
              </a:spcBef>
            </a:pPr>
            <a:r>
              <a:rPr sz="1600" b="0">
                <a:solidFill>
                  <a:srgbClr val="FFFFFF"/>
                </a:solidFill>
                <a:latin typeface="Calibri"/>
              </a:rPr>
              <a:t>  ›  Bigger windows still attend worst to the middle.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04</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04</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Habits That
Keep Cost
Down</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Cost-consciousness is not penny-pinching — it is getting the result in one disciplined pass instead of ten loose ones.</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An NCO running a tight, rehearsed drill — one clean repetition instead of ten sloppy ones]</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Three Dimensions, Four Principles</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Three cost dimensions:</a:t>
            </a:r>
          </a:p>
          <a:p>
            <a:pPr algn="l">
              <a:spcBef>
                <a:spcPts val="300"/>
              </a:spcBef>
            </a:pPr>
            <a:r>
              <a:rPr sz="1300" b="0">
                <a:solidFill>
                  <a:srgbClr val="A8B4C8"/>
                </a:solidFill>
                <a:latin typeface="Calibri"/>
              </a:rPr>
              <a:t>      ◦  Token — every input token costs, every output token costs more</a:t>
            </a:r>
          </a:p>
          <a:p>
            <a:pPr algn="l">
              <a:spcBef>
                <a:spcPts val="300"/>
              </a:spcBef>
            </a:pPr>
            <a:r>
              <a:rPr sz="1300" b="0">
                <a:solidFill>
                  <a:srgbClr val="A8B4C8"/>
                </a:solidFill>
                <a:latin typeface="Calibri"/>
              </a:rPr>
              <a:t>      ◦  Time — longer chats and more tool calls take longer; waiting is dead time</a:t>
            </a:r>
          </a:p>
          <a:p>
            <a:pPr algn="l">
              <a:spcBef>
                <a:spcPts val="300"/>
              </a:spcBef>
            </a:pPr>
            <a:r>
              <a:rPr sz="1300" b="0">
                <a:solidFill>
                  <a:srgbClr val="A8B4C8"/>
                </a:solidFill>
                <a:latin typeface="Calibri"/>
              </a:rPr>
              <a:t>      ◦  Iteration — ten passes is 10x the tokens; clear the first time is 1x</a:t>
            </a:r>
          </a:p>
          <a:p>
            <a:pPr algn="l">
              <a:spcBef>
                <a:spcPts val="700"/>
              </a:spcBef>
            </a:pPr>
            <a:r>
              <a:rPr sz="1500" b="0">
                <a:solidFill>
                  <a:srgbClr val="FFFFFF"/>
                </a:solidFill>
                <a:latin typeface="Calibri"/>
              </a:rPr>
              <a:t>  ›  Four principles:</a:t>
            </a:r>
          </a:p>
          <a:p>
            <a:pPr algn="l">
              <a:spcBef>
                <a:spcPts val="300"/>
              </a:spcBef>
            </a:pPr>
            <a:r>
              <a:rPr sz="1300" b="0">
                <a:solidFill>
                  <a:srgbClr val="A8B4C8"/>
                </a:solidFill>
                <a:latin typeface="Calibri"/>
              </a:rPr>
              <a:t>      ◦  Concision is a feature; repetition is waste</a:t>
            </a:r>
          </a:p>
          <a:p>
            <a:pPr algn="l">
              <a:spcBef>
                <a:spcPts val="300"/>
              </a:spcBef>
            </a:pPr>
            <a:r>
              <a:rPr sz="1300" b="0">
                <a:solidFill>
                  <a:srgbClr val="A8B4C8"/>
                </a:solidFill>
                <a:latin typeface="Calibri"/>
              </a:rPr>
              <a:t>      ◦  Cheap vs. expensive ops matter — a tool read returns a small result; pasting a 30k-token file costs 30k input tokens plus reasoning</a:t>
            </a:r>
          </a:p>
          <a:p>
            <a:pPr algn="l">
              <a:spcBef>
                <a:spcPts val="300"/>
              </a:spcBef>
            </a:pPr>
            <a:r>
              <a:rPr sz="1300" b="0">
                <a:solidFill>
                  <a:srgbClr val="A8B4C8"/>
                </a:solidFill>
                <a:latin typeface="Calibri"/>
              </a:rPr>
              <a:t>      ◦  Plan before you prompt — then prompt once, strategically</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USE TOOLS INSTEAD OF PASTING — bad: paste a 50,000-token codebase for a refactor. Good: 'Read /src/auth/login.js and identify the bug' — the agent reads only what it needs (~5,000 tokens) and answers focused.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Where Cost Hides: Iteration</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A vague 80-token prompt that needs five clarifying rounds costs far more than a structured 120-token prompt that lands first try.</a:t>
            </a:r>
          </a:p>
          <a:p>
            <a:pPr algn="l">
              <a:spcBef>
                <a:spcPts val="700"/>
              </a:spcBef>
            </a:pPr>
            <a:r>
              <a:rPr sz="1500" b="0">
                <a:solidFill>
                  <a:srgbClr val="FFFFFF"/>
                </a:solidFill>
                <a:latin typeface="Calibri"/>
              </a:rPr>
              <a:t>  ›  Longer in the RIGHT way is cheaper than short and vague.</a:t>
            </a:r>
          </a:p>
          <a:p>
            <a:pPr algn="l">
              <a:spcBef>
                <a:spcPts val="700"/>
              </a:spcBef>
            </a:pPr>
            <a:r>
              <a:rPr sz="1500" b="0">
                <a:solidFill>
                  <a:srgbClr val="FFFFFF"/>
                </a:solidFill>
                <a:latin typeface="Calibri"/>
              </a:rPr>
              <a:t>  ›  More cost-conscious behaviors:</a:t>
            </a:r>
          </a:p>
          <a:p>
            <a:pPr algn="l">
              <a:spcBef>
                <a:spcPts val="300"/>
              </a:spcBef>
            </a:pPr>
            <a:r>
              <a:rPr sz="1300" b="0">
                <a:solidFill>
                  <a:srgbClr val="A8B4C8"/>
                </a:solidFill>
                <a:latin typeface="Calibri"/>
              </a:rPr>
              <a:t>      ◦  Iterate tightly — review immediately, correct in the same session, keep context warm, avoid re-reads</a:t>
            </a:r>
          </a:p>
          <a:p>
            <a:pPr algn="l">
              <a:spcBef>
                <a:spcPts val="300"/>
              </a:spcBef>
            </a:pPr>
            <a:r>
              <a:rPr sz="1300" b="0">
                <a:solidFill>
                  <a:srgbClr val="A8B4C8"/>
                </a:solidFill>
                <a:latin typeface="Calibri"/>
              </a:rPr>
              <a:t>      ◦  Know when to ask the agent vs. solve it yourself — agent for architecture and unfamiliar code; quick search for syntax lookups</a:t>
            </a:r>
          </a:p>
          <a:p>
            <a:pPr algn="l">
              <a:spcBef>
                <a:spcPts val="300"/>
              </a:spcBef>
            </a:pPr>
            <a:r>
              <a:rPr sz="1300" b="0">
                <a:solidFill>
                  <a:srgbClr val="A8B4C8"/>
                </a:solidFill>
                <a:latin typeface="Calibri"/>
              </a:rPr>
              <a:t>      ◦  Plan before you build — five minutes of 'here's my plan, any red flags?' saves fifty minutes of iteration</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Frame it as DISCIPLINE, not stinginess — the goal is a defensible result efficiently. A clear brief is cost-conscious AND good supervision (Module 7). The two habits reinforce each other.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You need to debug a slow API endpoint. You have the source file, the database schema, and the server logs.
What is the most cost-efficient way to give the agent what it needs — and what would the expensive version look like?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Cut the Waste</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Take a prompt you would normally send. Apply the four principles: cut repetition, add structure, narrow scope, specify output format.</a:t>
            </a:r>
          </a:p>
          <a:p>
            <a:pPr algn="l">
              <a:spcBef>
                <a:spcPts val="1000"/>
              </a:spcBef>
            </a:pPr>
            <a:r>
              <a:rPr sz="1400" b="0">
                <a:solidFill>
                  <a:srgbClr val="FFFFFF"/>
                </a:solidFill>
                <a:latin typeface="Calibri"/>
              </a:rPr>
              <a:t>  2.   Count words before and after. Is the revised version clearer AND tighter?</a:t>
            </a:r>
          </a:p>
          <a:p>
            <a:pPr algn="l">
              <a:spcBef>
                <a:spcPts val="1000"/>
              </a:spcBef>
            </a:pPr>
            <a:r>
              <a:rPr sz="1400" b="0">
                <a:solidFill>
                  <a:srgbClr val="FFFFFF"/>
                </a:solidFill>
                <a:latin typeface="Calibri"/>
              </a:rPr>
              <a:t>  3.   Submit the revised prompt. Usable first response, or still need follow-ups?</a:t>
            </a:r>
          </a:p>
          <a:p>
            <a:pPr algn="l">
              <a:spcBef>
                <a:spcPts val="1000"/>
              </a:spcBef>
            </a:pPr>
            <a:r>
              <a:rPr sz="1400" b="0">
                <a:solidFill>
                  <a:srgbClr val="FFFFFF"/>
                </a:solidFill>
                <a:latin typeface="Calibri"/>
              </a:rPr>
              <a:t>  4.   For one task this week, decide up front: what should the agent read via tools instead of you pasting?</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Two prompt drafts side by side — one marked up and trimmed, the other bloated with repetition]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Habits That Keep Cost Down</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Three cost dimensions: token, time, iteration.</a:t>
            </a:r>
          </a:p>
          <a:p>
            <a:pPr algn="l">
              <a:spcBef>
                <a:spcPts val="1400"/>
              </a:spcBef>
            </a:pPr>
            <a:r>
              <a:rPr sz="1600" b="0">
                <a:solidFill>
                  <a:srgbClr val="FFFFFF"/>
                </a:solidFill>
                <a:latin typeface="Calibri"/>
              </a:rPr>
              <a:t>  ›  Four principles: concision, no repetition, cheap-vs-expensive ops, plan first.</a:t>
            </a:r>
          </a:p>
          <a:p>
            <a:pPr algn="l">
              <a:spcBef>
                <a:spcPts val="1400"/>
              </a:spcBef>
            </a:pPr>
            <a:r>
              <a:rPr sz="1600" b="0">
                <a:solidFill>
                  <a:srgbClr val="FFFFFF"/>
                </a:solidFill>
                <a:latin typeface="Calibri"/>
              </a:rPr>
              <a:t>  ›  Tools beat pasting for large material.</a:t>
            </a:r>
          </a:p>
          <a:p>
            <a:pPr algn="l">
              <a:spcBef>
                <a:spcPts val="1400"/>
              </a:spcBef>
            </a:pPr>
            <a:r>
              <a:rPr sz="1600" b="0">
                <a:solidFill>
                  <a:srgbClr val="FFFFFF"/>
                </a:solidFill>
                <a:latin typeface="Calibri"/>
              </a:rPr>
              <a:t>  ›  Iteration is where most cost hides — one clear pass beats ten loose ones.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05</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05</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Delivered
&amp; Paid For</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The same model reaches you through different doors — a flat-rate app, a pay-per-token API, or your org's managed key — and cloud vs. local matters.</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Three doorways into the same operations center — one flat-fee, one metered, one unit-issued]</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Three Doors and the Cloud-vs-Local Trade-Off</a:t>
            </a:r>
          </a:p>
        </p:txBody>
      </p:sp>
      <p:sp>
        <p:nvSpPr>
          <p:cNvPr id="3" name="Rectangle 2"/>
          <p:cNvSpPr/>
          <p:nvPr/>
        </p:nvSpPr>
        <p:spPr>
          <a:xfrm>
            <a:off x="411480" y="868680"/>
            <a:ext cx="11365992" cy="25400"/>
          </a:xfrm>
          <a:prstGeom prst="rect">
            <a:avLst/>
          </a:prstGeom>
          <a:solidFill>
            <a:srgbClr val="FFAA00"/>
          </a:solidFill>
          <a:ln>
            <a:noFill/>
          </a:ln>
          <a:effectLst>
            <a:glow rad="50800">
              <a:srgbClr val="FFAA00">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Three ways AI is paid for:</a:t>
            </a:r>
          </a:p>
          <a:p>
            <a:pPr algn="l">
              <a:spcBef>
                <a:spcPts val="300"/>
              </a:spcBef>
            </a:pPr>
            <a:r>
              <a:rPr sz="1300" b="0">
                <a:solidFill>
                  <a:srgbClr val="A8B4C8"/>
                </a:solidFill>
                <a:latin typeface="Calibri"/>
              </a:rPr>
              <a:t>      ◦  Subscription app — flat monthly fee, access included (ChatGPT Plus, Claude.ai Pro)</a:t>
            </a:r>
          </a:p>
          <a:p>
            <a:pPr algn="l">
              <a:spcBef>
                <a:spcPts val="300"/>
              </a:spcBef>
            </a:pPr>
            <a:r>
              <a:rPr sz="1300" b="0">
                <a:solidFill>
                  <a:srgbClr val="A8B4C8"/>
                </a:solidFill>
                <a:latin typeface="Calibri"/>
              </a:rPr>
              <a:t>      ◦  Pay-per-token API — you pay per token sent and received (Anthropic, OpenAI API)</a:t>
            </a:r>
          </a:p>
          <a:p>
            <a:pPr algn="l">
              <a:spcBef>
                <a:spcPts val="300"/>
              </a:spcBef>
            </a:pPr>
            <a:r>
              <a:rPr sz="1300" b="0">
                <a:solidFill>
                  <a:srgbClr val="A8B4C8"/>
                </a:solidFill>
                <a:latin typeface="Calibri"/>
              </a:rPr>
              <a:t>      ◦  Bring-your-own-key — your org's API key foots the bill (enterprise, Claude Code)</a:t>
            </a:r>
          </a:p>
          <a:p>
            <a:pPr algn="l">
              <a:spcBef>
                <a:spcPts val="700"/>
              </a:spcBef>
            </a:pPr>
            <a:r>
              <a:rPr sz="1500" b="0">
                <a:solidFill>
                  <a:srgbClr val="FFFFFF"/>
                </a:solidFill>
                <a:latin typeface="Calibri"/>
              </a:rPr>
              <a:t>  ›  Cloud vs. local — most models run remote (input leaves your machine); some small models run on-device (no connectivity, data stays local, less capable).</a:t>
            </a:r>
          </a:p>
          <a:p>
            <a:pPr algn="l">
              <a:spcBef>
                <a:spcPts val="700"/>
              </a:spcBef>
            </a:pPr>
            <a:r>
              <a:rPr sz="1500" b="0">
                <a:solidFill>
                  <a:srgbClr val="FFFFFF"/>
                </a:solidFill>
                <a:latin typeface="Calibri"/>
              </a:rPr>
              <a:t>  ›  The cost ladder: small/fast tiers cost less per token than large frontier tiers — the same ladder the selection heuristic walks.</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COST IS REAL on pay-per-token — a long conversation with a large model costs more than a short one. Know your billing model BEFORE a long task. Flat-rate hides the marginal cost; API and managed keys accrue it. (Specific prices and tiers are version-sensitive — verify before teaching.)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Delivery Connects to Data Handling</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Cloud delivery means your input LEAVES your machine.</a:t>
            </a:r>
          </a:p>
          <a:p>
            <a:pPr algn="l">
              <a:spcBef>
                <a:spcPts val="700"/>
              </a:spcBef>
            </a:pPr>
            <a:r>
              <a:rPr sz="1500" b="0">
                <a:solidFill>
                  <a:srgbClr val="FFFFFF"/>
                </a:solidFill>
                <a:latin typeface="Calibri"/>
              </a:rPr>
              <a:t>  ›  That is exactly why the Module 1 data-handling rule exists:</a:t>
            </a:r>
          </a:p>
          <a:p>
            <a:pPr algn="l">
              <a:spcBef>
                <a:spcPts val="300"/>
              </a:spcBef>
            </a:pPr>
            <a:r>
              <a:rPr sz="1300" b="0">
                <a:solidFill>
                  <a:srgbClr val="A8B4C8"/>
                </a:solidFill>
                <a:latin typeface="Calibri"/>
              </a:rPr>
              <a:t>      ◦  Authorization is a property of the SYSTEM, not the impressiveness of the model.</a:t>
            </a:r>
          </a:p>
          <a:p>
            <a:pPr algn="l">
              <a:spcBef>
                <a:spcPts val="300"/>
              </a:spcBef>
            </a:pPr>
            <a:r>
              <a:rPr sz="1300" b="0">
                <a:solidFill>
                  <a:srgbClr val="A8B4C8"/>
                </a:solidFill>
                <a:latin typeface="Calibri"/>
              </a:rPr>
              <a:t>      ◦  A capable model on an unauthorized cloud system does not become authorized because it is capable.</a:t>
            </a:r>
          </a:p>
          <a:p>
            <a:pPr algn="l">
              <a:spcBef>
                <a:spcPts val="700"/>
              </a:spcBef>
            </a:pPr>
            <a:r>
              <a:rPr sz="1500" b="0">
                <a:solidFill>
                  <a:srgbClr val="FFFFFF"/>
                </a:solidFill>
                <a:latin typeface="Calibri"/>
              </a:rPr>
              <a:t>  ›  This is a one-line reminder, not a re-teach — the full rule lives in Module 1; the ethics treatment is Module 9.</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Skip the pricing tables — specific prices change every quarter. Teach the structure: tokens cost money, bigger models cost more, cloud sends your data off-machine, match the model and delivery to the job.</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You need to run an analysis on a very long document with several back-and-forth exchanges, on a pay-per-token plan.
What factors determine the cost of that task, and how would you reduce it?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Find Your Door</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Open your chatbot's settings or account page. Find which model you are currently using and note the name.</a:t>
            </a:r>
          </a:p>
          <a:p>
            <a:pPr algn="l">
              <a:spcBef>
                <a:spcPts val="1000"/>
              </a:spcBef>
            </a:pPr>
            <a:r>
              <a:rPr sz="1400" b="0">
                <a:solidFill>
                  <a:srgbClr val="FFFFFF"/>
                </a:solidFill>
                <a:latin typeface="Calibri"/>
              </a:rPr>
              <a:t>  2.   Open the provider's pricing page. Find one fast/small and one large/powerful model and read the price difference. Notice the STRUCTURE, don't memorize.</a:t>
            </a:r>
          </a:p>
          <a:p>
            <a:pPr algn="l">
              <a:spcBef>
                <a:spcPts val="1000"/>
              </a:spcBef>
            </a:pPr>
            <a:r>
              <a:rPr sz="1400" b="0">
                <a:solidFill>
                  <a:srgbClr val="FFFFFF"/>
                </a:solidFill>
                <a:latin typeface="Calibri"/>
              </a:rPr>
              <a:t>  3.   Identify your delivery model: subscription app, pay-per-token API, or organization-managed key.</a:t>
            </a:r>
          </a:p>
          <a:p>
            <a:pPr algn="l">
              <a:spcBef>
                <a:spcPts val="1000"/>
              </a:spcBef>
            </a:pPr>
            <a:r>
              <a:rPr sz="1400" b="0">
                <a:solidFill>
                  <a:srgbClr val="FFFFFF"/>
                </a:solidFill>
                <a:latin typeface="Calibri"/>
              </a:rPr>
              <a:t>  4.   Pick one task this week. Decide which tier AND which delivery model fit, and write one sentence explaining why.</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Soldier checking which access credential and billing line their unit issued for an AI tool]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Delivered &amp; Paid For</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Three doors: subscription app, pay-per-token API, bring-your-own-key.</a:t>
            </a:r>
          </a:p>
          <a:p>
            <a:pPr algn="l">
              <a:spcBef>
                <a:spcPts val="1400"/>
              </a:spcBef>
            </a:pPr>
            <a:r>
              <a:rPr sz="1600" b="0">
                <a:solidFill>
                  <a:srgbClr val="FFFFFF"/>
                </a:solidFill>
                <a:latin typeface="Calibri"/>
              </a:rPr>
              <a:t>  ›  Cloud vs. local trades capability against keeping data on your machine.</a:t>
            </a:r>
          </a:p>
          <a:p>
            <a:pPr algn="l">
              <a:spcBef>
                <a:spcPts val="1400"/>
              </a:spcBef>
            </a:pPr>
            <a:r>
              <a:rPr sz="1600" b="0">
                <a:solidFill>
                  <a:srgbClr val="FFFFFF"/>
                </a:solidFill>
                <a:latin typeface="Calibri"/>
              </a:rPr>
              <a:t>  ›  Billing model affects cost — know it before a long task.</a:t>
            </a:r>
          </a:p>
          <a:p>
            <a:pPr algn="l">
              <a:spcBef>
                <a:spcPts val="1400"/>
              </a:spcBef>
            </a:pPr>
            <a:r>
              <a:rPr sz="1600" b="0">
                <a:solidFill>
                  <a:srgbClr val="FFFFFF"/>
                </a:solidFill>
                <a:latin typeface="Calibri"/>
              </a:rPr>
              <a:t>  ›  Cloud delivery is why the Module 1 data-handling boundary matters.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MODULE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Tokens, Context &amp; Cost</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389888"/>
            <a:ext cx="11365992" cy="384048"/>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444752"/>
            <a:ext cx="2651760" cy="384048"/>
          </a:xfrm>
          <a:prstGeom prst="rect">
            <a:avLst/>
          </a:prstGeom>
          <a:noFill/>
        </p:spPr>
        <p:txBody>
          <a:bodyPr wrap="square">
            <a:spAutoFit/>
          </a:bodyPr>
          <a:lstStyle/>
          <a:p>
            <a:pPr algn="l"/>
            <a:r>
              <a:rPr sz="1100" b="1" i="0">
                <a:solidFill>
                  <a:srgbClr val="0A0C14"/>
                </a:solidFill>
                <a:latin typeface="Calibri"/>
              </a:rPr>
              <a:t>CONCEPT</a:t>
            </a:r>
          </a:p>
        </p:txBody>
      </p:sp>
      <p:sp>
        <p:nvSpPr>
          <p:cNvPr id="9" name="TextBox 8"/>
          <p:cNvSpPr txBox="1"/>
          <p:nvPr/>
        </p:nvSpPr>
        <p:spPr>
          <a:xfrm>
            <a:off x="3291840" y="1444752"/>
            <a:ext cx="4023360" cy="384048"/>
          </a:xfrm>
          <a:prstGeom prst="rect">
            <a:avLst/>
          </a:prstGeom>
          <a:noFill/>
        </p:spPr>
        <p:txBody>
          <a:bodyPr wrap="square">
            <a:spAutoFit/>
          </a:bodyPr>
          <a:lstStyle/>
          <a:p>
            <a:pPr algn="l"/>
            <a:r>
              <a:rPr sz="1100" b="1" i="0">
                <a:solidFill>
                  <a:srgbClr val="0A0C14"/>
                </a:solidFill>
                <a:latin typeface="Calibri"/>
              </a:rPr>
              <a:t>CORE IDEA</a:t>
            </a:r>
          </a:p>
        </p:txBody>
      </p:sp>
      <p:sp>
        <p:nvSpPr>
          <p:cNvPr id="10" name="TextBox 9"/>
          <p:cNvSpPr txBox="1"/>
          <p:nvPr/>
        </p:nvSpPr>
        <p:spPr>
          <a:xfrm>
            <a:off x="7498080" y="1444752"/>
            <a:ext cx="4572000" cy="384048"/>
          </a:xfrm>
          <a:prstGeom prst="rect">
            <a:avLst/>
          </a:prstGeom>
          <a:noFill/>
        </p:spPr>
        <p:txBody>
          <a:bodyPr wrap="square">
            <a:spAutoFit/>
          </a:bodyPr>
          <a:lstStyle/>
          <a:p>
            <a:pPr algn="l"/>
            <a:r>
              <a:rPr sz="1100" b="1" i="0">
                <a:solidFill>
                  <a:srgbClr val="0A0C14"/>
                </a:solidFill>
                <a:latin typeface="Calibri"/>
              </a:rPr>
              <a:t>WHY IT MATTERS</a:t>
            </a:r>
          </a:p>
        </p:txBody>
      </p:sp>
      <p:sp>
        <p:nvSpPr>
          <p:cNvPr id="11" name="Rectangle 10"/>
          <p:cNvSpPr/>
          <p:nvPr/>
        </p:nvSpPr>
        <p:spPr>
          <a:xfrm>
            <a:off x="411480" y="1773936"/>
            <a:ext cx="11365992" cy="758952"/>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1773936"/>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1208" y="1847088"/>
            <a:ext cx="2514600" cy="731520"/>
          </a:xfrm>
          <a:prstGeom prst="rect">
            <a:avLst/>
          </a:prstGeom>
          <a:noFill/>
        </p:spPr>
        <p:txBody>
          <a:bodyPr wrap="square">
            <a:spAutoFit/>
          </a:bodyPr>
          <a:lstStyle/>
          <a:p>
            <a:pPr algn="l"/>
            <a:r>
              <a:rPr sz="1100" b="1" i="0">
                <a:solidFill>
                  <a:srgbClr val="00B4FF"/>
                </a:solidFill>
                <a:latin typeface="Calibri"/>
              </a:rPr>
              <a:t>Spending Tokens</a:t>
            </a:r>
          </a:p>
        </p:txBody>
      </p:sp>
      <p:sp>
        <p:nvSpPr>
          <p:cNvPr id="14" name="TextBox 13"/>
          <p:cNvSpPr txBox="1"/>
          <p:nvPr/>
        </p:nvSpPr>
        <p:spPr>
          <a:xfrm>
            <a:off x="3310128" y="1847088"/>
            <a:ext cx="3886200" cy="731520"/>
          </a:xfrm>
          <a:prstGeom prst="rect">
            <a:avLst/>
          </a:prstGeom>
          <a:noFill/>
        </p:spPr>
        <p:txBody>
          <a:bodyPr wrap="square">
            <a:spAutoFit/>
          </a:bodyPr>
          <a:lstStyle/>
          <a:p>
            <a:pPr algn="l"/>
            <a:r>
              <a:rPr sz="1100" b="0" i="0">
                <a:solidFill>
                  <a:srgbClr val="FFFFFF"/>
                </a:solidFill>
                <a:latin typeface="Calibri"/>
              </a:rPr>
              <a:t>Know what a token is — now budget it</a:t>
            </a:r>
          </a:p>
        </p:txBody>
      </p:sp>
      <p:sp>
        <p:nvSpPr>
          <p:cNvPr id="15" name="TextBox 14"/>
          <p:cNvSpPr txBox="1"/>
          <p:nvPr/>
        </p:nvSpPr>
        <p:spPr>
          <a:xfrm>
            <a:off x="7516368" y="1847088"/>
            <a:ext cx="4434840" cy="731520"/>
          </a:xfrm>
          <a:prstGeom prst="rect">
            <a:avLst/>
          </a:prstGeom>
          <a:noFill/>
        </p:spPr>
        <p:txBody>
          <a:bodyPr wrap="square">
            <a:spAutoFit/>
          </a:bodyPr>
          <a:lstStyle/>
          <a:p>
            <a:pPr algn="l"/>
            <a:r>
              <a:rPr sz="1100" b="0" i="0">
                <a:solidFill>
                  <a:srgbClr val="A8B4C8"/>
                </a:solidFill>
                <a:latin typeface="Calibri"/>
              </a:rPr>
              <a:t>Cost, speed, and accuracy all scale with tokens spent.</a:t>
            </a:r>
          </a:p>
        </p:txBody>
      </p:sp>
      <p:sp>
        <p:nvSpPr>
          <p:cNvPr id="16" name="Rectangle 15"/>
          <p:cNvSpPr/>
          <p:nvPr/>
        </p:nvSpPr>
        <p:spPr>
          <a:xfrm>
            <a:off x="411480" y="2532888"/>
            <a:ext cx="11365992" cy="758952"/>
          </a:xfrm>
          <a:prstGeom prst="rect">
            <a:avLst/>
          </a:prstGeom>
          <a:solidFill>
            <a:srgbClr val="15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2532888"/>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1208" y="2606040"/>
            <a:ext cx="2514600" cy="731520"/>
          </a:xfrm>
          <a:prstGeom prst="rect">
            <a:avLst/>
          </a:prstGeom>
          <a:noFill/>
        </p:spPr>
        <p:txBody>
          <a:bodyPr wrap="square">
            <a:spAutoFit/>
          </a:bodyPr>
          <a:lstStyle/>
          <a:p>
            <a:pPr algn="l"/>
            <a:r>
              <a:rPr sz="1100" b="1" i="0">
                <a:solidFill>
                  <a:srgbClr val="00B4FF"/>
                </a:solidFill>
                <a:latin typeface="Calibri"/>
              </a:rPr>
              <a:t>Model Tiers</a:t>
            </a:r>
          </a:p>
        </p:txBody>
      </p:sp>
      <p:sp>
        <p:nvSpPr>
          <p:cNvPr id="19" name="TextBox 18"/>
          <p:cNvSpPr txBox="1"/>
          <p:nvPr/>
        </p:nvSpPr>
        <p:spPr>
          <a:xfrm>
            <a:off x="3310128" y="2606040"/>
            <a:ext cx="3886200" cy="731520"/>
          </a:xfrm>
          <a:prstGeom prst="rect">
            <a:avLst/>
          </a:prstGeom>
          <a:noFill/>
        </p:spPr>
        <p:txBody>
          <a:bodyPr wrap="square">
            <a:spAutoFit/>
          </a:bodyPr>
          <a:lstStyle/>
          <a:p>
            <a:pPr algn="l"/>
            <a:r>
              <a:rPr sz="1100" b="0" i="0">
                <a:solidFill>
                  <a:srgbClr val="FFFFFF"/>
                </a:solidFill>
                <a:latin typeface="Calibri"/>
              </a:rPr>
              <a:t>Fast, balanced, powerful in every family</a:t>
            </a:r>
          </a:p>
        </p:txBody>
      </p:sp>
      <p:sp>
        <p:nvSpPr>
          <p:cNvPr id="20" name="TextBox 19"/>
          <p:cNvSpPr txBox="1"/>
          <p:nvPr/>
        </p:nvSpPr>
        <p:spPr>
          <a:xfrm>
            <a:off x="7516368" y="2606040"/>
            <a:ext cx="4434840" cy="731520"/>
          </a:xfrm>
          <a:prstGeom prst="rect">
            <a:avLst/>
          </a:prstGeom>
          <a:noFill/>
        </p:spPr>
        <p:txBody>
          <a:bodyPr wrap="square">
            <a:spAutoFit/>
          </a:bodyPr>
          <a:lstStyle/>
          <a:p>
            <a:pPr algn="l"/>
            <a:r>
              <a:rPr sz="1100" b="0" i="0">
                <a:solidFill>
                  <a:srgbClr val="A8B4C8"/>
                </a:solidFill>
                <a:latin typeface="Calibri"/>
              </a:rPr>
              <a:t>Matching tier to task is the biggest lever on cost.</a:t>
            </a:r>
          </a:p>
        </p:txBody>
      </p:sp>
      <p:sp>
        <p:nvSpPr>
          <p:cNvPr id="21" name="Rectangle 20"/>
          <p:cNvSpPr/>
          <p:nvPr/>
        </p:nvSpPr>
        <p:spPr>
          <a:xfrm>
            <a:off x="411480" y="3291840"/>
            <a:ext cx="11365992" cy="758952"/>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1480" y="3291840"/>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 y="3364992"/>
            <a:ext cx="2514600" cy="731520"/>
          </a:xfrm>
          <a:prstGeom prst="rect">
            <a:avLst/>
          </a:prstGeom>
          <a:noFill/>
        </p:spPr>
        <p:txBody>
          <a:bodyPr wrap="square">
            <a:spAutoFit/>
          </a:bodyPr>
          <a:lstStyle/>
          <a:p>
            <a:pPr algn="l"/>
            <a:r>
              <a:rPr sz="1100" b="1" i="0">
                <a:solidFill>
                  <a:srgbClr val="00B4FF"/>
                </a:solidFill>
                <a:latin typeface="Calibri"/>
              </a:rPr>
              <a:t>Selection Heuristic</a:t>
            </a:r>
          </a:p>
        </p:txBody>
      </p:sp>
      <p:sp>
        <p:nvSpPr>
          <p:cNvPr id="24" name="TextBox 23"/>
          <p:cNvSpPr txBox="1"/>
          <p:nvPr/>
        </p:nvSpPr>
        <p:spPr>
          <a:xfrm>
            <a:off x="3310128" y="3364992"/>
            <a:ext cx="3886200" cy="731520"/>
          </a:xfrm>
          <a:prstGeom prst="rect">
            <a:avLst/>
          </a:prstGeom>
          <a:noFill/>
        </p:spPr>
        <p:txBody>
          <a:bodyPr wrap="square">
            <a:spAutoFit/>
          </a:bodyPr>
          <a:lstStyle/>
          <a:p>
            <a:pPr algn="l"/>
            <a:r>
              <a:rPr sz="1100" b="0" i="0">
                <a:solidFill>
                  <a:srgbClr val="FFFFFF"/>
                </a:solidFill>
                <a:latin typeface="Calibri"/>
              </a:rPr>
              <a:t>Fast / reasoning / big-context buckets</a:t>
            </a:r>
          </a:p>
        </p:txBody>
      </p:sp>
      <p:sp>
        <p:nvSpPr>
          <p:cNvPr id="25" name="TextBox 24"/>
          <p:cNvSpPr txBox="1"/>
          <p:nvPr/>
        </p:nvSpPr>
        <p:spPr>
          <a:xfrm>
            <a:off x="7516368" y="3364992"/>
            <a:ext cx="4434840" cy="731520"/>
          </a:xfrm>
          <a:prstGeom prst="rect">
            <a:avLst/>
          </a:prstGeom>
          <a:noFill/>
        </p:spPr>
        <p:txBody>
          <a:bodyPr wrap="square">
            <a:spAutoFit/>
          </a:bodyPr>
          <a:lstStyle/>
          <a:p>
            <a:pPr algn="l"/>
            <a:r>
              <a:rPr sz="1100" b="0" i="0">
                <a:solidFill>
                  <a:srgbClr val="A8B4C8"/>
                </a:solidFill>
                <a:latin typeface="Calibri"/>
              </a:rPr>
              <a:t>A junior can pick the right model on the spot.</a:t>
            </a:r>
          </a:p>
        </p:txBody>
      </p:sp>
      <p:sp>
        <p:nvSpPr>
          <p:cNvPr id="26" name="Rectangle 25"/>
          <p:cNvSpPr/>
          <p:nvPr/>
        </p:nvSpPr>
        <p:spPr>
          <a:xfrm>
            <a:off x="411480" y="4050792"/>
            <a:ext cx="11365992" cy="758952"/>
          </a:xfrm>
          <a:prstGeom prst="rect">
            <a:avLst/>
          </a:prstGeom>
          <a:solidFill>
            <a:srgbClr val="15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11480" y="4050792"/>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1208" y="4123944"/>
            <a:ext cx="2514600" cy="731520"/>
          </a:xfrm>
          <a:prstGeom prst="rect">
            <a:avLst/>
          </a:prstGeom>
          <a:noFill/>
        </p:spPr>
        <p:txBody>
          <a:bodyPr wrap="square">
            <a:spAutoFit/>
          </a:bodyPr>
          <a:lstStyle/>
          <a:p>
            <a:pPr algn="l"/>
            <a:r>
              <a:rPr sz="1100" b="1" i="0">
                <a:solidFill>
                  <a:srgbClr val="00B4FF"/>
                </a:solidFill>
                <a:latin typeface="Calibri"/>
              </a:rPr>
              <a:t>Context, Operationally</a:t>
            </a:r>
          </a:p>
        </p:txBody>
      </p:sp>
      <p:sp>
        <p:nvSpPr>
          <p:cNvPr id="29" name="TextBox 28"/>
          <p:cNvSpPr txBox="1"/>
          <p:nvPr/>
        </p:nvSpPr>
        <p:spPr>
          <a:xfrm>
            <a:off x="3310128" y="4123944"/>
            <a:ext cx="3886200" cy="731520"/>
          </a:xfrm>
          <a:prstGeom prst="rect">
            <a:avLst/>
          </a:prstGeom>
          <a:noFill/>
        </p:spPr>
        <p:txBody>
          <a:bodyPr wrap="square">
            <a:spAutoFit/>
          </a:bodyPr>
          <a:lstStyle/>
          <a:p>
            <a:pPr algn="l"/>
            <a:r>
              <a:rPr sz="1100" b="0" i="0">
                <a:solidFill>
                  <a:srgbClr val="FFFFFF"/>
                </a:solidFill>
                <a:latin typeface="Calibri"/>
              </a:rPr>
              <a:t>The window fills silently</a:t>
            </a:r>
          </a:p>
        </p:txBody>
      </p:sp>
      <p:sp>
        <p:nvSpPr>
          <p:cNvPr id="30" name="TextBox 29"/>
          <p:cNvSpPr txBox="1"/>
          <p:nvPr/>
        </p:nvSpPr>
        <p:spPr>
          <a:xfrm>
            <a:off x="7516368" y="4123944"/>
            <a:ext cx="4434840" cy="731520"/>
          </a:xfrm>
          <a:prstGeom prst="rect">
            <a:avLst/>
          </a:prstGeom>
          <a:noFill/>
        </p:spPr>
        <p:txBody>
          <a:bodyPr wrap="square">
            <a:spAutoFit/>
          </a:bodyPr>
          <a:lstStyle/>
          <a:p>
            <a:pPr algn="l"/>
            <a:r>
              <a:rPr sz="1100" b="0" i="0">
                <a:solidFill>
                  <a:srgbClr val="A8B4C8"/>
                </a:solidFill>
                <a:latin typeface="Calibri"/>
              </a:rPr>
              <a:t>Smart sampling beats cramming; start fresh proactively.</a:t>
            </a:r>
          </a:p>
        </p:txBody>
      </p:sp>
      <p:sp>
        <p:nvSpPr>
          <p:cNvPr id="31" name="Rectangle 30"/>
          <p:cNvSpPr/>
          <p:nvPr/>
        </p:nvSpPr>
        <p:spPr>
          <a:xfrm>
            <a:off x="411480" y="4809744"/>
            <a:ext cx="11365992" cy="758952"/>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11480" y="4809744"/>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1208" y="4882896"/>
            <a:ext cx="2514600" cy="731520"/>
          </a:xfrm>
          <a:prstGeom prst="rect">
            <a:avLst/>
          </a:prstGeom>
          <a:noFill/>
        </p:spPr>
        <p:txBody>
          <a:bodyPr wrap="square">
            <a:spAutoFit/>
          </a:bodyPr>
          <a:lstStyle/>
          <a:p>
            <a:pPr algn="l"/>
            <a:r>
              <a:rPr sz="1100" b="1" i="0">
                <a:solidFill>
                  <a:srgbClr val="00B4FF"/>
                </a:solidFill>
                <a:latin typeface="Calibri"/>
              </a:rPr>
              <a:t>Cost Discipline</a:t>
            </a:r>
          </a:p>
        </p:txBody>
      </p:sp>
      <p:sp>
        <p:nvSpPr>
          <p:cNvPr id="34" name="TextBox 33"/>
          <p:cNvSpPr txBox="1"/>
          <p:nvPr/>
        </p:nvSpPr>
        <p:spPr>
          <a:xfrm>
            <a:off x="3310128" y="4882896"/>
            <a:ext cx="3886200" cy="731520"/>
          </a:xfrm>
          <a:prstGeom prst="rect">
            <a:avLst/>
          </a:prstGeom>
          <a:noFill/>
        </p:spPr>
        <p:txBody>
          <a:bodyPr wrap="square">
            <a:spAutoFit/>
          </a:bodyPr>
          <a:lstStyle/>
          <a:p>
            <a:pPr algn="l"/>
            <a:r>
              <a:rPr sz="1100" b="0" i="0">
                <a:solidFill>
                  <a:srgbClr val="FFFFFF"/>
                </a:solidFill>
                <a:latin typeface="Calibri"/>
              </a:rPr>
              <a:t>Four principles, tight iteration</a:t>
            </a:r>
          </a:p>
        </p:txBody>
      </p:sp>
      <p:sp>
        <p:nvSpPr>
          <p:cNvPr id="35" name="TextBox 34"/>
          <p:cNvSpPr txBox="1"/>
          <p:nvPr/>
        </p:nvSpPr>
        <p:spPr>
          <a:xfrm>
            <a:off x="7516368" y="4882896"/>
            <a:ext cx="4434840" cy="731520"/>
          </a:xfrm>
          <a:prstGeom prst="rect">
            <a:avLst/>
          </a:prstGeom>
          <a:noFill/>
        </p:spPr>
        <p:txBody>
          <a:bodyPr wrap="square">
            <a:spAutoFit/>
          </a:bodyPr>
          <a:lstStyle/>
          <a:p>
            <a:pPr algn="l"/>
            <a:r>
              <a:rPr sz="1100" b="0" i="0">
                <a:solidFill>
                  <a:srgbClr val="A8B4C8"/>
                </a:solidFill>
                <a:latin typeface="Calibri"/>
              </a:rPr>
              <a:t>Iteration is where cost hides — one clear pass beats ten.</a:t>
            </a:r>
          </a:p>
        </p:txBody>
      </p:sp>
      <p:sp>
        <p:nvSpPr>
          <p:cNvPr id="36" name="Rectangle 35"/>
          <p:cNvSpPr/>
          <p:nvPr/>
        </p:nvSpPr>
        <p:spPr>
          <a:xfrm>
            <a:off x="411480" y="5568696"/>
            <a:ext cx="11365992" cy="758952"/>
          </a:xfrm>
          <a:prstGeom prst="rect">
            <a:avLst/>
          </a:prstGeom>
          <a:solidFill>
            <a:srgbClr val="15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1480" y="5568696"/>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21208" y="5641848"/>
            <a:ext cx="2514600" cy="731520"/>
          </a:xfrm>
          <a:prstGeom prst="rect">
            <a:avLst/>
          </a:prstGeom>
          <a:noFill/>
        </p:spPr>
        <p:txBody>
          <a:bodyPr wrap="square">
            <a:spAutoFit/>
          </a:bodyPr>
          <a:lstStyle/>
          <a:p>
            <a:pPr algn="l"/>
            <a:r>
              <a:rPr sz="1100" b="1" i="0">
                <a:solidFill>
                  <a:srgbClr val="00B4FF"/>
                </a:solidFill>
                <a:latin typeface="Calibri"/>
              </a:rPr>
              <a:t>Delivery &amp; Payment</a:t>
            </a:r>
          </a:p>
        </p:txBody>
      </p:sp>
      <p:sp>
        <p:nvSpPr>
          <p:cNvPr id="39" name="TextBox 38"/>
          <p:cNvSpPr txBox="1"/>
          <p:nvPr/>
        </p:nvSpPr>
        <p:spPr>
          <a:xfrm>
            <a:off x="3310128" y="5641848"/>
            <a:ext cx="3886200" cy="731520"/>
          </a:xfrm>
          <a:prstGeom prst="rect">
            <a:avLst/>
          </a:prstGeom>
          <a:noFill/>
        </p:spPr>
        <p:txBody>
          <a:bodyPr wrap="square">
            <a:spAutoFit/>
          </a:bodyPr>
          <a:lstStyle/>
          <a:p>
            <a:pPr algn="l"/>
            <a:r>
              <a:rPr sz="1100" b="0" i="0">
                <a:solidFill>
                  <a:srgbClr val="FFFFFF"/>
                </a:solidFill>
                <a:latin typeface="Calibri"/>
              </a:rPr>
              <a:t>App, API, or managed key; cloud vs. local</a:t>
            </a:r>
          </a:p>
        </p:txBody>
      </p:sp>
      <p:sp>
        <p:nvSpPr>
          <p:cNvPr id="40" name="TextBox 39"/>
          <p:cNvSpPr txBox="1"/>
          <p:nvPr/>
        </p:nvSpPr>
        <p:spPr>
          <a:xfrm>
            <a:off x="7516368" y="5641848"/>
            <a:ext cx="4434840" cy="731520"/>
          </a:xfrm>
          <a:prstGeom prst="rect">
            <a:avLst/>
          </a:prstGeom>
          <a:noFill/>
        </p:spPr>
        <p:txBody>
          <a:bodyPr wrap="square">
            <a:spAutoFit/>
          </a:bodyPr>
          <a:lstStyle/>
          <a:p>
            <a:pPr algn="l"/>
            <a:r>
              <a:rPr sz="1100" b="0" i="0">
                <a:solidFill>
                  <a:srgbClr val="A8B4C8"/>
                </a:solidFill>
                <a:latin typeface="Calibri"/>
              </a:rPr>
              <a:t>Billing affects cost; cloud governs what you may send.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READINESS CHECK</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Confirm before moving on</a:t>
            </a:r>
          </a:p>
        </p:txBody>
      </p:sp>
      <p:sp>
        <p:nvSpPr>
          <p:cNvPr id="4" name="Rectangle 3"/>
          <p:cNvSpPr/>
          <p:nvPr/>
        </p:nvSpPr>
        <p:spPr>
          <a:xfrm>
            <a:off x="411480" y="1143000"/>
            <a:ext cx="11365992" cy="25400"/>
          </a:xfrm>
          <a:prstGeom prst="rect">
            <a:avLst/>
          </a:prstGeom>
          <a:solidFill>
            <a:srgbClr val="FFAA00"/>
          </a:solidFill>
          <a:ln>
            <a:noFill/>
          </a:ln>
          <a:effectLst>
            <a:glow rad="50800">
              <a:srgbClr val="FFAA00">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FFAA00"/>
          </a:solidFill>
          <a:ln>
            <a:noFill/>
          </a:ln>
          <a:effectLst>
            <a:glow rad="38100">
              <a:srgbClr val="FFAA00">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800"/>
              </a:spcBef>
            </a:pPr>
            <a:r>
              <a:rPr sz="1300" b="0">
                <a:solidFill>
                  <a:srgbClr val="A8B4C8"/>
                </a:solidFill>
                <a:latin typeface="Calibri"/>
              </a:rPr>
              <a:t>  ☐   I can state, from Module 1, what a token is without re-reading it</a:t>
            </a:r>
          </a:p>
          <a:p>
            <a:pPr algn="l">
              <a:spcBef>
                <a:spcPts val="800"/>
              </a:spcBef>
            </a:pPr>
            <a:r>
              <a:rPr sz="1300" b="0">
                <a:solidFill>
                  <a:srgbClr val="A8B4C8"/>
                </a:solidFill>
                <a:latin typeface="Calibri"/>
              </a:rPr>
              <a:t>  ☐   I understand that cost, speed, and accuracy all scale with tokens spent</a:t>
            </a:r>
          </a:p>
          <a:p>
            <a:pPr algn="l">
              <a:spcBef>
                <a:spcPts val="800"/>
              </a:spcBef>
            </a:pPr>
            <a:r>
              <a:rPr sz="1300" b="0">
                <a:solidFill>
                  <a:srgbClr val="A8B4C8"/>
                </a:solidFill>
                <a:latin typeface="Calibri"/>
              </a:rPr>
              <a:t>  ☐   I can name the three model tiers: fast, balanced, powerful</a:t>
            </a:r>
          </a:p>
          <a:p>
            <a:pPr algn="l">
              <a:spcBef>
                <a:spcPts val="800"/>
              </a:spcBef>
            </a:pPr>
            <a:r>
              <a:rPr sz="1300" b="0">
                <a:solidFill>
                  <a:srgbClr val="A8B4C8"/>
                </a:solidFill>
                <a:latin typeface="Calibri"/>
              </a:rPr>
              <a:t>  ☐   I can apply the fast / reasoning / big-context heuristic to a real task</a:t>
            </a:r>
          </a:p>
          <a:p>
            <a:pPr algn="l">
              <a:spcBef>
                <a:spcPts val="800"/>
              </a:spcBef>
            </a:pPr>
            <a:r>
              <a:rPr sz="1300" b="0">
                <a:solidFill>
                  <a:srgbClr val="A8B4C8"/>
                </a:solidFill>
                <a:latin typeface="Calibri"/>
              </a:rPr>
              <a:t>  ☐   I know model names, tiers, pricing, and context sizes must be verified before use</a:t>
            </a:r>
          </a:p>
          <a:p>
            <a:pPr algn="l">
              <a:spcBef>
                <a:spcPts val="800"/>
              </a:spcBef>
            </a:pPr>
            <a:r>
              <a:rPr sz="1300" b="0">
                <a:solidFill>
                  <a:srgbClr val="A8B4C8"/>
                </a:solidFill>
                <a:latin typeface="Calibri"/>
              </a:rPr>
              <a:t>  ☐   I can state the three operational context rules</a:t>
            </a:r>
          </a:p>
          <a:p>
            <a:pPr algn="l">
              <a:spcBef>
                <a:spcPts val="800"/>
              </a:spcBef>
            </a:pPr>
            <a:r>
              <a:rPr sz="1300" b="0">
                <a:solidFill>
                  <a:srgbClr val="A8B4C8"/>
                </a:solidFill>
                <a:latin typeface="Calibri"/>
              </a:rPr>
              <a:t>  ☐   I can name the smart-sampling fix for long chats and file-heavy work</a:t>
            </a:r>
          </a:p>
          <a:p>
            <a:pPr algn="l">
              <a:spcBef>
                <a:spcPts val="800"/>
              </a:spcBef>
            </a:pPr>
            <a:r>
              <a:rPr sz="1300" b="0">
                <a:solidFill>
                  <a:srgbClr val="A8B4C8"/>
                </a:solidFill>
                <a:latin typeface="Calibri"/>
              </a:rPr>
              <a:t>  ☐   I can name the three cost dimensions and four cost principles</a:t>
            </a:r>
          </a:p>
          <a:p>
            <a:pPr algn="l">
              <a:spcBef>
                <a:spcPts val="800"/>
              </a:spcBef>
            </a:pPr>
            <a:r>
              <a:rPr sz="1300" b="0">
                <a:solidFill>
                  <a:srgbClr val="A8B4C8"/>
                </a:solidFill>
                <a:latin typeface="Calibri"/>
              </a:rPr>
              <a:t>  ☐   I can name the three ways AI is paid for and the cloud-vs-local trade-off</a:t>
            </a:r>
          </a:p>
          <a:p>
            <a:pPr algn="l">
              <a:spcBef>
                <a:spcPts val="800"/>
              </a:spcBef>
            </a:pPr>
            <a:r>
              <a:rPr sz="1300" b="0">
                <a:solidFill>
                  <a:srgbClr val="A8B4C8"/>
                </a:solidFill>
                <a:latin typeface="Calibri"/>
              </a:rPr>
              <a:t>  ☐   I understand cloud delivery is why the data-handling boundary matters (Module 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228600" cy="6858000"/>
          </a:xfrm>
          <a:prstGeom prst="rect">
            <a:avLst/>
          </a:prstGeom>
          <a:solidFill>
            <a:srgbClr val="00B4FF"/>
          </a:solidFill>
          <a:ln>
            <a:noFill/>
          </a:ln>
          <a:effectLst>
            <a:glow rad="635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548640"/>
            <a:ext cx="7315200" cy="347472"/>
          </a:xfrm>
          <a:prstGeom prst="rect">
            <a:avLst/>
          </a:prstGeom>
          <a:noFill/>
        </p:spPr>
        <p:txBody>
          <a:bodyPr wrap="square">
            <a:spAutoFit/>
          </a:bodyPr>
          <a:lstStyle/>
          <a:p>
            <a:pPr algn="l"/>
            <a:r>
              <a:rPr sz="1100" b="1" i="0">
                <a:solidFill>
                  <a:srgbClr val="00B4FF"/>
                </a:solidFill>
                <a:latin typeface="Calibri"/>
              </a:rPr>
              <a:t>END OF MODULE</a:t>
            </a:r>
          </a:p>
        </p:txBody>
      </p:sp>
      <p:sp>
        <p:nvSpPr>
          <p:cNvPr id="6" name="TextBox 5"/>
          <p:cNvSpPr txBox="1"/>
          <p:nvPr/>
        </p:nvSpPr>
        <p:spPr>
          <a:xfrm>
            <a:off x="411480" y="1005840"/>
            <a:ext cx="7315200" cy="1828800"/>
          </a:xfrm>
          <a:prstGeom prst="rect">
            <a:avLst/>
          </a:prstGeom>
          <a:noFill/>
        </p:spPr>
        <p:txBody>
          <a:bodyPr wrap="square">
            <a:spAutoFit/>
          </a:bodyPr>
          <a:lstStyle/>
          <a:p>
            <a:pPr algn="l"/>
            <a:r>
              <a:rPr sz="4000" b="1" i="0">
                <a:solidFill>
                  <a:srgbClr val="FFFFFF"/>
                </a:solidFill>
                <a:latin typeface="Calibri"/>
              </a:rPr>
              <a:t>Tokens,
Context &amp; Cost</a:t>
            </a:r>
          </a:p>
        </p:txBody>
      </p:sp>
      <p:sp>
        <p:nvSpPr>
          <p:cNvPr id="7" name="Rectangle 6"/>
          <p:cNvSpPr/>
          <p:nvPr/>
        </p:nvSpPr>
        <p:spPr>
          <a:xfrm>
            <a:off x="411480" y="2971800"/>
            <a:ext cx="5486400" cy="254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3154680"/>
            <a:ext cx="3657600" cy="320040"/>
          </a:xfrm>
          <a:prstGeom prst="rect">
            <a:avLst/>
          </a:prstGeom>
          <a:noFill/>
        </p:spPr>
        <p:txBody>
          <a:bodyPr wrap="square">
            <a:spAutoFit/>
          </a:bodyPr>
          <a:lstStyle/>
          <a:p>
            <a:pPr algn="l"/>
            <a:r>
              <a:rPr sz="1100" b="1" i="0">
                <a:solidFill>
                  <a:srgbClr val="FFAA00"/>
                </a:solidFill>
                <a:latin typeface="Calibri"/>
              </a:rPr>
              <a:t>NEXT STEPS</a:t>
            </a:r>
          </a:p>
        </p:txBody>
      </p:sp>
      <p:sp>
        <p:nvSpPr>
          <p:cNvPr id="9" name="TextBox 8"/>
          <p:cNvSpPr txBox="1"/>
          <p:nvPr/>
        </p:nvSpPr>
        <p:spPr>
          <a:xfrm>
            <a:off x="411480" y="3566160"/>
            <a:ext cx="6858000" cy="2560320"/>
          </a:xfrm>
          <a:prstGeom prst="rect">
            <a:avLst/>
          </a:prstGeom>
          <a:noFill/>
        </p:spPr>
        <p:txBody>
          <a:bodyPr wrap="square">
            <a:spAutoFit/>
          </a:bodyPr>
          <a:lstStyle/>
          <a:p>
            <a:pPr algn="l">
              <a:spcBef>
                <a:spcPts val="1000"/>
              </a:spcBef>
            </a:pPr>
            <a:r>
              <a:rPr sz="1400" b="0">
                <a:solidFill>
                  <a:srgbClr val="A8B4C8"/>
                </a:solidFill>
                <a:latin typeface="Calibri"/>
              </a:rPr>
              <a:t>  1.   Complete all five hands-on exercises before continuing.</a:t>
            </a:r>
          </a:p>
          <a:p>
            <a:pPr algn="l">
              <a:spcBef>
                <a:spcPts val="1000"/>
              </a:spcBef>
            </a:pPr>
            <a:r>
              <a:rPr sz="1400" b="0">
                <a:solidFill>
                  <a:srgbClr val="A8B4C8"/>
                </a:solidFill>
                <a:latin typeface="Calibri"/>
              </a:rPr>
              <a:t>  2.   VERIFY every model name, tier, price, and context size at the provider's docs before any real run — the numbers drift, the concepts don't.</a:t>
            </a:r>
          </a:p>
          <a:p>
            <a:pPr algn="l">
              <a:spcBef>
                <a:spcPts val="1000"/>
              </a:spcBef>
            </a:pPr>
            <a:r>
              <a:rPr sz="1400" b="0">
                <a:solidFill>
                  <a:srgbClr val="A8B4C8"/>
                </a:solidFill>
                <a:latin typeface="Calibri"/>
              </a:rPr>
              <a:t>  3.   On your next task, pick the tier with the heuristic and decide what the agent should read via tools instead of you pasting.</a:t>
            </a:r>
          </a:p>
          <a:p>
            <a:pPr algn="l">
              <a:spcBef>
                <a:spcPts val="1000"/>
              </a:spcBef>
            </a:pPr>
            <a:r>
              <a:rPr sz="1400" b="0">
                <a:solidFill>
                  <a:srgbClr val="A8B4C8"/>
                </a:solidFill>
                <a:latin typeface="Calibri"/>
              </a:rPr>
              <a:t>  4.   Next — Module 9: Rules of Engagement (ethics and responsible AI use).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