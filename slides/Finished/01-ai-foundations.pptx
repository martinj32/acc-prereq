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0"/>
            <a:ext cx="127000" cy="6858000"/>
          </a:xfrm>
          <a:prstGeom prst="rect">
            <a:avLst/>
          </a:prstGeom>
          <a:solidFill>
            <a:srgbClr val="00B4FF"/>
          </a:solidFill>
          <a:ln>
            <a:noFill/>
          </a:ln>
          <a:effectLst>
            <a:glow rad="635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5486400" cy="320040"/>
          </a:xfrm>
          <a:prstGeom prst="rect">
            <a:avLst/>
          </a:prstGeom>
          <a:noFill/>
        </p:spPr>
        <p:txBody>
          <a:bodyPr wrap="square">
            <a:spAutoFit/>
          </a:bodyPr>
          <a:lstStyle/>
          <a:p>
            <a:pPr algn="l"/>
            <a:r>
              <a:rPr sz="1000" b="1" i="0">
                <a:solidFill>
                  <a:srgbClr val="00B4FF"/>
                </a:solidFill>
                <a:latin typeface="Calibri"/>
              </a:rPr>
              <a:t>AGENTIC COMMANDERS COURSE</a:t>
            </a:r>
          </a:p>
        </p:txBody>
      </p:sp>
      <p:sp>
        <p:nvSpPr>
          <p:cNvPr id="4" name="TextBox 3"/>
          <p:cNvSpPr txBox="1"/>
          <p:nvPr/>
        </p:nvSpPr>
        <p:spPr>
          <a:xfrm>
            <a:off x="274320" y="914400"/>
            <a:ext cx="5943600" cy="2560320"/>
          </a:xfrm>
          <a:prstGeom prst="rect">
            <a:avLst/>
          </a:prstGeom>
          <a:noFill/>
        </p:spPr>
        <p:txBody>
          <a:bodyPr wrap="square">
            <a:spAutoFit/>
          </a:bodyPr>
          <a:lstStyle/>
          <a:p>
            <a:pPr algn="l"/>
            <a:r>
              <a:rPr sz="4000" b="1" i="0">
                <a:solidFill>
                  <a:srgbClr val="FFFFFF"/>
                </a:solidFill>
                <a:latin typeface="Calibri"/>
              </a:rPr>
              <a:t>Module 1:
Know Your Weapon</a:t>
            </a:r>
          </a:p>
        </p:txBody>
      </p:sp>
      <p:sp>
        <p:nvSpPr>
          <p:cNvPr id="5" name="Rectangle 4"/>
          <p:cNvSpPr/>
          <p:nvPr/>
        </p:nvSpPr>
        <p:spPr>
          <a:xfrm>
            <a:off x="274320" y="3657600"/>
            <a:ext cx="5303520" cy="254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3794760"/>
            <a:ext cx="5486400" cy="457200"/>
          </a:xfrm>
          <a:prstGeom prst="rect">
            <a:avLst/>
          </a:prstGeom>
          <a:noFill/>
        </p:spPr>
        <p:txBody>
          <a:bodyPr wrap="square">
            <a:spAutoFit/>
          </a:bodyPr>
          <a:lstStyle/>
          <a:p>
            <a:pPr algn="l"/>
            <a:r>
              <a:rPr sz="1300" b="0" i="0">
                <a:solidFill>
                  <a:srgbClr val="A8B4C8"/>
                </a:solidFill>
                <a:latin typeface="Calibri"/>
              </a:rPr>
              <a:t>PREREQUISITE MODULE  |  SELF-PACED</a:t>
            </a:r>
          </a:p>
        </p:txBody>
      </p:sp>
      <p:sp>
        <p:nvSpPr>
          <p:cNvPr id="7" name="Rectangle 6"/>
          <p:cNvSpPr/>
          <p:nvPr/>
        </p:nvSpPr>
        <p:spPr>
          <a:xfrm>
            <a:off x="6492240" y="320040"/>
            <a:ext cx="5394960" cy="60807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3040380"/>
            <a:ext cx="5394960" cy="274320"/>
          </a:xfrm>
          <a:prstGeom prst="rect">
            <a:avLst/>
          </a:prstGeom>
          <a:noFill/>
        </p:spPr>
        <p:txBody>
          <a:bodyPr wrap="square">
            <a:spAutoFit/>
          </a:bodyPr>
          <a:lstStyle/>
          <a:p>
            <a:pPr algn="ctr"/>
            <a:r>
              <a:rPr sz="900" b="1" i="0">
                <a:solidFill>
                  <a:srgbClr val="00B4FF"/>
                </a:solidFill>
                <a:latin typeface="Calibri"/>
              </a:rPr>
              <a:t>◼  IMAGE</a:t>
            </a:r>
          </a:p>
        </p:txBody>
      </p:sp>
      <p:sp>
        <p:nvSpPr>
          <p:cNvPr id="9" name="TextBox 8"/>
          <p:cNvSpPr txBox="1"/>
          <p:nvPr/>
        </p:nvSpPr>
        <p:spPr>
          <a:xfrm>
            <a:off x="6675120" y="3314700"/>
            <a:ext cx="5029200" cy="914400"/>
          </a:xfrm>
          <a:prstGeom prst="rect">
            <a:avLst/>
          </a:prstGeom>
          <a:noFill/>
        </p:spPr>
        <p:txBody>
          <a:bodyPr wrap="square">
            <a:spAutoFit/>
          </a:bodyPr>
          <a:lstStyle/>
          <a:p>
            <a:pPr algn="ctr"/>
            <a:r>
              <a:rPr sz="900" b="0" i="0">
                <a:solidFill>
                  <a:srgbClr val="A8B4C8"/>
                </a:solidFill>
                <a:latin typeface="Calibri"/>
              </a:rPr>
              <a:t>[IMAGE: Soldier at a command-post terminal studying how an AI tool works before relying on it — knowing the weapon before carrying it]</a:t>
            </a:r>
          </a:p>
        </p:txBody>
      </p:sp>
      <p:sp>
        <p:nvSpPr>
          <p:cNvPr id="10" name="Rectangle 9"/>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MODULE OVERVIEW</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Situation Brief</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325880"/>
            <a:ext cx="11365992" cy="96012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325880"/>
            <a:ext cx="50800" cy="96012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371600"/>
            <a:ext cx="914400" cy="256032"/>
          </a:xfrm>
          <a:prstGeom prst="rect">
            <a:avLst/>
          </a:prstGeom>
          <a:noFill/>
        </p:spPr>
        <p:txBody>
          <a:bodyPr wrap="square">
            <a:spAutoFit/>
          </a:bodyPr>
          <a:lstStyle/>
          <a:p>
            <a:pPr algn="l"/>
            <a:r>
              <a:rPr sz="900" b="1" i="0">
                <a:solidFill>
                  <a:srgbClr val="FFAA00"/>
                </a:solidFill>
                <a:latin typeface="Calibri"/>
              </a:rPr>
              <a:t>BLUF</a:t>
            </a:r>
          </a:p>
        </p:txBody>
      </p:sp>
      <p:sp>
        <p:nvSpPr>
          <p:cNvPr id="10" name="TextBox 9"/>
          <p:cNvSpPr txBox="1"/>
          <p:nvPr/>
        </p:nvSpPr>
        <p:spPr>
          <a:xfrm>
            <a:off x="594360" y="1618488"/>
            <a:ext cx="11000232" cy="594360"/>
          </a:xfrm>
          <a:prstGeom prst="rect">
            <a:avLst/>
          </a:prstGeom>
          <a:noFill/>
        </p:spPr>
        <p:txBody>
          <a:bodyPr wrap="square">
            <a:spAutoFit/>
          </a:bodyPr>
          <a:lstStyle/>
          <a:p>
            <a:pPr algn="l"/>
            <a:r>
              <a:rPr sz="1400" b="0" i="0">
                <a:solidFill>
                  <a:srgbClr val="FFFFFF"/>
                </a:solidFill>
                <a:latin typeface="Calibri"/>
              </a:rPr>
              <a:t>An LLM predicts text from learned patterns — not rules, not memory, not live data. Know what it is, how a conversation actually works, where it fails, how to verify it, when to use it, and what never goes in.</a:t>
            </a:r>
          </a:p>
        </p:txBody>
      </p:sp>
      <p:sp>
        <p:nvSpPr>
          <p:cNvPr id="11" name="TextBox 10"/>
          <p:cNvSpPr txBox="1"/>
          <p:nvPr/>
        </p:nvSpPr>
        <p:spPr>
          <a:xfrm>
            <a:off x="411480" y="2377440"/>
            <a:ext cx="4572000" cy="320040"/>
          </a:xfrm>
          <a:prstGeom prst="rect">
            <a:avLst/>
          </a:prstGeom>
          <a:noFill/>
        </p:spPr>
        <p:txBody>
          <a:bodyPr wrap="square">
            <a:spAutoFit/>
          </a:bodyPr>
          <a:lstStyle/>
          <a:p>
            <a:pPr algn="l"/>
            <a:r>
              <a:rPr sz="1200" b="1" i="0">
                <a:solidFill>
                  <a:srgbClr val="FFAA00"/>
                </a:solidFill>
                <a:latin typeface="Calibri"/>
              </a:rPr>
              <a:t>⏱  Self-paced (7 sections)</a:t>
            </a:r>
          </a:p>
        </p:txBody>
      </p:sp>
      <p:sp>
        <p:nvSpPr>
          <p:cNvPr id="12" name="Rectangle 11"/>
          <p:cNvSpPr/>
          <p:nvPr/>
        </p:nvSpPr>
        <p:spPr>
          <a:xfrm>
            <a:off x="411480" y="2788920"/>
            <a:ext cx="11365992" cy="36118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788920"/>
            <a:ext cx="50800" cy="36118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852928"/>
            <a:ext cx="5486400" cy="256032"/>
          </a:xfrm>
          <a:prstGeom prst="rect">
            <a:avLst/>
          </a:prstGeom>
          <a:noFill/>
        </p:spPr>
        <p:txBody>
          <a:bodyPr wrap="square">
            <a:spAutoFit/>
          </a:bodyPr>
          <a:lstStyle/>
          <a:p>
            <a:pPr algn="l"/>
            <a:r>
              <a:rPr sz="900" b="1" i="0">
                <a:solidFill>
                  <a:srgbClr val="00B4FF"/>
                </a:solidFill>
                <a:latin typeface="Calibri"/>
              </a:rPr>
              <a:t>LEARNING OBJECTIVES</a:t>
            </a:r>
          </a:p>
        </p:txBody>
      </p:sp>
      <p:sp>
        <p:nvSpPr>
          <p:cNvPr id="15" name="TextBox 14"/>
          <p:cNvSpPr txBox="1"/>
          <p:nvPr/>
        </p:nvSpPr>
        <p:spPr>
          <a:xfrm>
            <a:off x="594360" y="3154680"/>
            <a:ext cx="11000232" cy="3108960"/>
          </a:xfrm>
          <a:prstGeom prst="rect">
            <a:avLst/>
          </a:prstGeom>
          <a:noFill/>
        </p:spPr>
        <p:txBody>
          <a:bodyPr wrap="square">
            <a:spAutoFit/>
          </a:bodyPr>
          <a:lstStyle/>
          <a:p>
            <a:pPr algn="l">
              <a:spcBef>
                <a:spcPts val="400"/>
              </a:spcBef>
            </a:pPr>
            <a:r>
              <a:rPr sz="1300" b="0">
                <a:solidFill>
                  <a:srgbClr val="A8B4C8"/>
                </a:solidFill>
                <a:latin typeface="Calibri"/>
              </a:rPr>
              <a:t>  ›  State what an LLM actually does — and why that is not the same as knowing</a:t>
            </a:r>
          </a:p>
          <a:p>
            <a:pPr algn="l">
              <a:spcBef>
                <a:spcPts val="400"/>
              </a:spcBef>
            </a:pPr>
            <a:r>
              <a:rPr sz="1300" b="0">
                <a:solidFill>
                  <a:srgbClr val="A8B4C8"/>
                </a:solidFill>
                <a:latin typeface="Calibri"/>
              </a:rPr>
              <a:t>  ›  Explain tokens and context windows in plain terms (intro depth)</a:t>
            </a:r>
          </a:p>
          <a:p>
            <a:pPr algn="l">
              <a:spcBef>
                <a:spcPts val="400"/>
              </a:spcBef>
            </a:pPr>
            <a:r>
              <a:rPr sz="1300" b="0">
                <a:solidFill>
                  <a:srgbClr val="A8B4C8"/>
                </a:solidFill>
                <a:latin typeface="Calibri"/>
              </a:rPr>
              <a:t>  ›  Explain why the model is stateless and what conversation 'memory' really is</a:t>
            </a:r>
          </a:p>
          <a:p>
            <a:pPr algn="l">
              <a:spcBef>
                <a:spcPts val="400"/>
              </a:spcBef>
            </a:pPr>
            <a:r>
              <a:rPr sz="1300" b="0">
                <a:solidFill>
                  <a:srgbClr val="A8B4C8"/>
                </a:solidFill>
                <a:latin typeface="Calibri"/>
              </a:rPr>
              <a:t>  ›  Name the five failure modes and produce a hallucination on demand</a:t>
            </a:r>
          </a:p>
          <a:p>
            <a:pPr algn="l">
              <a:spcBef>
                <a:spcPts val="400"/>
              </a:spcBef>
            </a:pPr>
            <a:r>
              <a:rPr sz="1300" b="0">
                <a:solidFill>
                  <a:srgbClr val="A8B4C8"/>
                </a:solidFill>
                <a:latin typeface="Calibri"/>
              </a:rPr>
              <a:t>  ›  Run five verification techniques as drills, not as a vibe</a:t>
            </a:r>
          </a:p>
          <a:p>
            <a:pPr algn="l">
              <a:spcBef>
                <a:spcPts val="400"/>
              </a:spcBef>
            </a:pPr>
            <a:r>
              <a:rPr sz="1300" b="0">
                <a:solidFill>
                  <a:srgbClr val="A8B4C8"/>
                </a:solidFill>
                <a:latin typeface="Calibri"/>
              </a:rPr>
              <a:t>  ›  Decide when AI is the right tool and when it is the wrong one</a:t>
            </a:r>
          </a:p>
          <a:p>
            <a:pPr algn="l">
              <a:spcBef>
                <a:spcPts val="400"/>
              </a:spcBef>
            </a:pPr>
            <a:r>
              <a:rPr sz="1300" b="0">
                <a:solidFill>
                  <a:srgbClr val="A8B4C8"/>
                </a:solidFill>
                <a:latin typeface="Calibri"/>
              </a:rPr>
              <a:t>  ›  Apply the classify-before-you-paste rule to content you handle every 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01</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01</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What an LLM
Actually Is</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The model predicts what comes next — not rules, not memory, not a lookup table. Fluent output is not the same as correct output.</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Soldier reading a training manual — learning patterns, not memorizing a rulebook]</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Prediction, Not Lookup</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The model reads a sequence of text and predicts what comes next — one chunk at a time.</a:t>
            </a:r>
          </a:p>
          <a:p>
            <a:pPr algn="l">
              <a:spcBef>
                <a:spcPts val="700"/>
              </a:spcBef>
            </a:pPr>
            <a:r>
              <a:rPr sz="1500" b="0">
                <a:solidFill>
                  <a:srgbClr val="FFFFFF"/>
                </a:solidFill>
                <a:latin typeface="Calibri"/>
              </a:rPr>
              <a:t>  ›  No lookup table. No truth check. No rules written by a programmer.</a:t>
            </a:r>
          </a:p>
          <a:p>
            <a:pPr algn="l">
              <a:spcBef>
                <a:spcPts val="700"/>
              </a:spcBef>
            </a:pPr>
            <a:r>
              <a:rPr sz="1500" b="0">
                <a:solidFill>
                  <a:srgbClr val="FFFFFF"/>
                </a:solidFill>
                <a:latin typeface="Calibri"/>
              </a:rPr>
              <a:t>  ›  Given everything written so far: what is the statistically most likely next piece?</a:t>
            </a:r>
          </a:p>
          <a:p>
            <a:pPr algn="l">
              <a:spcBef>
                <a:spcPts val="700"/>
              </a:spcBef>
            </a:pPr>
            <a:r>
              <a:rPr sz="1500" b="0">
                <a:solidFill>
                  <a:srgbClr val="FFFFFF"/>
                </a:solidFill>
                <a:latin typeface="Calibri"/>
              </a:rPr>
              <a:t>  ›  Trained, not programmed.</a:t>
            </a:r>
          </a:p>
          <a:p>
            <a:pPr algn="l">
              <a:spcBef>
                <a:spcPts val="300"/>
              </a:spcBef>
            </a:pPr>
            <a:r>
              <a:rPr sz="1300" b="0">
                <a:solidFill>
                  <a:srgbClr val="A8B4C8"/>
                </a:solidFill>
                <a:latin typeface="Calibri"/>
              </a:rPr>
              <a:t>      ◦  No one wrote 'Paris is the capital of France.' The model trained on enough text that it became the likely completion.</a:t>
            </a:r>
          </a:p>
          <a:p>
            <a:pPr algn="l">
              <a:spcBef>
                <a:spcPts val="300"/>
              </a:spcBef>
            </a:pPr>
            <a:r>
              <a:rPr sz="1300" b="0">
                <a:solidFill>
                  <a:srgbClr val="A8B4C8"/>
                </a:solidFill>
                <a:latin typeface="Calibri"/>
              </a:rPr>
              <a:t>      ◦  Upside: it generalizes across almost any domain.</a:t>
            </a:r>
          </a:p>
          <a:p>
            <a:pPr algn="l">
              <a:spcBef>
                <a:spcPts val="300"/>
              </a:spcBef>
            </a:pPr>
            <a:r>
              <a:rPr sz="1300" b="0">
                <a:solidFill>
                  <a:srgbClr val="A8B4C8"/>
                </a:solidFill>
                <a:latin typeface="Calibri"/>
              </a:rPr>
              <a:t>      ◦  Failure mode: if training data was wrong or thin, the model learned those patterns too.</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The only accurate verb is 'predicts.' The model does not know, want, think, or lie. Catch yourself using those words and swap in 'predicts.'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LLM Is the Engine</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By itself, the LLM is a brain in a jar.</a:t>
            </a:r>
          </a:p>
          <a:p>
            <a:pPr algn="l">
              <a:spcBef>
                <a:spcPts val="700"/>
              </a:spcBef>
            </a:pPr>
            <a:r>
              <a:rPr sz="1500" b="0">
                <a:solidFill>
                  <a:srgbClr val="FFFFFF"/>
                </a:solidFill>
                <a:latin typeface="Calibri"/>
              </a:rPr>
              <a:t>  ›  Capable of reasoning in text — incapable of acting on its own.</a:t>
            </a:r>
          </a:p>
          <a:p>
            <a:pPr algn="l">
              <a:spcBef>
                <a:spcPts val="700"/>
              </a:spcBef>
            </a:pPr>
            <a:r>
              <a:rPr sz="1500" b="0">
                <a:solidFill>
                  <a:srgbClr val="FFFFFF"/>
                </a:solidFill>
                <a:latin typeface="Calibri"/>
              </a:rPr>
              <a:t>  ›  No body. No memory between chats. No live connection to the world unless something gives it one.</a:t>
            </a:r>
          </a:p>
          <a:p>
            <a:pPr algn="l">
              <a:spcBef>
                <a:spcPts val="700"/>
              </a:spcBef>
            </a:pPr>
            <a:r>
              <a:rPr sz="1500" b="0">
                <a:solidFill>
                  <a:srgbClr val="FFFFFF"/>
                </a:solidFill>
                <a:latin typeface="Calibri"/>
              </a:rPr>
              <a:t>  ›  Fluent, confident output is not the same as correct output.</a:t>
            </a:r>
          </a:p>
          <a:p>
            <a:pPr algn="l">
              <a:spcBef>
                <a:spcPts val="700"/>
              </a:spcBef>
            </a:pPr>
            <a:r>
              <a:rPr sz="1500" b="0">
                <a:solidFill>
                  <a:srgbClr val="FFFFFF"/>
                </a:solidFill>
                <a:latin typeface="Calibri"/>
              </a:rPr>
              <a:t>  ›  Both are true simultaneously — that is the working mental model.</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VERIFY BEFORE TEACHING: model names, tiers, context-window sizes, and pricing change every release. Any specific number in this course is a snapshot — confirm at the provider's docs before a course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The model just gave you a confident-sounding answer.
What would it take to verify it? Where would you check?
A language model was never given a rule that says 'Paris is the capital of France.' How does it produce that answer?
Think it through: trained on patterns vs. looked up vs. hard-coded — which is it, and what does that mean for accuracy?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What an LLM Actually Is</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Type an incomplete sentence on a topic you know well and submit it. Read what the model predicts.</a:t>
            </a:r>
          </a:p>
          <a:p>
            <a:pPr algn="l">
              <a:spcBef>
                <a:spcPts val="1000"/>
              </a:spcBef>
            </a:pPr>
            <a:r>
              <a:rPr sz="1400" b="0">
                <a:solidFill>
                  <a:srgbClr val="FFFFFF"/>
                </a:solidFill>
                <a:latin typeface="Calibri"/>
              </a:rPr>
              <a:t>  2.   Add the word 'definitely' or 'obviously' to the same sentence and submit again. Does the completion change?</a:t>
            </a:r>
          </a:p>
          <a:p>
            <a:pPr algn="l">
              <a:spcBef>
                <a:spcPts val="1000"/>
              </a:spcBef>
            </a:pPr>
            <a:r>
              <a:rPr sz="1400" b="0">
                <a:solidFill>
                  <a:srgbClr val="FFFFFF"/>
                </a:solidFill>
                <a:latin typeface="Calibri"/>
              </a:rPr>
              <a:t>  3.   Ask the model a factual question you already know the answer to. Check the output for accuracy.</a:t>
            </a:r>
          </a:p>
          <a:p>
            <a:pPr algn="l">
              <a:spcBef>
                <a:spcPts val="1000"/>
              </a:spcBef>
            </a:pPr>
            <a:r>
              <a:rPr sz="1400" b="0">
                <a:solidFill>
                  <a:srgbClr val="FFFFFF"/>
                </a:solidFill>
                <a:latin typeface="Calibri"/>
              </a:rPr>
              <a:t>  4.   Ask the exact same question in a new chat. Is the answer identical, or slightly different?</a:t>
            </a:r>
          </a:p>
          <a:p>
            <a:pPr algn="l">
              <a:spcBef>
                <a:spcPts val="1000"/>
              </a:spcBef>
            </a:pPr>
            <a:r>
              <a:rPr sz="1400" b="0">
                <a:solidFill>
                  <a:srgbClr val="FFFFFF"/>
                </a:solidFill>
                <a:latin typeface="Calibri"/>
              </a:rPr>
              <a:t>  5.   Ask yourself: 'How would I verify any of these outputs if I did not already know the answer?'</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testing radio frequencies — observing how small input changes shift the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What an LLM Actually Is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The model predicts what comes next — statistically likely, not looked up or rule-based.</a:t>
            </a:r>
          </a:p>
          <a:p>
            <a:pPr algn="l">
              <a:spcBef>
                <a:spcPts val="1400"/>
              </a:spcBef>
            </a:pPr>
            <a:r>
              <a:rPr sz="1600" b="0">
                <a:solidFill>
                  <a:srgbClr val="FFFFFF"/>
                </a:solidFill>
                <a:latin typeface="Calibri"/>
              </a:rPr>
              <a:t>  ›  Trained, not programmed: it learned patterns from text, including the wrong ones.</a:t>
            </a:r>
          </a:p>
          <a:p>
            <a:pPr algn="l">
              <a:spcBef>
                <a:spcPts val="1400"/>
              </a:spcBef>
            </a:pPr>
            <a:r>
              <a:rPr sz="1600" b="0">
                <a:solidFill>
                  <a:srgbClr val="FFFFFF"/>
                </a:solidFill>
                <a:latin typeface="Calibri"/>
              </a:rPr>
              <a:t>  ›  Fluent, confident output is not the same as correct output.</a:t>
            </a:r>
          </a:p>
          <a:p>
            <a:pPr algn="l">
              <a:spcBef>
                <a:spcPts val="1400"/>
              </a:spcBef>
            </a:pPr>
            <a:r>
              <a:rPr sz="1600" b="0">
                <a:solidFill>
                  <a:srgbClr val="FFFFFF"/>
                </a:solidFill>
                <a:latin typeface="Calibri"/>
              </a:rPr>
              <a:t>  ›  The only accurate verb is 'predicts' — not knows, thinks, or remembers.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02</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02</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Tokens and
Context (Intro)</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The model reads in tokens and can only hold a fixed number at once. Fill that limit and earlier content falls out. Deep management is Module 8.</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Tactical whiteboard filling with overlapping mission graphics — running out of space]</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What Is a Token?</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The model does not read words — it reads chunks of text called tokens.</a:t>
            </a:r>
          </a:p>
          <a:p>
            <a:pPr algn="l">
              <a:spcBef>
                <a:spcPts val="700"/>
              </a:spcBef>
            </a:pPr>
            <a:r>
              <a:rPr sz="1500" b="0">
                <a:solidFill>
                  <a:srgbClr val="FFFFFF"/>
                </a:solidFill>
                <a:latin typeface="Calibri"/>
              </a:rPr>
              <a:t>  ›  In English prose, one token is roughly three-quarters of a word.</a:t>
            </a:r>
          </a:p>
          <a:p>
            <a:pPr algn="l">
              <a:spcBef>
                <a:spcPts val="700"/>
              </a:spcBef>
            </a:pPr>
            <a:r>
              <a:rPr sz="1500" b="0">
                <a:solidFill>
                  <a:srgbClr val="FFFFFF"/>
                </a:solidFill>
                <a:latin typeface="Calibri"/>
              </a:rPr>
              <a:t>  ›  Code and non-English text tokenize less efficiently — more tokens per word.</a:t>
            </a:r>
          </a:p>
          <a:p>
            <a:pPr algn="l">
              <a:spcBef>
                <a:spcPts val="700"/>
              </a:spcBef>
            </a:pPr>
            <a:r>
              <a:rPr sz="1500" b="0">
                <a:solidFill>
                  <a:srgbClr val="FFFFFF"/>
                </a:solidFill>
                <a:latin typeface="Calibri"/>
              </a:rPr>
              <a:t>  ›  You do not need to count tokens precisely.</a:t>
            </a:r>
          </a:p>
          <a:p>
            <a:pPr algn="l">
              <a:spcBef>
                <a:spcPts val="700"/>
              </a:spcBef>
            </a:pPr>
            <a:r>
              <a:rPr sz="1500" b="0">
                <a:solidFill>
                  <a:srgbClr val="FFFFFF"/>
                </a:solidFill>
                <a:latin typeface="Calibri"/>
              </a:rPr>
              <a:t>  ›  The instinct to keep input focused is the deliverable from this section.</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This is INTRO depth only. Spending tokens deliberately and managing context as a resource is Module 8 (Ammunition Discipline). Learn the 'what' here; learn the 'how to spend' there.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Context Window</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Every model has a hard ceiling on tokens it can hold in a single conversation.</a:t>
            </a:r>
          </a:p>
          <a:p>
            <a:pPr algn="l">
              <a:spcBef>
                <a:spcPts val="700"/>
              </a:spcBef>
            </a:pPr>
            <a:r>
              <a:rPr sz="1500" b="0">
                <a:solidFill>
                  <a:srgbClr val="FFFFFF"/>
                </a:solidFill>
                <a:latin typeface="Calibri"/>
              </a:rPr>
              <a:t>  ›  That ceiling is the context window — a whiteboard with finite space.</a:t>
            </a:r>
          </a:p>
          <a:p>
            <a:pPr algn="l">
              <a:spcBef>
                <a:spcPts val="700"/>
              </a:spcBef>
            </a:pPr>
            <a:r>
              <a:rPr sz="1500" b="0">
                <a:solidFill>
                  <a:srgbClr val="FFFFFF"/>
                </a:solidFill>
                <a:latin typeface="Calibri"/>
              </a:rPr>
              <a:t>  ›  New writing crowds out old writing once it fills.</a:t>
            </a:r>
          </a:p>
          <a:p>
            <a:pPr algn="l">
              <a:spcBef>
                <a:spcPts val="700"/>
              </a:spcBef>
            </a:pPr>
            <a:r>
              <a:rPr sz="1500" b="0">
                <a:solidFill>
                  <a:srgbClr val="FFFFFF"/>
                </a:solidFill>
                <a:latin typeface="Calibri"/>
              </a:rPr>
              <a:t>  ›  A full window: the model hedges, contradicts what it said ten turns ago, forgets a constraint.</a:t>
            </a:r>
          </a:p>
          <a:p>
            <a:pPr algn="l">
              <a:spcBef>
                <a:spcPts val="700"/>
              </a:spcBef>
            </a:pPr>
            <a:r>
              <a:rPr sz="1500" b="0">
                <a:solidFill>
                  <a:srgbClr val="FFFFFF"/>
                </a:solidFill>
                <a:latin typeface="Calibri"/>
              </a:rPr>
              <a:t>  ›  That is not a bug — it is the whiteboard running out of space.</a:t>
            </a:r>
          </a:p>
          <a:p>
            <a:pPr algn="l">
              <a:spcBef>
                <a:spcPts val="300"/>
              </a:spcBef>
            </a:pPr>
            <a:r>
              <a:rPr sz="1300" b="0">
                <a:solidFill>
                  <a:srgbClr val="A8B4C8"/>
                </a:solidFill>
                <a:latin typeface="Calibri"/>
              </a:rPr>
              <a:t>      ◦  Models attend better to the beginning and end of the window than to the middle.</a:t>
            </a:r>
          </a:p>
          <a:p>
            <a:pPr algn="l">
              <a:spcBef>
                <a:spcPts val="300"/>
              </a:spcBef>
            </a:pPr>
            <a:r>
              <a:rPr sz="1300" b="0">
                <a:solidFill>
                  <a:srgbClr val="A8B4C8"/>
                </a:solidFill>
                <a:latin typeface="Calibri"/>
              </a:rPr>
              <a:t>      ◦  Start a fresh chat when the task changes OR when the model starts drifting.</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VERIFY BEFORE TEACHING: approximate sizes change with releases — Claude ~200k, GPT-4o ~128k, Gemini 1M+ tokens. Bigger is not always better; quality degrades in the middle of a huge window.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You set an important constraint at the start of a long conversation. Ten exchanges later, the model seems to have forgotten it.
What happened, and what would you do differently next time?
You are in a long chat and the model starts contradicting instructions you gave at the start. What is the most likely cause?
A) The model changed its mind
B) You used the wrong model for this task
C) Earlier content has been crowded out of the context window
D) The model is testing whether you notice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Tokens and Context</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Open a fresh chat and paste several paragraphs of dense text.</a:t>
            </a:r>
          </a:p>
          <a:p>
            <a:pPr algn="l">
              <a:spcBef>
                <a:spcPts val="1000"/>
              </a:spcBef>
            </a:pPr>
            <a:r>
              <a:rPr sz="1400" b="0">
                <a:solidFill>
                  <a:srgbClr val="FFFFFF"/>
                </a:solidFill>
                <a:latin typeface="Calibri"/>
              </a:rPr>
              <a:t>  2.   Ask the model to summarize just the first paragraph.</a:t>
            </a:r>
          </a:p>
          <a:p>
            <a:pPr algn="l">
              <a:spcBef>
                <a:spcPts val="1000"/>
              </a:spcBef>
            </a:pPr>
            <a:r>
              <a:rPr sz="1400" b="0">
                <a:solidFill>
                  <a:srgbClr val="FFFFFF"/>
                </a:solidFill>
                <a:latin typeface="Calibri"/>
              </a:rPr>
              <a:t>  3.   In the same chat, ask it about something from the end of what you pasted.</a:t>
            </a:r>
          </a:p>
          <a:p>
            <a:pPr algn="l">
              <a:spcBef>
                <a:spcPts val="1000"/>
              </a:spcBef>
            </a:pPr>
            <a:r>
              <a:rPr sz="1400" b="0">
                <a:solidFill>
                  <a:srgbClr val="FFFFFF"/>
                </a:solidFill>
                <a:latin typeface="Calibri"/>
              </a:rPr>
              <a:t>  4.   Start a new chat and ask the same question. Compare the quality.</a:t>
            </a:r>
          </a:p>
          <a:p>
            <a:pPr algn="l">
              <a:spcBef>
                <a:spcPts val="1000"/>
              </a:spcBef>
            </a:pPr>
            <a:r>
              <a:rPr sz="1400" b="0">
                <a:solidFill>
                  <a:srgbClr val="FFFFFF"/>
                </a:solidFill>
                <a:latin typeface="Calibri"/>
              </a:rPr>
              <a:t>  5.   Notice: does the model attend differently to the top vs. the buried middle?</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reviewing a long operation log — noting what dropped off the bottom]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Tokens and Context (Intro)</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The model reads in tokens — roughly 0.75 of an English word each.</a:t>
            </a:r>
          </a:p>
          <a:p>
            <a:pPr algn="l">
              <a:spcBef>
                <a:spcPts val="1400"/>
              </a:spcBef>
            </a:pPr>
            <a:r>
              <a:rPr sz="1600" b="0">
                <a:solidFill>
                  <a:srgbClr val="FFFFFF"/>
                </a:solidFill>
                <a:latin typeface="Calibri"/>
              </a:rPr>
              <a:t>  ›  Every model has a context window — a finite whiteboard that fills up.</a:t>
            </a:r>
          </a:p>
          <a:p>
            <a:pPr algn="l">
              <a:spcBef>
                <a:spcPts val="1400"/>
              </a:spcBef>
            </a:pPr>
            <a:r>
              <a:rPr sz="1600" b="0">
                <a:solidFill>
                  <a:srgbClr val="FFFFFF"/>
                </a:solidFill>
                <a:latin typeface="Calibri"/>
              </a:rPr>
              <a:t>  ›  When the window fills, earlier content falls out silently and instructions drift.</a:t>
            </a:r>
          </a:p>
          <a:p>
            <a:pPr algn="l">
              <a:spcBef>
                <a:spcPts val="1400"/>
              </a:spcBef>
            </a:pPr>
            <a:r>
              <a:rPr sz="1600" b="0">
                <a:solidFill>
                  <a:srgbClr val="FFFFFF"/>
                </a:solidFill>
                <a:latin typeface="Calibri"/>
              </a:rPr>
              <a:t>  ›  Start fresh when the task changes or the model begins to hedge. Deep management is Module 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03</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03</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Conversation
Mechanics &amp;
Statelessness</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There is no one on the other end between messages. Every turn, the platform re-feeds the whole transcript to a stateless engine.</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Radio operator handed the full message log fresh each transmission — no memory of its own]</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Model Is Stateless</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The engine remembers nothing between calls. It does not 'stay logged in' to your chat.</a:t>
            </a:r>
          </a:p>
          <a:p>
            <a:pPr algn="l">
              <a:spcBef>
                <a:spcPts val="700"/>
              </a:spcBef>
            </a:pPr>
            <a:r>
              <a:rPr sz="1500" b="0">
                <a:solidFill>
                  <a:srgbClr val="FFFFFF"/>
                </a:solidFill>
                <a:latin typeface="Calibri"/>
              </a:rPr>
              <a:t>  ›  Each time you send a message, the platform feeds the ENTIRE thread back as one block of text.</a:t>
            </a:r>
          </a:p>
          <a:p>
            <a:pPr algn="l">
              <a:spcBef>
                <a:spcPts val="700"/>
              </a:spcBef>
            </a:pPr>
            <a:r>
              <a:rPr sz="1500" b="0">
                <a:solidFill>
                  <a:srgbClr val="FFFFFF"/>
                </a:solidFill>
                <a:latin typeface="Calibri"/>
              </a:rPr>
              <a:t>  ›  The model reads all of it fresh, predicts the next turn — then forgets again.</a:t>
            </a:r>
          </a:p>
          <a:p>
            <a:pPr algn="l">
              <a:spcBef>
                <a:spcPts val="700"/>
              </a:spcBef>
            </a:pPr>
            <a:r>
              <a:rPr sz="1500" b="0">
                <a:solidFill>
                  <a:srgbClr val="FFFFFF"/>
                </a:solidFill>
                <a:latin typeface="Calibri"/>
              </a:rPr>
              <a:t>  ›  'Memory' is the transcript, not recall.</a:t>
            </a:r>
          </a:p>
          <a:p>
            <a:pPr algn="l">
              <a:spcBef>
                <a:spcPts val="300"/>
              </a:spcBef>
            </a:pPr>
            <a:r>
              <a:rPr sz="1300" b="0">
                <a:solidFill>
                  <a:srgbClr val="A8B4C8"/>
                </a:solidFill>
                <a:latin typeface="Calibri"/>
              </a:rPr>
              <a:t>      ◦  When it refers back to message ten, it is re-reading it — because the platform put it back in front of it.</a:t>
            </a:r>
          </a:p>
          <a:p>
            <a:pPr algn="l">
              <a:spcBef>
                <a:spcPts val="300"/>
              </a:spcBef>
            </a:pPr>
            <a:r>
              <a:rPr sz="1300" b="0">
                <a:solidFill>
                  <a:srgbClr val="A8B4C8"/>
                </a:solidFill>
                <a:latin typeface="Calibri"/>
              </a:rPr>
              <a:t>      ◦  This is why the window matters: the conversation grows every turn, and the oldest turns drop off the top.</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Kill the 'helpful person reading along' picture. Replace it with: a stateless engine handed a fresh transcript every turn. That one fact explains statelessness, context limits, and cross-chat memory all at once.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No Cross-Chat Memory — and Your Three Moves</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A fresh chat starts with a blank transcript. It knows nothing about your other conversations.</a:t>
            </a:r>
          </a:p>
          <a:p>
            <a:pPr algn="l">
              <a:spcBef>
                <a:spcPts val="700"/>
              </a:spcBef>
            </a:pPr>
            <a:r>
              <a:rPr sz="1500" b="0">
                <a:solidFill>
                  <a:srgbClr val="FFFFFF"/>
                </a:solidFill>
                <a:latin typeface="Calibri"/>
              </a:rPr>
              <a:t>  ›  Some products bolt on a 'memory' or 'projects' feature — that is an added layer, not the model remembering you.</a:t>
            </a:r>
          </a:p>
          <a:p>
            <a:pPr algn="l">
              <a:spcBef>
                <a:spcPts val="700"/>
              </a:spcBef>
            </a:pPr>
            <a:r>
              <a:rPr sz="1500" b="0">
                <a:solidFill>
                  <a:srgbClr val="FFFFFF"/>
                </a:solidFill>
                <a:latin typeface="Calibri"/>
              </a:rPr>
              <a:t>  ›  Continue — add a turn; everything before stays in context. Use when the thread is helping.</a:t>
            </a:r>
          </a:p>
          <a:p>
            <a:pPr algn="l">
              <a:spcBef>
                <a:spcPts val="700"/>
              </a:spcBef>
            </a:pPr>
            <a:r>
              <a:rPr sz="1500" b="0">
                <a:solidFill>
                  <a:srgbClr val="FFFFFF"/>
                </a:solidFill>
                <a:latin typeface="Calibri"/>
              </a:rPr>
              <a:t>  ›  Edit — rewrite an earlier message; most tools discard everything after and re-run. Fix bad instructions at the source.</a:t>
            </a:r>
          </a:p>
          <a:p>
            <a:pPr algn="l">
              <a:spcBef>
                <a:spcPts val="700"/>
              </a:spcBef>
            </a:pPr>
            <a:r>
              <a:rPr sz="1500" b="0">
                <a:solidFill>
                  <a:srgbClr val="FFFFFF"/>
                </a:solidFill>
                <a:latin typeface="Calibri"/>
              </a:rPr>
              <a:t>  ›  New chat — start with an empty transcript. Use when old context is dead weight or dragging the model off course.</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Edit at the source, do not pile on. If your third message had a bad instruction, edit it — do not send a fourth saying 'ignore that.' A clean transcript produces cleaner output.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You spent an hour in one chat building useful context. You close it and open a fresh one tomorrow.
What does the new chat know about yesterday's work, and what would you do to get that context back?
When the model refers back to something you said earlier in the SAME conversation, what is actually happening?
A) The model stored your message in long-term memory
B) The platform re-fed the whole transcript to the stateless model, so it re-read your earlier message
C) The model has a running memory of you across all chats
D) The model guessed what you probably said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Conversation Mechanics &amp; Statelessness</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Tell the model a specific fact ('My callsign is Raptor-6'). Continue a few turns, then ask it to repeat the fact.</a:t>
            </a:r>
          </a:p>
          <a:p>
            <a:pPr algn="l">
              <a:spcBef>
                <a:spcPts val="1000"/>
              </a:spcBef>
            </a:pPr>
            <a:r>
              <a:rPr sz="1400" b="0">
                <a:solidFill>
                  <a:srgbClr val="FFFFFF"/>
                </a:solidFill>
                <a:latin typeface="Calibri"/>
              </a:rPr>
              <a:t>  2.   Open a brand-new chat and ask it for your callsign. Watch it have no idea — that is statelessness.</a:t>
            </a:r>
          </a:p>
          <a:p>
            <a:pPr algn="l">
              <a:spcBef>
                <a:spcPts val="1000"/>
              </a:spcBef>
            </a:pPr>
            <a:r>
              <a:rPr sz="1400" b="0">
                <a:solidFill>
                  <a:srgbClr val="FFFFFF"/>
                </a:solidFill>
                <a:latin typeface="Calibri"/>
              </a:rPr>
              <a:t>  3.   Go back to the first chat, edit an early message to change the fact, and re-run. Watch the later turns regenerate.</a:t>
            </a:r>
          </a:p>
          <a:p>
            <a:pPr algn="l">
              <a:spcBef>
                <a:spcPts val="1000"/>
              </a:spcBef>
            </a:pPr>
            <a:r>
              <a:rPr sz="1400" b="0">
                <a:solidFill>
                  <a:srgbClr val="FFFFFF"/>
                </a:solidFill>
                <a:latin typeface="Calibri"/>
              </a:rPr>
              <a:t>  4.   Reflect: when in your own work would 'edit the source message' beat 'send a correction'?</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Two operation logs side by side — one continued, one started blank — showing what carries over and what does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Conversation Mechanics &amp; Statelessness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The engine is stateless — it remembers nothing between calls.</a:t>
            </a:r>
          </a:p>
          <a:p>
            <a:pPr algn="l">
              <a:spcBef>
                <a:spcPts val="1400"/>
              </a:spcBef>
            </a:pPr>
            <a:r>
              <a:rPr sz="1600" b="0">
                <a:solidFill>
                  <a:srgbClr val="FFFFFF"/>
                </a:solidFill>
                <a:latin typeface="Calibri"/>
              </a:rPr>
              <a:t>  ›  Conversation 'memory' is the re-fed transcript, not recall.</a:t>
            </a:r>
          </a:p>
          <a:p>
            <a:pPr algn="l">
              <a:spcBef>
                <a:spcPts val="1400"/>
              </a:spcBef>
            </a:pPr>
            <a:r>
              <a:rPr sz="1600" b="0">
                <a:solidFill>
                  <a:srgbClr val="FFFFFF"/>
                </a:solidFill>
                <a:latin typeface="Calibri"/>
              </a:rPr>
              <a:t>  ›  A new chat knows nothing about your other chats by default.</a:t>
            </a:r>
          </a:p>
          <a:p>
            <a:pPr algn="l">
              <a:spcBef>
                <a:spcPts val="1400"/>
              </a:spcBef>
            </a:pPr>
            <a:r>
              <a:rPr sz="1600" b="0">
                <a:solidFill>
                  <a:srgbClr val="FFFFFF"/>
                </a:solidFill>
                <a:latin typeface="Calibri"/>
              </a:rPr>
              <a:t>  ›  Three moves: continue, edit (fix at the source), or new chat (clear dead weight).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04</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04</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How LLMs
Fail</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False things stated with total confidence, different answers to the same question, nothing past the cutoff, and quietly skewed output. None of it is a malfunction.</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Soldier double-checking map coordinates before calling in a grid — verification before action]</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Failure Mode 1: Hallucination</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The model has no truth-checking step.</a:t>
            </a:r>
          </a:p>
          <a:p>
            <a:pPr algn="l">
              <a:spcBef>
                <a:spcPts val="700"/>
              </a:spcBef>
            </a:pPr>
            <a:r>
              <a:rPr sz="1500" b="0">
                <a:solidFill>
                  <a:srgbClr val="FFFFFF"/>
                </a:solidFill>
                <a:latin typeface="Calibri"/>
              </a:rPr>
              <a:t>  ›  It generates tokens that are statistically likely to follow prior context.</a:t>
            </a:r>
          </a:p>
          <a:p>
            <a:pPr algn="l">
              <a:spcBef>
                <a:spcPts val="700"/>
              </a:spcBef>
            </a:pPr>
            <a:r>
              <a:rPr sz="1500" b="0">
                <a:solidFill>
                  <a:srgbClr val="FFFFFF"/>
                </a:solidFill>
                <a:latin typeface="Calibri"/>
              </a:rPr>
              <a:t>  ›  It cannot distinguish accurate training data from plausible completion.</a:t>
            </a:r>
          </a:p>
          <a:p>
            <a:pPr algn="l">
              <a:spcBef>
                <a:spcPts val="700"/>
              </a:spcBef>
            </a:pPr>
            <a:r>
              <a:rPr sz="1500" b="0">
                <a:solidFill>
                  <a:srgbClr val="FFFFFF"/>
                </a:solidFill>
                <a:latin typeface="Calibri"/>
              </a:rPr>
              <a:t>  ›  Confident output and correct output are entirely unrelated.</a:t>
            </a:r>
          </a:p>
          <a:p>
            <a:pPr algn="l">
              <a:spcBef>
                <a:spcPts val="700"/>
              </a:spcBef>
            </a:pPr>
            <a:r>
              <a:rPr sz="1500" b="0">
                <a:solidFill>
                  <a:srgbClr val="FFFFFF"/>
                </a:solidFill>
                <a:latin typeface="Calibri"/>
              </a:rPr>
              <a:t>  ›  This is expected behavior of the system — not a rare bug.</a:t>
            </a:r>
          </a:p>
          <a:p>
            <a:pPr algn="l">
              <a:spcBef>
                <a:spcPts val="300"/>
              </a:spcBef>
            </a:pPr>
            <a:r>
              <a:rPr sz="1300" b="0">
                <a:solidFill>
                  <a:srgbClr val="A8B4C8"/>
                </a:solidFill>
                <a:latin typeface="Calibri"/>
              </a:rPr>
              <a:t>      ◦  Doctrinal frame: the sharp junior analyst who never says 'I don't know.'</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The goal is calibrated trust, not distrust. The model is extraordinarily capable AND it hallucinates. Both are true simultaneously.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Failure Modes 2, 3, and 4</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Confident-Wrong — hallucination is not always dramatic.</a:t>
            </a:r>
          </a:p>
          <a:p>
            <a:pPr algn="l">
              <a:spcBef>
                <a:spcPts val="300"/>
              </a:spcBef>
            </a:pPr>
            <a:r>
              <a:rPr sz="1300" b="0">
                <a:solidFill>
                  <a:srgbClr val="A8B4C8"/>
                </a:solidFill>
                <a:latin typeface="Calibri"/>
              </a:rPr>
              <a:t>      ◦  Subtly wrong dates, statistics, or plausible citations that do not exist; tone stays equally confident.</a:t>
            </a:r>
          </a:p>
          <a:p>
            <a:pPr algn="l">
              <a:spcBef>
                <a:spcPts val="700"/>
              </a:spcBef>
            </a:pPr>
            <a:r>
              <a:rPr sz="1500" b="0">
                <a:solidFill>
                  <a:srgbClr val="FFFFFF"/>
                </a:solidFill>
                <a:latin typeface="Calibri"/>
              </a:rPr>
              <a:t>  ›  Nondeterminism — temperature introduces variation by design.</a:t>
            </a:r>
          </a:p>
          <a:p>
            <a:pPr algn="l">
              <a:spcBef>
                <a:spcPts val="300"/>
              </a:spcBef>
            </a:pPr>
            <a:r>
              <a:rPr sz="1300" b="0">
                <a:solidFill>
                  <a:srgbClr val="A8B4C8"/>
                </a:solidFill>
                <a:latin typeface="Calibri"/>
              </a:rPr>
              <a:t>      ◦  Same prompt, different run, different result. Do not treat one output as 'the answer.'</a:t>
            </a:r>
          </a:p>
          <a:p>
            <a:pPr algn="l">
              <a:spcBef>
                <a:spcPts val="700"/>
              </a:spcBef>
            </a:pPr>
            <a:r>
              <a:rPr sz="1500" b="0">
                <a:solidFill>
                  <a:srgbClr val="FFFFFF"/>
                </a:solidFill>
                <a:latin typeface="Calibri"/>
              </a:rPr>
              <a:t>  ›  Knowledge Cutoff — three behaviors that look identical from the outside:</a:t>
            </a:r>
          </a:p>
          <a:p>
            <a:pPr algn="l">
              <a:spcBef>
                <a:spcPts val="300"/>
              </a:spcBef>
            </a:pPr>
            <a:r>
              <a:rPr sz="1300" b="0">
                <a:solidFill>
                  <a:srgbClr val="A8B4C8"/>
                </a:solidFill>
                <a:latin typeface="Calibri"/>
              </a:rPr>
              <a:t>      ◦  (a) flags the gap honestly  (b) answers confidently from stale data  (c) searches the web — confirm it fired.</a:t>
            </a:r>
          </a:p>
          <a:p>
            <a:pPr algn="l">
              <a:spcBef>
                <a:spcPts val="300"/>
              </a:spcBef>
            </a:pPr>
            <a:r>
              <a:rPr sz="1300" b="0">
                <a:solidFill>
                  <a:srgbClr val="A8B4C8"/>
                </a:solidFill>
                <a:latin typeface="Calibri"/>
              </a:rPr>
              <a:t>      ◦  You cannot tell which one you got without checking. Grounding tools are Module 3.</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All three knowledge-cutoff cases look the same on screen. Never let confidence stand in for a check on anything that could have changed since 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Failure Mode 5: Bias-Spotting (Literacy)</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The model learned from human text, and human text carries skewed patterns and stereotypes.</a:t>
            </a:r>
          </a:p>
          <a:p>
            <a:pPr algn="l">
              <a:spcBef>
                <a:spcPts val="700"/>
              </a:spcBef>
            </a:pPr>
            <a:r>
              <a:rPr sz="1500" b="0">
                <a:solidFill>
                  <a:srgbClr val="FFFFFF"/>
                </a:solidFill>
                <a:latin typeface="Calibri"/>
              </a:rPr>
              <a:t>  ›  The model reproduces those patterns.</a:t>
            </a:r>
          </a:p>
          <a:p>
            <a:pPr algn="l">
              <a:spcBef>
                <a:spcPts val="300"/>
              </a:spcBef>
            </a:pPr>
            <a:r>
              <a:rPr sz="1300" b="0">
                <a:solidFill>
                  <a:srgbClr val="A8B4C8"/>
                </a:solidFill>
                <a:latin typeface="Calibri"/>
              </a:rPr>
              <a:t>      ◦  Ask it to 'describe a nurse' or 'describe a hacker' — notice the defaults it reaches for.</a:t>
            </a:r>
          </a:p>
          <a:p>
            <a:pPr algn="l">
              <a:spcBef>
                <a:spcPts val="300"/>
              </a:spcBef>
            </a:pPr>
            <a:r>
              <a:rPr sz="1300" b="0">
                <a:solidFill>
                  <a:srgbClr val="A8B4C8"/>
                </a:solidFill>
                <a:latin typeface="Calibri"/>
              </a:rPr>
              <a:t>      ◦  Ask about a thinly-represented group or region — watch the output get generic or lean on cliche.</a:t>
            </a:r>
          </a:p>
          <a:p>
            <a:pPr algn="l">
              <a:spcBef>
                <a:spcPts val="700"/>
              </a:spcBef>
            </a:pPr>
            <a:r>
              <a:rPr sz="1500" b="0">
                <a:solidFill>
                  <a:srgbClr val="FFFFFF"/>
                </a:solidFill>
                <a:latin typeface="Calibri"/>
              </a:rPr>
              <a:t>  ›  Your job HERE is literacy: simply notice when output is skewed or stereotype-shaped.</a:t>
            </a:r>
          </a:p>
          <a:p>
            <a:pPr algn="l">
              <a:spcBef>
                <a:spcPts val="700"/>
              </a:spcBef>
            </a:pPr>
            <a:r>
              <a:rPr sz="1500" b="0">
                <a:solidFill>
                  <a:srgbClr val="FFFFFF"/>
                </a:solidFill>
                <a:latin typeface="Calibri"/>
              </a:rPr>
              <a:t>  ›  The ethical duty — what you owe affected people, and unit policy — is Module 9.</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Same rule as hallucination: name the skew, do not conclude the tool is useless. Calibrated trust, not cynicism.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You just watched the model invent a source.
What does that mean for the next time it gives you a fact you have not heard before?
You run the same prompt twice in two separate chats and get different answers. What is the most accurate explanation?
A) One of the chats had a longer context window
B) The model updated itself between the two runs
C) The model uses randomness by design — the same input does not guarantee the same output
D) You phrased the prompt slightly differently without noticing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How LLMs Fail</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Ask for 5 peer-reviewed sources on a narrow topic — with author names, journals, and years.</a:t>
            </a:r>
          </a:p>
          <a:p>
            <a:pPr algn="l">
              <a:spcBef>
                <a:spcPts val="1000"/>
              </a:spcBef>
            </a:pPr>
            <a:r>
              <a:rPr sz="1400" b="0">
                <a:solidFill>
                  <a:srgbClr val="FFFFFF"/>
                </a:solidFill>
                <a:latin typeface="Calibri"/>
              </a:rPr>
              <a:t>  2.   Pick one citation and try to verify it exists. Search the journal's site or a database.</a:t>
            </a:r>
          </a:p>
          <a:p>
            <a:pPr algn="l">
              <a:spcBef>
                <a:spcPts val="1000"/>
              </a:spcBef>
            </a:pPr>
            <a:r>
              <a:rPr sz="1400" b="0">
                <a:solidFill>
                  <a:srgbClr val="FFFFFF"/>
                </a:solidFill>
                <a:latin typeface="Calibri"/>
              </a:rPr>
              <a:t>  3.   Ask the same question in a new chat. Compare the two citation lists — identical?</a:t>
            </a:r>
          </a:p>
          <a:p>
            <a:pPr algn="l">
              <a:spcBef>
                <a:spcPts val="1000"/>
              </a:spcBef>
            </a:pPr>
            <a:r>
              <a:rPr sz="1400" b="0">
                <a:solidFill>
                  <a:srgbClr val="FFFFFF"/>
                </a:solidFill>
                <a:latin typeface="Calibri"/>
              </a:rPr>
              <a:t>  4.   Ask about something you know happened recently. Watch it handle events past its cutoff.</a:t>
            </a:r>
          </a:p>
          <a:p>
            <a:pPr algn="l">
              <a:spcBef>
                <a:spcPts val="1000"/>
              </a:spcBef>
            </a:pPr>
            <a:r>
              <a:rPr sz="1400" b="0">
                <a:solidFill>
                  <a:srgbClr val="FFFFFF"/>
                </a:solidFill>
                <a:latin typeface="Calibri"/>
              </a:rPr>
              <a:t>  5.   Ask it to 'describe a typical [role]' for two stereotype-prone roles. Note the defaults — that is bias you can see.</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Analyst comparing two documents side by side — verifying source against model output]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How LLMs Fail</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Hallucination: completes plausibly, not accurately — no truth-checking step.</a:t>
            </a:r>
          </a:p>
          <a:p>
            <a:pPr algn="l">
              <a:spcBef>
                <a:spcPts val="1400"/>
              </a:spcBef>
            </a:pPr>
            <a:r>
              <a:rPr sz="1600" b="0">
                <a:solidFill>
                  <a:srgbClr val="FFFFFF"/>
                </a:solidFill>
                <a:latin typeface="Calibri"/>
              </a:rPr>
              <a:t>  ›  Confident-Wrong: tone is equally confident for right and wrong claims — never read confidence as accuracy.</a:t>
            </a:r>
          </a:p>
          <a:p>
            <a:pPr algn="l">
              <a:spcBef>
                <a:spcPts val="1400"/>
              </a:spcBef>
            </a:pPr>
            <a:r>
              <a:rPr sz="1600" b="0">
                <a:solidFill>
                  <a:srgbClr val="FFFFFF"/>
                </a:solidFill>
                <a:latin typeface="Calibri"/>
              </a:rPr>
              <a:t>  ›  Nondeterminism: same prompt, different run, different result — by design.</a:t>
            </a:r>
          </a:p>
          <a:p>
            <a:pPr algn="l">
              <a:spcBef>
                <a:spcPts val="1400"/>
              </a:spcBef>
            </a:pPr>
            <a:r>
              <a:rPr sz="1600" b="0">
                <a:solidFill>
                  <a:srgbClr val="FFFFFF"/>
                </a:solidFill>
                <a:latin typeface="Calibri"/>
              </a:rPr>
              <a:t>  ›  Knowledge cutoff: confident answers past training may be wrong. Bias: spot skewed/stereotype output.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05</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05</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Verifying AI
Output as a
Method</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'Verify it' is not a vibe — it is five concrete techniques. Drill them and the mandated reflex becomes a skill you can execute under time pressure.</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Intelligence analyst cross-referencing a claim against primary source documents]</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Five Verification Techniques</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Cite-and-check — ask for the source, then confirm the source actually says it.</a:t>
            </a:r>
          </a:p>
          <a:p>
            <a:pPr algn="l">
              <a:spcBef>
                <a:spcPts val="300"/>
              </a:spcBef>
            </a:pPr>
            <a:r>
              <a:rPr sz="1300" b="0">
                <a:solidFill>
                  <a:srgbClr val="A8B4C8"/>
                </a:solidFill>
                <a:latin typeface="Calibri"/>
              </a:rPr>
              <a:t>      ◦  A model that invents the claim often invents the source too — check it, do not just request it.</a:t>
            </a:r>
          </a:p>
          <a:p>
            <a:pPr algn="l">
              <a:spcBef>
                <a:spcPts val="700"/>
              </a:spcBef>
            </a:pPr>
            <a:r>
              <a:rPr sz="1500" b="0">
                <a:solidFill>
                  <a:srgbClr val="FFFFFF"/>
                </a:solidFill>
                <a:latin typeface="Calibri"/>
              </a:rPr>
              <a:t>  ›  Cross-source — confirm against an independent authoritative source you trust.</a:t>
            </a:r>
          </a:p>
          <a:p>
            <a:pPr algn="l">
              <a:spcBef>
                <a:spcPts val="300"/>
              </a:spcBef>
            </a:pPr>
            <a:r>
              <a:rPr sz="1300" b="0">
                <a:solidFill>
                  <a:srgbClr val="A8B4C8"/>
                </a:solidFill>
                <a:latin typeface="Calibri"/>
              </a:rPr>
              <a:t>      ◦  Not another AI: two pattern-matchers trained on the same internet is not corroboration.</a:t>
            </a:r>
          </a:p>
          <a:p>
            <a:pPr algn="l">
              <a:spcBef>
                <a:spcPts val="700"/>
              </a:spcBef>
            </a:pPr>
            <a:r>
              <a:rPr sz="1500" b="0">
                <a:solidFill>
                  <a:srgbClr val="FFFFFF"/>
                </a:solidFill>
                <a:latin typeface="Calibri"/>
              </a:rPr>
              <a:t>  ›  Re-run for consistency — run it 2-3 times in fresh chats; wobble run-to-run is a red flag.</a:t>
            </a:r>
          </a:p>
          <a:p>
            <a:pPr algn="l">
              <a:spcBef>
                <a:spcPts val="700"/>
              </a:spcBef>
            </a:pPr>
            <a:r>
              <a:rPr sz="1500" b="0">
                <a:solidFill>
                  <a:srgbClr val="FFFFFF"/>
                </a:solidFill>
                <a:latin typeface="Calibri"/>
              </a:rPr>
              <a:t>  ›  Second-tool check — take the same question to a genuinely different tool.</a:t>
            </a:r>
          </a:p>
          <a:p>
            <a:pPr algn="l">
              <a:spcBef>
                <a:spcPts val="700"/>
              </a:spcBef>
            </a:pPr>
            <a:r>
              <a:rPr sz="1500" b="0">
                <a:solidFill>
                  <a:srgbClr val="FFFFFF"/>
                </a:solidFill>
                <a:latin typeface="Calibri"/>
              </a:rPr>
              <a:t>  ›  Lateral reading — leave the answer; read ABOUT the claim and its sources from the outside.</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Match the technique to the stakes: a throwaway brainstorm needs none; a number going into a product gets at least one; a claim informing a decision gets cross-source plus a second-tool check.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Two AIs Agreeing Is Not Verification</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Scenario: Checking a model's factual claim</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6492240"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6217920" cy="4663440"/>
          </a:xfrm>
          <a:prstGeom prst="rect">
            <a:avLst/>
          </a:prstGeom>
          <a:noFill/>
        </p:spPr>
        <p:txBody>
          <a:bodyPr wrap="square">
            <a:spAutoFit/>
          </a:bodyPr>
          <a:lstStyle/>
          <a:p>
            <a:pPr algn="l">
              <a:spcBef>
                <a:spcPts val="300"/>
              </a:spcBef>
            </a:pPr>
            <a:r>
              <a:rPr sz="1200" b="0">
                <a:solidFill>
                  <a:srgbClr val="FFFFFF"/>
                </a:solidFill>
                <a:latin typeface="Calibri"/>
              </a:rPr>
              <a:t>WRONG — false corroboration:</a:t>
            </a:r>
          </a:p>
          <a:p>
            <a:pPr algn="l">
              <a:spcBef>
                <a:spcPts val="300"/>
              </a:spcBef>
            </a:pPr>
            <a:r>
              <a:rPr sz="1200" b="0">
                <a:solidFill>
                  <a:srgbClr val="A8B4C8"/>
                </a:solidFill>
                <a:latin typeface="Calibri"/>
              </a:rPr>
              <a:t>  Ask Claude a question. Get an answer.</a:t>
            </a:r>
          </a:p>
          <a:p>
            <a:pPr algn="l">
              <a:spcBef>
                <a:spcPts val="300"/>
              </a:spcBef>
            </a:pPr>
            <a:r>
              <a:rPr sz="1200" b="0">
                <a:solidFill>
                  <a:srgbClr val="A8B4C8"/>
                </a:solidFill>
                <a:latin typeface="Calibri"/>
              </a:rPr>
              <a:t>  Ask ChatGPT the same question. They match.</a:t>
            </a:r>
          </a:p>
          <a:p>
            <a:pPr algn="l">
              <a:spcBef>
                <a:spcPts val="300"/>
              </a:spcBef>
            </a:pPr>
            <a:r>
              <a:rPr sz="1200" b="0">
                <a:solidFill>
                  <a:srgbClr val="A8B4C8"/>
                </a:solidFill>
                <a:latin typeface="Calibri"/>
              </a:rPr>
              <a:t>  Conclude it is verified.</a:t>
            </a:r>
          </a:p>
          <a:p>
            <a:pPr algn="l">
              <a:spcBef>
                <a:spcPts val="300"/>
              </a:spcBef>
            </a:pPr>
            <a:r>
              <a:rPr sz="1200" b="0">
                <a:solidFill>
                  <a:srgbClr val="A8B4C8"/>
                </a:solidFill>
                <a:latin typeface="Calibri"/>
              </a:rPr>
              <a:t>  Reality: two pattern-matchers read overlapping training data. You verified nothing.</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RIGHT — independent corroboration:</a:t>
            </a:r>
          </a:p>
          <a:p>
            <a:pPr algn="l">
              <a:spcBef>
                <a:spcPts val="300"/>
              </a:spcBef>
            </a:pPr>
            <a:r>
              <a:rPr sz="1200" b="0">
                <a:solidFill>
                  <a:srgbClr val="A8B4C8"/>
                </a:solidFill>
                <a:latin typeface="Calibri"/>
              </a:rPr>
              <a:t>  Take the claim to the PRIMARY document, an official record, or a subject-matter expert.</a:t>
            </a:r>
          </a:p>
          <a:p>
            <a:pPr algn="l">
              <a:spcBef>
                <a:spcPts val="300"/>
              </a:spcBef>
            </a:pPr>
            <a:r>
              <a:rPr sz="1200" b="0">
                <a:solidFill>
                  <a:srgbClr val="A8B4C8"/>
                </a:solidFill>
                <a:latin typeface="Calibri"/>
              </a:rPr>
              <a:t>  A genuinely different system is unlikely to make the same mistake in the same place.</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Scale the rigor to the consequence — not every claim needs all five techniques.</a:t>
            </a:r>
          </a:p>
        </p:txBody>
      </p:sp>
      <p:sp>
        <p:nvSpPr>
          <p:cNvPr id="10" name="Rectangle 9"/>
          <p:cNvSpPr/>
          <p:nvPr/>
        </p:nvSpPr>
        <p:spPr>
          <a:xfrm>
            <a:off x="7086600" y="1417320"/>
            <a:ext cx="4690872" cy="502920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3611880"/>
            <a:ext cx="4690872" cy="274320"/>
          </a:xfrm>
          <a:prstGeom prst="rect">
            <a:avLst/>
          </a:prstGeom>
          <a:noFill/>
        </p:spPr>
        <p:txBody>
          <a:bodyPr wrap="square">
            <a:spAutoFit/>
          </a:bodyPr>
          <a:lstStyle/>
          <a:p>
            <a:pPr algn="ctr"/>
            <a:r>
              <a:rPr sz="900" b="1" i="0">
                <a:solidFill>
                  <a:srgbClr val="00B4FF"/>
                </a:solidFill>
                <a:latin typeface="Calibri"/>
              </a:rPr>
              <a:t>◼  IMAGE</a:t>
            </a:r>
          </a:p>
        </p:txBody>
      </p:sp>
      <p:sp>
        <p:nvSpPr>
          <p:cNvPr id="12" name="TextBox 11"/>
          <p:cNvSpPr txBox="1"/>
          <p:nvPr/>
        </p:nvSpPr>
        <p:spPr>
          <a:xfrm>
            <a:off x="7269480" y="3886200"/>
            <a:ext cx="4325112" cy="914400"/>
          </a:xfrm>
          <a:prstGeom prst="rect">
            <a:avLst/>
          </a:prstGeom>
          <a:noFill/>
        </p:spPr>
        <p:txBody>
          <a:bodyPr wrap="square">
            <a:spAutoFit/>
          </a:bodyPr>
          <a:lstStyle/>
          <a:p>
            <a:pPr algn="ctr"/>
            <a:r>
              <a:rPr sz="900" b="0" i="0">
                <a:solidFill>
                  <a:srgbClr val="A8B4C8"/>
                </a:solidFill>
                <a:latin typeface="Calibri"/>
              </a:rPr>
              <a:t>[IMAGE: Two screens showing matching AI answers next to a single authoritative source document]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The model gives you a specific statistic that will go into a brief your commander reads.
Which of the five techniques do you run before that number leaves your hands — and why that one?
You want to verify a factual claim a model gave you. Which approach is genuinely independent corroboration?
A) Ask a second AI chatbot the same question and see if it agrees
B) Ask the same model to confirm it is sure
C) Check the claim against an authoritative primary source you trust
D) Re-read the model's answer more carefully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Verifying AI Output</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Ask the model a factual question whose answer you do NOT already know. Save the answer.</a:t>
            </a:r>
          </a:p>
          <a:p>
            <a:pPr algn="l">
              <a:spcBef>
                <a:spcPts val="1000"/>
              </a:spcBef>
            </a:pPr>
            <a:r>
              <a:rPr sz="1400" b="0">
                <a:solidFill>
                  <a:srgbClr val="FFFFFF"/>
                </a:solidFill>
                <a:latin typeface="Calibri"/>
              </a:rPr>
              <a:t>  2.   Cite-and-check: ask for the source. Confirm it exists and says what was claimed.</a:t>
            </a:r>
          </a:p>
          <a:p>
            <a:pPr algn="l">
              <a:spcBef>
                <a:spcPts val="1000"/>
              </a:spcBef>
            </a:pPr>
            <a:r>
              <a:rPr sz="1400" b="0">
                <a:solidFill>
                  <a:srgbClr val="FFFFFF"/>
                </a:solidFill>
                <a:latin typeface="Calibri"/>
              </a:rPr>
              <a:t>  3.   Re-run: ask the identical question in two fresh chats. Did the answer hold or drift?</a:t>
            </a:r>
          </a:p>
          <a:p>
            <a:pPr algn="l">
              <a:spcBef>
                <a:spcPts val="1000"/>
              </a:spcBef>
            </a:pPr>
            <a:r>
              <a:rPr sz="1400" b="0">
                <a:solidFill>
                  <a:srgbClr val="FFFFFF"/>
                </a:solidFill>
                <a:latin typeface="Calibri"/>
              </a:rPr>
              <a:t>  4.   Second-tool / cross-source: take the claim to a search engine or the primary document. Does it hold?</a:t>
            </a:r>
          </a:p>
          <a:p>
            <a:pPr algn="l">
              <a:spcBef>
                <a:spcPts val="1000"/>
              </a:spcBef>
            </a:pPr>
            <a:r>
              <a:rPr sz="1400" b="0">
                <a:solidFill>
                  <a:srgbClr val="FFFFFF"/>
                </a:solidFill>
                <a:latin typeface="Calibri"/>
              </a:rPr>
              <a:t>  5.   Write one sentence: which technique would you reach for first for the work you actually do, and why?</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running a checklist — each line a separate verification step against a real claim]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Verifying AI Output as a Method</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Five techniques: cite-and-check, cross-source, re-run, second-tool, lateral reading.</a:t>
            </a:r>
          </a:p>
          <a:p>
            <a:pPr algn="l">
              <a:spcBef>
                <a:spcPts val="1400"/>
              </a:spcBef>
            </a:pPr>
            <a:r>
              <a:rPr sz="1600" b="0">
                <a:solidFill>
                  <a:srgbClr val="FFFFFF"/>
                </a:solidFill>
                <a:latin typeface="Calibri"/>
              </a:rPr>
              <a:t>  ›  Two AIs agreeing is not corroboration — independence is the whole point.</a:t>
            </a:r>
          </a:p>
          <a:p>
            <a:pPr algn="l">
              <a:spcBef>
                <a:spcPts val="1400"/>
              </a:spcBef>
            </a:pPr>
            <a:r>
              <a:rPr sz="1600" b="0">
                <a:solidFill>
                  <a:srgbClr val="FFFFFF"/>
                </a:solidFill>
                <a:latin typeface="Calibri"/>
              </a:rPr>
              <a:t>  ›  Scale verification rigor to the stakes of the output.</a:t>
            </a:r>
          </a:p>
          <a:p>
            <a:pPr algn="l">
              <a:spcBef>
                <a:spcPts val="1400"/>
              </a:spcBef>
            </a:pPr>
            <a:r>
              <a:rPr sz="1600" b="0">
                <a:solidFill>
                  <a:srgbClr val="FFFFFF"/>
                </a:solidFill>
                <a:latin typeface="Calibri"/>
              </a:rPr>
              <a:t>  ›  The mandated 'verify it' reflex is now five drills you can actually execute.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06</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06</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When to Use
AI — and
When Not To</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Right tool for open-ended language work. Wrong tool for precise facts, live data, authoritative citation, and anything sensitive.</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Soldier choosing the right tool from a kit — matching the instrument to the job]</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Right Tool / Wrong Tool</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Good at: drafting, rewriting, summarizing, brainstorming, explaining, reformatting, translating, first passes.</a:t>
            </a:r>
          </a:p>
          <a:p>
            <a:pPr algn="l">
              <a:spcBef>
                <a:spcPts val="300"/>
              </a:spcBef>
            </a:pPr>
            <a:r>
              <a:rPr sz="1300" b="0">
                <a:solidFill>
                  <a:srgbClr val="A8B4C8"/>
                </a:solidFill>
                <a:latin typeface="Calibri"/>
              </a:rPr>
              <a:t>      ◦  Anything where the value is the language and you remain the check on the facts.</a:t>
            </a:r>
          </a:p>
          <a:p>
            <a:pPr algn="l">
              <a:spcBef>
                <a:spcPts val="700"/>
              </a:spcBef>
            </a:pPr>
            <a:r>
              <a:rPr sz="1500" b="0">
                <a:solidFill>
                  <a:srgbClr val="FFFFFF"/>
                </a:solidFill>
                <a:latin typeface="Calibri"/>
              </a:rPr>
              <a:t>  ›  Wrong tool — reach for something else:</a:t>
            </a:r>
          </a:p>
          <a:p>
            <a:pPr algn="l">
              <a:spcBef>
                <a:spcPts val="300"/>
              </a:spcBef>
            </a:pPr>
            <a:r>
              <a:rPr sz="1300" b="0">
                <a:solidFill>
                  <a:srgbClr val="A8B4C8"/>
                </a:solidFill>
                <a:latin typeface="Calibri"/>
              </a:rPr>
              <a:t>      ◦  Precise math or calculation — it predicts plausible numbers, it does not compute reliably.</a:t>
            </a:r>
          </a:p>
          <a:p>
            <a:pPr algn="l">
              <a:spcBef>
                <a:spcPts val="300"/>
              </a:spcBef>
            </a:pPr>
            <a:r>
              <a:rPr sz="1300" b="0">
                <a:solidFill>
                  <a:srgbClr val="A8B4C8"/>
                </a:solidFill>
                <a:latin typeface="Calibri"/>
              </a:rPr>
              <a:t>      ◦  Real-time or post-cutoff facts — guessing from stale data without verified grounding (Module 3).</a:t>
            </a:r>
          </a:p>
          <a:p>
            <a:pPr algn="l">
              <a:spcBef>
                <a:spcPts val="300"/>
              </a:spcBef>
            </a:pPr>
            <a:r>
              <a:rPr sz="1300" b="0">
                <a:solidFill>
                  <a:srgbClr val="A8B4C8"/>
                </a:solidFill>
                <a:latin typeface="Calibri"/>
              </a:rPr>
              <a:t>      ◦  Authoritative citation or the official record — go to the source; the model is not the source.</a:t>
            </a:r>
          </a:p>
          <a:p>
            <a:pPr algn="l">
              <a:spcBef>
                <a:spcPts val="300"/>
              </a:spcBef>
            </a:pPr>
            <a:r>
              <a:rPr sz="1300" b="0">
                <a:solidFill>
                  <a:srgbClr val="A8B4C8"/>
                </a:solidFill>
                <a:latin typeface="Calibri"/>
              </a:rPr>
              <a:t>      ◦  Anything sensitive or above the system's ceiling — a HARD STOP, not a judgment call.</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The wrong-tool tell: if you are about to trust the model on a number, a date, a citation, or a live fact — stop. Those are exactly the four cases it is built to get confidently wrong.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Decision Checklist — Run It Before You Type</a:t>
            </a:r>
          </a:p>
        </p:txBody>
      </p:sp>
      <p:sp>
        <p:nvSpPr>
          <p:cNvPr id="3" name="Rectangle 2"/>
          <p:cNvSpPr/>
          <p:nvPr/>
        </p:nvSpPr>
        <p:spPr>
          <a:xfrm>
            <a:off x="411480" y="868680"/>
            <a:ext cx="11365992" cy="25400"/>
          </a:xfrm>
          <a:prstGeom prst="rect">
            <a:avLst/>
          </a:prstGeom>
          <a:solidFill>
            <a:srgbClr val="FFAA00"/>
          </a:solidFill>
          <a:ln>
            <a:noFill/>
          </a:ln>
          <a:effectLst>
            <a:glow rad="50800">
              <a:srgbClr val="FFAA00">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1. Open-ended language work, or a precise/authoritative answer? (Precise -&gt; wrong tool.)</a:t>
            </a:r>
          </a:p>
          <a:p>
            <a:pPr algn="l">
              <a:spcBef>
                <a:spcPts val="700"/>
              </a:spcBef>
            </a:pPr>
            <a:r>
              <a:rPr sz="1500" b="0">
                <a:solidFill>
                  <a:srgbClr val="FFFFFF"/>
                </a:solidFill>
                <a:latin typeface="Calibri"/>
              </a:rPr>
              <a:t>  ›  2. Does the answer depend on current or post-cutoff information? (Yes -&gt; wrong tool without verified grounding.)</a:t>
            </a:r>
          </a:p>
          <a:p>
            <a:pPr algn="l">
              <a:spcBef>
                <a:spcPts val="700"/>
              </a:spcBef>
            </a:pPr>
            <a:r>
              <a:rPr sz="1500" b="0">
                <a:solidFill>
                  <a:srgbClr val="FFFFFF"/>
                </a:solidFill>
                <a:latin typeface="Calibri"/>
              </a:rPr>
              <a:t>  ›  3. Can I verify the output before anyone relies on it? (No -&gt; do not use it for this.)</a:t>
            </a:r>
          </a:p>
          <a:p>
            <a:pPr algn="l">
              <a:spcBef>
                <a:spcPts val="700"/>
              </a:spcBef>
            </a:pPr>
            <a:r>
              <a:rPr sz="1500" b="0">
                <a:solidFill>
                  <a:srgbClr val="FFFFFF"/>
                </a:solidFill>
                <a:latin typeface="Calibri"/>
              </a:rPr>
              <a:t>  ›  4. Is the content sensitive, controlled, or above this system's ceiling? (Yes -&gt; hard stop, do not paste.)</a:t>
            </a:r>
          </a:p>
          <a:p>
            <a:pPr algn="l">
              <a:spcBef>
                <a:spcPts val="700"/>
              </a:spcBef>
            </a:pPr>
            <a:r>
              <a:rPr sz="1500" b="0">
                <a:solidFill>
                  <a:srgbClr val="FFFFFF"/>
                </a:solidFill>
                <a:latin typeface="Calibri"/>
              </a:rPr>
              <a:t>  ›  Clears all four? AI is a good fit — and you still verify what matters.</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Question 4 is a hard stop, not a tradeoff. If the content is sensitive or above the ceiling, the answer is no regardless of how useful the tool would be. Full treatment in Section 07.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A teammate is about to ask a chatbot to compute exact payroll figures from a personnel roster.
Two separate things are wrong with that. Name both.
Which task is the LLM the WRONG tool for?
A) Drafting a first version of a memo you will edit and verify
B) Rewriting a dense paragraph in plainer language
C) Producing the exact current price of a commodity and treating it as authoritative
D) Brainstorming a list of possible approaches to a problem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When to Use AI</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List the last five things you used (or wanted to use) an AI tool for.</a:t>
            </a:r>
          </a:p>
          <a:p>
            <a:pPr algn="l">
              <a:spcBef>
                <a:spcPts val="1000"/>
              </a:spcBef>
            </a:pPr>
            <a:r>
              <a:rPr sz="1400" b="0">
                <a:solidFill>
                  <a:srgbClr val="FFFFFF"/>
                </a:solidFill>
                <a:latin typeface="Calibri"/>
              </a:rPr>
              <a:t>  2.   Run each one through the four-question checklist.</a:t>
            </a:r>
          </a:p>
          <a:p>
            <a:pPr algn="l">
              <a:spcBef>
                <a:spcPts val="1000"/>
              </a:spcBef>
            </a:pPr>
            <a:r>
              <a:rPr sz="1400" b="0">
                <a:solidFill>
                  <a:srgbClr val="FFFFFF"/>
                </a:solidFill>
                <a:latin typeface="Calibri"/>
              </a:rPr>
              <a:t>  3.   Flag any that were actually wrong-tool cases — precise math, live facts, authoritative citation, sensitive content.</a:t>
            </a:r>
          </a:p>
          <a:p>
            <a:pPr algn="l">
              <a:spcBef>
                <a:spcPts val="1000"/>
              </a:spcBef>
            </a:pPr>
            <a:r>
              <a:rPr sz="1400" b="0">
                <a:solidFill>
                  <a:srgbClr val="FFFFFF"/>
                </a:solidFill>
                <a:latin typeface="Calibri"/>
              </a:rPr>
              <a:t>  4.   For one flagged case, write down what the RIGHT tool would have been.</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Decision flowchart pinned to a planning board — four checks before committing to a course of action]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When to Use AI — and When Not To</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AI fits open-ended language work where you remain the check on the facts.</a:t>
            </a:r>
          </a:p>
          <a:p>
            <a:pPr algn="l">
              <a:spcBef>
                <a:spcPts val="1400"/>
              </a:spcBef>
            </a:pPr>
            <a:r>
              <a:rPr sz="1600" b="0">
                <a:solidFill>
                  <a:srgbClr val="FFFFFF"/>
                </a:solidFill>
                <a:latin typeface="Calibri"/>
              </a:rPr>
              <a:t>  ›  Four wrong-tool cases: precise math, live/post-cutoff facts, authoritative citation, sensitive content.</a:t>
            </a:r>
          </a:p>
          <a:p>
            <a:pPr algn="l">
              <a:spcBef>
                <a:spcPts val="1400"/>
              </a:spcBef>
            </a:pPr>
            <a:r>
              <a:rPr sz="1600" b="0">
                <a:solidFill>
                  <a:srgbClr val="FFFFFF"/>
                </a:solidFill>
                <a:latin typeface="Calibri"/>
              </a:rPr>
              <a:t>  ›  Run the four-question checklist BEFORE you type, not after the output disappoints.</a:t>
            </a:r>
          </a:p>
          <a:p>
            <a:pPr algn="l">
              <a:spcBef>
                <a:spcPts val="1400"/>
              </a:spcBef>
            </a:pPr>
            <a:r>
              <a:rPr sz="1600" b="0">
                <a:solidFill>
                  <a:srgbClr val="FFFFFF"/>
                </a:solidFill>
                <a:latin typeface="Calibri"/>
              </a:rPr>
              <a:t>  ›  The authorization question is a hard stop, not a tradeoff.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07</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07</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Data Handling:
What Never to
Paste</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Once you are pasting real work into a cloud-connected tool, what you paste matters. This rule does not expire under time pressure.</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Soldier securing a classified document safe before turning to a civilian terminal]</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Authorization Is a Property of the System</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Authorization is a property of the system — not the impressiveness of the tool.</a:t>
            </a:r>
          </a:p>
          <a:p>
            <a:pPr algn="l">
              <a:spcBef>
                <a:spcPts val="700"/>
              </a:spcBef>
            </a:pPr>
            <a:r>
              <a:rPr sz="1500" b="0">
                <a:solidFill>
                  <a:srgbClr val="FFFFFF"/>
                </a:solidFill>
                <a:latin typeface="Calibri"/>
              </a:rPr>
              <a:t>  ›  A highly capable model on an unauthorized system does not become authorized because it is impressive.</a:t>
            </a:r>
          </a:p>
          <a:p>
            <a:pPr algn="l">
              <a:spcBef>
                <a:spcPts val="700"/>
              </a:spcBef>
            </a:pPr>
            <a:r>
              <a:rPr sz="1500" b="0">
                <a:solidFill>
                  <a:srgbClr val="FFFFFF"/>
                </a:solidFill>
                <a:latin typeface="Calibri"/>
              </a:rPr>
              <a:t>  ›  The boundary is set by policy, not capability.</a:t>
            </a:r>
          </a:p>
          <a:p>
            <a:pPr algn="l">
              <a:spcBef>
                <a:spcPts val="700"/>
              </a:spcBef>
            </a:pPr>
            <a:r>
              <a:rPr sz="1500" b="0">
                <a:solidFill>
                  <a:srgbClr val="FFFFFF"/>
                </a:solidFill>
                <a:latin typeface="Calibri"/>
              </a:rPr>
              <a:t>  ›  What must never go into an unauthorized system:</a:t>
            </a:r>
          </a:p>
          <a:p>
            <a:pPr algn="l">
              <a:spcBef>
                <a:spcPts val="300"/>
              </a:spcBef>
            </a:pPr>
            <a:r>
              <a:rPr sz="1300" b="0">
                <a:solidFill>
                  <a:srgbClr val="A8B4C8"/>
                </a:solidFill>
                <a:latin typeface="Calibri"/>
              </a:rPr>
              <a:t>      ◦  PII: names combined with identifiers, SSNs, DOBs, home addresses</a:t>
            </a:r>
          </a:p>
          <a:p>
            <a:pPr algn="l">
              <a:spcBef>
                <a:spcPts val="300"/>
              </a:spcBef>
            </a:pPr>
            <a:r>
              <a:rPr sz="1300" b="0">
                <a:solidFill>
                  <a:srgbClr val="A8B4C8"/>
                </a:solidFill>
                <a:latin typeface="Calibri"/>
              </a:rPr>
              <a:t>      ◦  Sensitive, controlled, or classified material of any kind</a:t>
            </a:r>
          </a:p>
          <a:p>
            <a:pPr algn="l">
              <a:spcBef>
                <a:spcPts val="300"/>
              </a:spcBef>
            </a:pPr>
            <a:r>
              <a:rPr sz="1300" b="0">
                <a:solidFill>
                  <a:srgbClr val="A8B4C8"/>
                </a:solidFill>
                <a:latin typeface="Calibri"/>
              </a:rPr>
              <a:t>      ◦  Anything above the system's authorization ceiling</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Most AI delivery is cloud-based: your input leaves your machine. This is the security spine — what flows IN. What you do with the output, and whether a use is ethical/lawful, is Module 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Default Posture and the Classify-Before-You-Paste Habit</a:t>
            </a:r>
          </a:p>
        </p:txBody>
      </p:sp>
      <p:sp>
        <p:nvSpPr>
          <p:cNvPr id="3" name="Rectangle 2"/>
          <p:cNvSpPr/>
          <p:nvPr/>
        </p:nvSpPr>
        <p:spPr>
          <a:xfrm>
            <a:off x="411480" y="868680"/>
            <a:ext cx="11365992" cy="25400"/>
          </a:xfrm>
          <a:prstGeom prst="rect">
            <a:avLst/>
          </a:prstGeom>
          <a:solidFill>
            <a:srgbClr val="FFAA00"/>
          </a:solidFill>
          <a:ln>
            <a:noFill/>
          </a:ln>
          <a:effectLst>
            <a:glow rad="50800">
              <a:srgbClr val="FFAA00">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Default posture: when in doubt, do not paste. Ask someone who can authorize it first.</a:t>
            </a:r>
          </a:p>
          <a:p>
            <a:pPr algn="l">
              <a:spcBef>
                <a:spcPts val="700"/>
              </a:spcBef>
            </a:pPr>
            <a:r>
              <a:rPr sz="1500" b="0">
                <a:solidFill>
                  <a:srgbClr val="FFFFFF"/>
                </a:solidFill>
                <a:latin typeface="Calibri"/>
              </a:rPr>
              <a:t>  ›  Classify before you paste — take two seconds before pasting anything:</a:t>
            </a:r>
          </a:p>
          <a:p>
            <a:pPr algn="l">
              <a:spcBef>
                <a:spcPts val="300"/>
              </a:spcBef>
            </a:pPr>
            <a:r>
              <a:rPr sz="1300" b="0">
                <a:solidFill>
                  <a:srgbClr val="A8B4C8"/>
                </a:solidFill>
                <a:latin typeface="Calibri"/>
              </a:rPr>
              <a:t>      ◦  What is this content?</a:t>
            </a:r>
          </a:p>
          <a:p>
            <a:pPr algn="l">
              <a:spcBef>
                <a:spcPts val="300"/>
              </a:spcBef>
            </a:pPr>
            <a:r>
              <a:rPr sz="1300" b="0">
                <a:solidFill>
                  <a:srgbClr val="A8B4C8"/>
                </a:solidFill>
                <a:latin typeface="Calibri"/>
              </a:rPr>
              <a:t>      ◦  Is this system authorized for it?</a:t>
            </a:r>
          </a:p>
          <a:p>
            <a:pPr algn="l">
              <a:spcBef>
                <a:spcPts val="300"/>
              </a:spcBef>
            </a:pPr>
            <a:r>
              <a:rPr sz="1300" b="0">
                <a:solidFill>
                  <a:srgbClr val="A8B4C8"/>
                </a:solidFill>
                <a:latin typeface="Calibri"/>
              </a:rPr>
              <a:t>      ◦  Build that pause until it is automatic.</a:t>
            </a:r>
          </a:p>
          <a:p>
            <a:pPr algn="l">
              <a:spcBef>
                <a:spcPts val="700"/>
              </a:spcBef>
            </a:pPr>
            <a:r>
              <a:rPr sz="1500" b="0">
                <a:solidFill>
                  <a:srgbClr val="FFFFFF"/>
                </a:solidFill>
                <a:latin typeface="Calibri"/>
              </a:rPr>
              <a:t>  ›  The 'paraphrase and summarize it first' loophole does not exist.</a:t>
            </a:r>
          </a:p>
          <a:p>
            <a:pPr algn="l">
              <a:spcBef>
                <a:spcPts val="700"/>
              </a:spcBef>
            </a:pPr>
            <a:r>
              <a:rPr sz="1500" b="0">
                <a:solidFill>
                  <a:srgbClr val="FFFFFF"/>
                </a:solidFill>
                <a:latin typeface="Calibri"/>
              </a:rPr>
              <a:t>  ›  This bright line does not expire — not at the end of this course, not under time pressure.</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One careless paste in an unauthorized system is the kind of mistake with real and lasting consequences. Default to no until you hear yes from someone who can authorize it. Do not soften this.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You are under a deadline and want to paste a document into your AI tool to summarize it quickly. You are not sure whether the system is authorized for that content.
What do you do?
You have a borderline-sensitive document and an unauthorized but highly capable AI tool that would save hours. What is the correct call?
A) Paste it — the efficiency gain justifies a judgment call
B) Summarize the key points in your head first, then paste the summary
C) Do not paste. Authorization does not change based on capability or time pressure. Ask first.
D) Paste it, but delete the conversation immediately after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Data Handling: What Never to Paste</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No prompting today. Think about the last three things you pasted into an AI tool.</a:t>
            </a:r>
          </a:p>
          <a:p>
            <a:pPr algn="l">
              <a:spcBef>
                <a:spcPts val="1000"/>
              </a:spcBef>
            </a:pPr>
            <a:r>
              <a:rPr sz="1400" b="0">
                <a:solidFill>
                  <a:srgbClr val="FFFFFF"/>
                </a:solidFill>
                <a:latin typeface="Calibri"/>
              </a:rPr>
              <a:t>  2.   For each one: was the system authorized for that type of content?</a:t>
            </a:r>
          </a:p>
          <a:p>
            <a:pPr algn="l">
              <a:spcBef>
                <a:spcPts val="1000"/>
              </a:spcBef>
            </a:pPr>
            <a:r>
              <a:rPr sz="1400" b="0">
                <a:solidFill>
                  <a:srgbClr val="FFFFFF"/>
                </a:solidFill>
                <a:latin typeface="Calibri"/>
              </a:rPr>
              <a:t>  3.   Identify one category of content you work with regularly that you will never paste into an unauthorized tool.</a:t>
            </a:r>
          </a:p>
          <a:p>
            <a:pPr algn="l">
              <a:spcBef>
                <a:spcPts val="1000"/>
              </a:spcBef>
            </a:pPr>
            <a:r>
              <a:rPr sz="1400" b="0">
                <a:solidFill>
                  <a:srgbClr val="FFFFFF"/>
                </a:solidFill>
                <a:latin typeface="Calibri"/>
              </a:rPr>
              <a:t>  4.   Write that category down. It is your personal bright line.</a:t>
            </a:r>
          </a:p>
          <a:p>
            <a:pPr algn="l">
              <a:spcBef>
                <a:spcPts val="1000"/>
              </a:spcBef>
            </a:pPr>
            <a:r>
              <a:rPr sz="1400" b="0">
                <a:solidFill>
                  <a:srgbClr val="FFFFFF"/>
                </a:solidFill>
                <a:latin typeface="Calibri"/>
              </a:rPr>
              <a:t>  5.   Keep it. It does not expire.</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reviewing a checklist before touching a terminal — a deliberate pause before action]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Data Handling: What Never to Paste</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Authorization is a property of the system — not the tool's capability or your time pressure.</a:t>
            </a:r>
          </a:p>
          <a:p>
            <a:pPr algn="l">
              <a:spcBef>
                <a:spcPts val="1400"/>
              </a:spcBef>
            </a:pPr>
            <a:r>
              <a:rPr sz="1600" b="0">
                <a:solidFill>
                  <a:srgbClr val="FFFFFF"/>
                </a:solidFill>
                <a:latin typeface="Calibri"/>
              </a:rPr>
              <a:t>  ›  PII, sensitive, controlled, and classified material must never go into an unauthorized system.</a:t>
            </a:r>
          </a:p>
          <a:p>
            <a:pPr algn="l">
              <a:spcBef>
                <a:spcPts val="1400"/>
              </a:spcBef>
            </a:pPr>
            <a:r>
              <a:rPr sz="1600" b="0">
                <a:solidFill>
                  <a:srgbClr val="FFFFFF"/>
                </a:solidFill>
                <a:latin typeface="Calibri"/>
              </a:rPr>
              <a:t>  ›  Default posture: when in doubt, do not paste. Ask first.</a:t>
            </a:r>
          </a:p>
          <a:p>
            <a:pPr algn="l">
              <a:spcBef>
                <a:spcPts val="1400"/>
              </a:spcBef>
            </a:pPr>
            <a:r>
              <a:rPr sz="1600" b="0">
                <a:solidFill>
                  <a:srgbClr val="FFFFFF"/>
                </a:solidFill>
                <a:latin typeface="Calibri"/>
              </a:rPr>
              <a:t>  ›  Classify before you paste — build the two-second pause until it is automatic.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MODULE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Know Your Weapon — Seven Core Concepts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389888"/>
            <a:ext cx="11365992" cy="384048"/>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44752"/>
            <a:ext cx="2651760" cy="384048"/>
          </a:xfrm>
          <a:prstGeom prst="rect">
            <a:avLst/>
          </a:prstGeom>
          <a:noFill/>
        </p:spPr>
        <p:txBody>
          <a:bodyPr wrap="square">
            <a:spAutoFit/>
          </a:bodyPr>
          <a:lstStyle/>
          <a:p>
            <a:pPr algn="l"/>
            <a:r>
              <a:rPr sz="1100" b="1" i="0">
                <a:solidFill>
                  <a:srgbClr val="0A0C14"/>
                </a:solidFill>
                <a:latin typeface="Calibri"/>
              </a:rPr>
              <a:t>CONCEPT</a:t>
            </a:r>
          </a:p>
        </p:txBody>
      </p:sp>
      <p:sp>
        <p:nvSpPr>
          <p:cNvPr id="9" name="TextBox 8"/>
          <p:cNvSpPr txBox="1"/>
          <p:nvPr/>
        </p:nvSpPr>
        <p:spPr>
          <a:xfrm>
            <a:off x="3291840" y="1444752"/>
            <a:ext cx="4023360" cy="384048"/>
          </a:xfrm>
          <a:prstGeom prst="rect">
            <a:avLst/>
          </a:prstGeom>
          <a:noFill/>
        </p:spPr>
        <p:txBody>
          <a:bodyPr wrap="square">
            <a:spAutoFit/>
          </a:bodyPr>
          <a:lstStyle/>
          <a:p>
            <a:pPr algn="l"/>
            <a:r>
              <a:rPr sz="1100" b="1" i="0">
                <a:solidFill>
                  <a:srgbClr val="0A0C14"/>
                </a:solidFill>
                <a:latin typeface="Calibri"/>
              </a:rPr>
              <a:t>CORE IDEA</a:t>
            </a:r>
          </a:p>
        </p:txBody>
      </p:sp>
      <p:sp>
        <p:nvSpPr>
          <p:cNvPr id="10" name="TextBox 9"/>
          <p:cNvSpPr txBox="1"/>
          <p:nvPr/>
        </p:nvSpPr>
        <p:spPr>
          <a:xfrm>
            <a:off x="7498080" y="1444752"/>
            <a:ext cx="4572000" cy="384048"/>
          </a:xfrm>
          <a:prstGeom prst="rect">
            <a:avLst/>
          </a:prstGeom>
          <a:noFill/>
        </p:spPr>
        <p:txBody>
          <a:bodyPr wrap="square">
            <a:spAutoFit/>
          </a:bodyPr>
          <a:lstStyle/>
          <a:p>
            <a:pPr algn="l"/>
            <a:r>
              <a:rPr sz="1100" b="1" i="0">
                <a:solidFill>
                  <a:srgbClr val="0A0C14"/>
                </a:solidFill>
                <a:latin typeface="Calibri"/>
              </a:rPr>
              <a:t>WHY IT MATTERS</a:t>
            </a:r>
          </a:p>
        </p:txBody>
      </p:sp>
      <p:sp>
        <p:nvSpPr>
          <p:cNvPr id="11" name="Rectangle 10"/>
          <p:cNvSpPr/>
          <p:nvPr/>
        </p:nvSpPr>
        <p:spPr>
          <a:xfrm>
            <a:off x="411480" y="1773936"/>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773936"/>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 y="1847088"/>
            <a:ext cx="2514600" cy="731520"/>
          </a:xfrm>
          <a:prstGeom prst="rect">
            <a:avLst/>
          </a:prstGeom>
          <a:noFill/>
        </p:spPr>
        <p:txBody>
          <a:bodyPr wrap="square">
            <a:spAutoFit/>
          </a:bodyPr>
          <a:lstStyle/>
          <a:p>
            <a:pPr algn="l"/>
            <a:r>
              <a:rPr sz="1100" b="1" i="0">
                <a:solidFill>
                  <a:srgbClr val="00B4FF"/>
                </a:solidFill>
                <a:latin typeface="Calibri"/>
              </a:rPr>
              <a:t>What an LLM Is</a:t>
            </a:r>
          </a:p>
        </p:txBody>
      </p:sp>
      <p:sp>
        <p:nvSpPr>
          <p:cNvPr id="14" name="TextBox 13"/>
          <p:cNvSpPr txBox="1"/>
          <p:nvPr/>
        </p:nvSpPr>
        <p:spPr>
          <a:xfrm>
            <a:off x="3310128" y="1847088"/>
            <a:ext cx="3886200" cy="731520"/>
          </a:xfrm>
          <a:prstGeom prst="rect">
            <a:avLst/>
          </a:prstGeom>
          <a:noFill/>
        </p:spPr>
        <p:txBody>
          <a:bodyPr wrap="square">
            <a:spAutoFit/>
          </a:bodyPr>
          <a:lstStyle/>
          <a:p>
            <a:pPr algn="l"/>
            <a:r>
              <a:rPr sz="1100" b="0" i="0">
                <a:solidFill>
                  <a:srgbClr val="FFFFFF"/>
                </a:solidFill>
                <a:latin typeface="Calibri"/>
              </a:rPr>
              <a:t>Prediction from learned patterns</a:t>
            </a:r>
          </a:p>
        </p:txBody>
      </p:sp>
      <p:sp>
        <p:nvSpPr>
          <p:cNvPr id="15" name="TextBox 14"/>
          <p:cNvSpPr txBox="1"/>
          <p:nvPr/>
        </p:nvSpPr>
        <p:spPr>
          <a:xfrm>
            <a:off x="7516368" y="1847088"/>
            <a:ext cx="4434840" cy="731520"/>
          </a:xfrm>
          <a:prstGeom prst="rect">
            <a:avLst/>
          </a:prstGeom>
          <a:noFill/>
        </p:spPr>
        <p:txBody>
          <a:bodyPr wrap="square">
            <a:spAutoFit/>
          </a:bodyPr>
          <a:lstStyle/>
          <a:p>
            <a:pPr algn="l"/>
            <a:r>
              <a:rPr sz="1100" b="0" i="0">
                <a:solidFill>
                  <a:srgbClr val="A8B4C8"/>
                </a:solidFill>
                <a:latin typeface="Calibri"/>
              </a:rPr>
              <a:t>Fluent output is not correct output. The only verb is 'predicts.'</a:t>
            </a:r>
          </a:p>
        </p:txBody>
      </p:sp>
      <p:sp>
        <p:nvSpPr>
          <p:cNvPr id="16" name="Rectangle 15"/>
          <p:cNvSpPr/>
          <p:nvPr/>
        </p:nvSpPr>
        <p:spPr>
          <a:xfrm>
            <a:off x="411480" y="2532888"/>
            <a:ext cx="11365992" cy="758952"/>
          </a:xfrm>
          <a:prstGeom prst="rect">
            <a:avLst/>
          </a:prstGeom>
          <a:solidFill>
            <a:srgbClr val="151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32888"/>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 y="2606040"/>
            <a:ext cx="2514600" cy="731520"/>
          </a:xfrm>
          <a:prstGeom prst="rect">
            <a:avLst/>
          </a:prstGeom>
          <a:noFill/>
        </p:spPr>
        <p:txBody>
          <a:bodyPr wrap="square">
            <a:spAutoFit/>
          </a:bodyPr>
          <a:lstStyle/>
          <a:p>
            <a:pPr algn="l"/>
            <a:r>
              <a:rPr sz="1100" b="1" i="0">
                <a:solidFill>
                  <a:srgbClr val="00B4FF"/>
                </a:solidFill>
                <a:latin typeface="Calibri"/>
              </a:rPr>
              <a:t>Tokens &amp; Context</a:t>
            </a:r>
          </a:p>
        </p:txBody>
      </p:sp>
      <p:sp>
        <p:nvSpPr>
          <p:cNvPr id="19" name="TextBox 18"/>
          <p:cNvSpPr txBox="1"/>
          <p:nvPr/>
        </p:nvSpPr>
        <p:spPr>
          <a:xfrm>
            <a:off x="3310128" y="2606040"/>
            <a:ext cx="3886200" cy="731520"/>
          </a:xfrm>
          <a:prstGeom prst="rect">
            <a:avLst/>
          </a:prstGeom>
          <a:noFill/>
        </p:spPr>
        <p:txBody>
          <a:bodyPr wrap="square">
            <a:spAutoFit/>
          </a:bodyPr>
          <a:lstStyle/>
          <a:p>
            <a:pPr algn="l"/>
            <a:r>
              <a:rPr sz="1100" b="0" i="0">
                <a:solidFill>
                  <a:srgbClr val="FFFFFF"/>
                </a:solidFill>
                <a:latin typeface="Calibri"/>
              </a:rPr>
              <a:t>Finite working memory (intro depth)</a:t>
            </a:r>
          </a:p>
        </p:txBody>
      </p:sp>
      <p:sp>
        <p:nvSpPr>
          <p:cNvPr id="20" name="TextBox 19"/>
          <p:cNvSpPr txBox="1"/>
          <p:nvPr/>
        </p:nvSpPr>
        <p:spPr>
          <a:xfrm>
            <a:off x="7516368" y="2606040"/>
            <a:ext cx="4434840" cy="731520"/>
          </a:xfrm>
          <a:prstGeom prst="rect">
            <a:avLst/>
          </a:prstGeom>
          <a:noFill/>
        </p:spPr>
        <p:txBody>
          <a:bodyPr wrap="square">
            <a:spAutoFit/>
          </a:bodyPr>
          <a:lstStyle/>
          <a:p>
            <a:pPr algn="l"/>
            <a:r>
              <a:rPr sz="1100" b="0" i="0">
                <a:solidFill>
                  <a:srgbClr val="A8B4C8"/>
                </a:solidFill>
                <a:latin typeface="Calibri"/>
              </a:rPr>
              <a:t>Long chats degrade as the window fills. Deep mgmt is Module 8.</a:t>
            </a:r>
          </a:p>
        </p:txBody>
      </p:sp>
      <p:sp>
        <p:nvSpPr>
          <p:cNvPr id="21" name="Rectangle 20"/>
          <p:cNvSpPr/>
          <p:nvPr/>
        </p:nvSpPr>
        <p:spPr>
          <a:xfrm>
            <a:off x="411480" y="3291840"/>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91840"/>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3364992"/>
            <a:ext cx="2514600" cy="731520"/>
          </a:xfrm>
          <a:prstGeom prst="rect">
            <a:avLst/>
          </a:prstGeom>
          <a:noFill/>
        </p:spPr>
        <p:txBody>
          <a:bodyPr wrap="square">
            <a:spAutoFit/>
          </a:bodyPr>
          <a:lstStyle/>
          <a:p>
            <a:pPr algn="l"/>
            <a:r>
              <a:rPr sz="1100" b="1" i="0">
                <a:solidFill>
                  <a:srgbClr val="00B4FF"/>
                </a:solidFill>
                <a:latin typeface="Calibri"/>
              </a:rPr>
              <a:t>Conversation Mechanics</a:t>
            </a:r>
          </a:p>
        </p:txBody>
      </p:sp>
      <p:sp>
        <p:nvSpPr>
          <p:cNvPr id="24" name="TextBox 23"/>
          <p:cNvSpPr txBox="1"/>
          <p:nvPr/>
        </p:nvSpPr>
        <p:spPr>
          <a:xfrm>
            <a:off x="3310128" y="3364992"/>
            <a:ext cx="3886200" cy="731520"/>
          </a:xfrm>
          <a:prstGeom prst="rect">
            <a:avLst/>
          </a:prstGeom>
          <a:noFill/>
        </p:spPr>
        <p:txBody>
          <a:bodyPr wrap="square">
            <a:spAutoFit/>
          </a:bodyPr>
          <a:lstStyle/>
          <a:p>
            <a:pPr algn="l"/>
            <a:r>
              <a:rPr sz="1100" b="0" i="0">
                <a:solidFill>
                  <a:srgbClr val="FFFFFF"/>
                </a:solidFill>
                <a:latin typeface="Calibri"/>
              </a:rPr>
              <a:t>Stateless engine, re-fed the transcript</a:t>
            </a:r>
          </a:p>
        </p:txBody>
      </p:sp>
      <p:sp>
        <p:nvSpPr>
          <p:cNvPr id="25" name="TextBox 24"/>
          <p:cNvSpPr txBox="1"/>
          <p:nvPr/>
        </p:nvSpPr>
        <p:spPr>
          <a:xfrm>
            <a:off x="7516368" y="3364992"/>
            <a:ext cx="4434840" cy="731520"/>
          </a:xfrm>
          <a:prstGeom prst="rect">
            <a:avLst/>
          </a:prstGeom>
          <a:noFill/>
        </p:spPr>
        <p:txBody>
          <a:bodyPr wrap="square">
            <a:spAutoFit/>
          </a:bodyPr>
          <a:lstStyle/>
          <a:p>
            <a:pPr algn="l"/>
            <a:r>
              <a:rPr sz="1100" b="0" i="0">
                <a:solidFill>
                  <a:srgbClr val="A8B4C8"/>
                </a:solidFill>
                <a:latin typeface="Calibri"/>
              </a:rPr>
              <a:t>'Memory' is re-reading. No cross-chat recall by default.</a:t>
            </a:r>
          </a:p>
        </p:txBody>
      </p:sp>
      <p:sp>
        <p:nvSpPr>
          <p:cNvPr id="26" name="Rectangle 25"/>
          <p:cNvSpPr/>
          <p:nvPr/>
        </p:nvSpPr>
        <p:spPr>
          <a:xfrm>
            <a:off x="411480" y="4050792"/>
            <a:ext cx="11365992" cy="758952"/>
          </a:xfrm>
          <a:prstGeom prst="rect">
            <a:avLst/>
          </a:prstGeom>
          <a:solidFill>
            <a:srgbClr val="151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050792"/>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1208" y="4123944"/>
            <a:ext cx="2514600" cy="731520"/>
          </a:xfrm>
          <a:prstGeom prst="rect">
            <a:avLst/>
          </a:prstGeom>
          <a:noFill/>
        </p:spPr>
        <p:txBody>
          <a:bodyPr wrap="square">
            <a:spAutoFit/>
          </a:bodyPr>
          <a:lstStyle/>
          <a:p>
            <a:pPr algn="l"/>
            <a:r>
              <a:rPr sz="1100" b="1" i="0">
                <a:solidFill>
                  <a:srgbClr val="00B4FF"/>
                </a:solidFill>
                <a:latin typeface="Calibri"/>
              </a:rPr>
              <a:t>How LLMs Fail</a:t>
            </a:r>
          </a:p>
        </p:txBody>
      </p:sp>
      <p:sp>
        <p:nvSpPr>
          <p:cNvPr id="29" name="TextBox 28"/>
          <p:cNvSpPr txBox="1"/>
          <p:nvPr/>
        </p:nvSpPr>
        <p:spPr>
          <a:xfrm>
            <a:off x="3310128" y="4123944"/>
            <a:ext cx="3886200" cy="731520"/>
          </a:xfrm>
          <a:prstGeom prst="rect">
            <a:avLst/>
          </a:prstGeom>
          <a:noFill/>
        </p:spPr>
        <p:txBody>
          <a:bodyPr wrap="square">
            <a:spAutoFit/>
          </a:bodyPr>
          <a:lstStyle/>
          <a:p>
            <a:pPr algn="l"/>
            <a:r>
              <a:rPr sz="1100" b="0" i="0">
                <a:solidFill>
                  <a:srgbClr val="FFFFFF"/>
                </a:solidFill>
                <a:latin typeface="Calibri"/>
              </a:rPr>
              <a:t>Five modes — all expected behavior</a:t>
            </a:r>
          </a:p>
        </p:txBody>
      </p:sp>
      <p:sp>
        <p:nvSpPr>
          <p:cNvPr id="30" name="TextBox 29"/>
          <p:cNvSpPr txBox="1"/>
          <p:nvPr/>
        </p:nvSpPr>
        <p:spPr>
          <a:xfrm>
            <a:off x="7516368" y="4123944"/>
            <a:ext cx="4434840" cy="731520"/>
          </a:xfrm>
          <a:prstGeom prst="rect">
            <a:avLst/>
          </a:prstGeom>
          <a:noFill/>
        </p:spPr>
        <p:txBody>
          <a:bodyPr wrap="square">
            <a:spAutoFit/>
          </a:bodyPr>
          <a:lstStyle/>
          <a:p>
            <a:pPr algn="l"/>
            <a:r>
              <a:rPr sz="1100" b="0" i="0">
                <a:solidFill>
                  <a:srgbClr val="A8B4C8"/>
                </a:solidFill>
                <a:latin typeface="Calibri"/>
              </a:rPr>
              <a:t>Verify anything that matters. Spot the skew. Confidence is not accuracy.</a:t>
            </a:r>
          </a:p>
        </p:txBody>
      </p:sp>
      <p:sp>
        <p:nvSpPr>
          <p:cNvPr id="31" name="Rectangle 30"/>
          <p:cNvSpPr/>
          <p:nvPr/>
        </p:nvSpPr>
        <p:spPr>
          <a:xfrm>
            <a:off x="411480" y="4809744"/>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4809744"/>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4882896"/>
            <a:ext cx="2514600" cy="731520"/>
          </a:xfrm>
          <a:prstGeom prst="rect">
            <a:avLst/>
          </a:prstGeom>
          <a:noFill/>
        </p:spPr>
        <p:txBody>
          <a:bodyPr wrap="square">
            <a:spAutoFit/>
          </a:bodyPr>
          <a:lstStyle/>
          <a:p>
            <a:pPr algn="l"/>
            <a:r>
              <a:rPr sz="1100" b="1" i="0">
                <a:solidFill>
                  <a:srgbClr val="00B4FF"/>
                </a:solidFill>
                <a:latin typeface="Calibri"/>
              </a:rPr>
              <a:t>Verifying Output</a:t>
            </a:r>
          </a:p>
        </p:txBody>
      </p:sp>
      <p:sp>
        <p:nvSpPr>
          <p:cNvPr id="34" name="TextBox 33"/>
          <p:cNvSpPr txBox="1"/>
          <p:nvPr/>
        </p:nvSpPr>
        <p:spPr>
          <a:xfrm>
            <a:off x="3310128" y="4882896"/>
            <a:ext cx="3886200" cy="731520"/>
          </a:xfrm>
          <a:prstGeom prst="rect">
            <a:avLst/>
          </a:prstGeom>
          <a:noFill/>
        </p:spPr>
        <p:txBody>
          <a:bodyPr wrap="square">
            <a:spAutoFit/>
          </a:bodyPr>
          <a:lstStyle/>
          <a:p>
            <a:pPr algn="l"/>
            <a:r>
              <a:rPr sz="1100" b="0" i="0">
                <a:solidFill>
                  <a:srgbClr val="FFFFFF"/>
                </a:solidFill>
                <a:latin typeface="Calibri"/>
              </a:rPr>
              <a:t>Five techniques as drills</a:t>
            </a:r>
          </a:p>
        </p:txBody>
      </p:sp>
      <p:sp>
        <p:nvSpPr>
          <p:cNvPr id="35" name="TextBox 34"/>
          <p:cNvSpPr txBox="1"/>
          <p:nvPr/>
        </p:nvSpPr>
        <p:spPr>
          <a:xfrm>
            <a:off x="7516368" y="4882896"/>
            <a:ext cx="4434840" cy="731520"/>
          </a:xfrm>
          <a:prstGeom prst="rect">
            <a:avLst/>
          </a:prstGeom>
          <a:noFill/>
        </p:spPr>
        <p:txBody>
          <a:bodyPr wrap="square">
            <a:spAutoFit/>
          </a:bodyPr>
          <a:lstStyle/>
          <a:p>
            <a:pPr algn="l"/>
            <a:r>
              <a:rPr sz="1100" b="0" i="0">
                <a:solidFill>
                  <a:srgbClr val="A8B4C8"/>
                </a:solidFill>
                <a:latin typeface="Calibri"/>
              </a:rPr>
              <a:t>Cite-and-check, cross-source, re-run, second-tool, lateral reading.</a:t>
            </a:r>
          </a:p>
        </p:txBody>
      </p:sp>
      <p:sp>
        <p:nvSpPr>
          <p:cNvPr id="36" name="Rectangle 35"/>
          <p:cNvSpPr/>
          <p:nvPr/>
        </p:nvSpPr>
        <p:spPr>
          <a:xfrm>
            <a:off x="411480" y="5568696"/>
            <a:ext cx="11365992" cy="758952"/>
          </a:xfrm>
          <a:prstGeom prst="rect">
            <a:avLst/>
          </a:prstGeom>
          <a:solidFill>
            <a:srgbClr val="151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5568696"/>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1208" y="5641848"/>
            <a:ext cx="2514600" cy="731520"/>
          </a:xfrm>
          <a:prstGeom prst="rect">
            <a:avLst/>
          </a:prstGeom>
          <a:noFill/>
        </p:spPr>
        <p:txBody>
          <a:bodyPr wrap="square">
            <a:spAutoFit/>
          </a:bodyPr>
          <a:lstStyle/>
          <a:p>
            <a:pPr algn="l"/>
            <a:r>
              <a:rPr sz="1100" b="1" i="0">
                <a:solidFill>
                  <a:srgbClr val="00B4FF"/>
                </a:solidFill>
                <a:latin typeface="Calibri"/>
              </a:rPr>
              <a:t>When to Use AI</a:t>
            </a:r>
          </a:p>
        </p:txBody>
      </p:sp>
      <p:sp>
        <p:nvSpPr>
          <p:cNvPr id="39" name="TextBox 38"/>
          <p:cNvSpPr txBox="1"/>
          <p:nvPr/>
        </p:nvSpPr>
        <p:spPr>
          <a:xfrm>
            <a:off x="3310128" y="5641848"/>
            <a:ext cx="3886200" cy="731520"/>
          </a:xfrm>
          <a:prstGeom prst="rect">
            <a:avLst/>
          </a:prstGeom>
          <a:noFill/>
        </p:spPr>
        <p:txBody>
          <a:bodyPr wrap="square">
            <a:spAutoFit/>
          </a:bodyPr>
          <a:lstStyle/>
          <a:p>
            <a:pPr algn="l"/>
            <a:r>
              <a:rPr sz="1100" b="0" i="0">
                <a:solidFill>
                  <a:srgbClr val="FFFFFF"/>
                </a:solidFill>
                <a:latin typeface="Calibri"/>
              </a:rPr>
              <a:t>Right for language, wrong for precise/live</a:t>
            </a:r>
          </a:p>
        </p:txBody>
      </p:sp>
      <p:sp>
        <p:nvSpPr>
          <p:cNvPr id="40" name="TextBox 39"/>
          <p:cNvSpPr txBox="1"/>
          <p:nvPr/>
        </p:nvSpPr>
        <p:spPr>
          <a:xfrm>
            <a:off x="7516368" y="5641848"/>
            <a:ext cx="4434840" cy="731520"/>
          </a:xfrm>
          <a:prstGeom prst="rect">
            <a:avLst/>
          </a:prstGeom>
          <a:noFill/>
        </p:spPr>
        <p:txBody>
          <a:bodyPr wrap="square">
            <a:spAutoFit/>
          </a:bodyPr>
          <a:lstStyle/>
          <a:p>
            <a:pPr algn="l"/>
            <a:r>
              <a:rPr sz="1100" b="0" i="0">
                <a:solidFill>
                  <a:srgbClr val="A8B4C8"/>
                </a:solidFill>
                <a:latin typeface="Calibri"/>
              </a:rPr>
              <a:t>Run the four-question checklist before you type.</a:t>
            </a:r>
          </a:p>
        </p:txBody>
      </p:sp>
      <p:sp>
        <p:nvSpPr>
          <p:cNvPr id="41" name="Rectangle 40"/>
          <p:cNvSpPr/>
          <p:nvPr/>
        </p:nvSpPr>
        <p:spPr>
          <a:xfrm>
            <a:off x="411480" y="6327648"/>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1480" y="6327648"/>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1208" y="6400800"/>
            <a:ext cx="2514600" cy="731520"/>
          </a:xfrm>
          <a:prstGeom prst="rect">
            <a:avLst/>
          </a:prstGeom>
          <a:noFill/>
        </p:spPr>
        <p:txBody>
          <a:bodyPr wrap="square">
            <a:spAutoFit/>
          </a:bodyPr>
          <a:lstStyle/>
          <a:p>
            <a:pPr algn="l"/>
            <a:r>
              <a:rPr sz="1100" b="1" i="0">
                <a:solidFill>
                  <a:srgbClr val="00B4FF"/>
                </a:solidFill>
                <a:latin typeface="Calibri"/>
              </a:rPr>
              <a:t>Data Handling</a:t>
            </a:r>
          </a:p>
        </p:txBody>
      </p:sp>
      <p:sp>
        <p:nvSpPr>
          <p:cNvPr id="44" name="TextBox 43"/>
          <p:cNvSpPr txBox="1"/>
          <p:nvPr/>
        </p:nvSpPr>
        <p:spPr>
          <a:xfrm>
            <a:off x="3310128" y="6400800"/>
            <a:ext cx="3886200" cy="731520"/>
          </a:xfrm>
          <a:prstGeom prst="rect">
            <a:avLst/>
          </a:prstGeom>
          <a:noFill/>
        </p:spPr>
        <p:txBody>
          <a:bodyPr wrap="square">
            <a:spAutoFit/>
          </a:bodyPr>
          <a:lstStyle/>
          <a:p>
            <a:pPr algn="l"/>
            <a:r>
              <a:rPr sz="1100" b="0" i="0">
                <a:solidFill>
                  <a:srgbClr val="FFFFFF"/>
                </a:solidFill>
                <a:latin typeface="Calibri"/>
              </a:rPr>
              <a:t>Authorization is a property of the system</a:t>
            </a:r>
          </a:p>
        </p:txBody>
      </p:sp>
      <p:sp>
        <p:nvSpPr>
          <p:cNvPr id="45" name="TextBox 44"/>
          <p:cNvSpPr txBox="1"/>
          <p:nvPr/>
        </p:nvSpPr>
        <p:spPr>
          <a:xfrm>
            <a:off x="7516368" y="6400800"/>
            <a:ext cx="4434840" cy="731520"/>
          </a:xfrm>
          <a:prstGeom prst="rect">
            <a:avLst/>
          </a:prstGeom>
          <a:noFill/>
        </p:spPr>
        <p:txBody>
          <a:bodyPr wrap="square">
            <a:spAutoFit/>
          </a:bodyPr>
          <a:lstStyle/>
          <a:p>
            <a:pPr algn="l"/>
            <a:r>
              <a:rPr sz="1100" b="0" i="0">
                <a:solidFill>
                  <a:srgbClr val="A8B4C8"/>
                </a:solidFill>
                <a:latin typeface="Calibri"/>
              </a:rPr>
              <a:t>When in doubt, do not paste. The bright line does not expire.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READINESS CHECK</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Confirm before moving on</a:t>
            </a:r>
          </a:p>
        </p:txBody>
      </p:sp>
      <p:sp>
        <p:nvSpPr>
          <p:cNvPr id="4" name="Rectangle 3"/>
          <p:cNvSpPr/>
          <p:nvPr/>
        </p:nvSpPr>
        <p:spPr>
          <a:xfrm>
            <a:off x="411480" y="1143000"/>
            <a:ext cx="11365992" cy="25400"/>
          </a:xfrm>
          <a:prstGeom prst="rect">
            <a:avLst/>
          </a:prstGeom>
          <a:solidFill>
            <a:srgbClr val="FFAA00"/>
          </a:solidFill>
          <a:ln>
            <a:noFill/>
          </a:ln>
          <a:effectLst>
            <a:glow rad="50800">
              <a:srgbClr val="FFAA00">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FFAA00"/>
          </a:solidFill>
          <a:ln>
            <a:noFill/>
          </a:ln>
          <a:effectLst>
            <a:glow rad="38100">
              <a:srgbClr val="FFAA00">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800"/>
              </a:spcBef>
            </a:pPr>
            <a:r>
              <a:rPr sz="1300" b="0">
                <a:solidFill>
                  <a:srgbClr val="A8B4C8"/>
                </a:solidFill>
                <a:latin typeface="Calibri"/>
              </a:rPr>
              <a:t>  ☐   I can state in one sentence what an LLM does — using only the verb 'predicts'</a:t>
            </a:r>
          </a:p>
          <a:p>
            <a:pPr algn="l">
              <a:spcBef>
                <a:spcPts val="800"/>
              </a:spcBef>
            </a:pPr>
            <a:r>
              <a:rPr sz="1300" b="0">
                <a:solidFill>
                  <a:srgbClr val="A8B4C8"/>
                </a:solidFill>
                <a:latin typeface="Calibri"/>
              </a:rPr>
              <a:t>  ☐   I can explain tokens and the context window, and why long chats degrade</a:t>
            </a:r>
          </a:p>
          <a:p>
            <a:pPr algn="l">
              <a:spcBef>
                <a:spcPts val="800"/>
              </a:spcBef>
            </a:pPr>
            <a:r>
              <a:rPr sz="1300" b="0">
                <a:solidFill>
                  <a:srgbClr val="A8B4C8"/>
                </a:solidFill>
                <a:latin typeface="Calibri"/>
              </a:rPr>
              <a:t>  ☐   I can explain why the model is stateless and what conversation 'memory' really is</a:t>
            </a:r>
          </a:p>
          <a:p>
            <a:pPr algn="l">
              <a:spcBef>
                <a:spcPts val="800"/>
              </a:spcBef>
            </a:pPr>
            <a:r>
              <a:rPr sz="1300" b="0">
                <a:solidFill>
                  <a:srgbClr val="A8B4C8"/>
                </a:solidFill>
                <a:latin typeface="Calibri"/>
              </a:rPr>
              <a:t>  ☐   I can name the five failure modes and have produced a hallucination with my own hands</a:t>
            </a:r>
          </a:p>
          <a:p>
            <a:pPr algn="l">
              <a:spcBef>
                <a:spcPts val="800"/>
              </a:spcBef>
            </a:pPr>
            <a:r>
              <a:rPr sz="1300" b="0">
                <a:solidFill>
                  <a:srgbClr val="A8B4C8"/>
                </a:solidFill>
                <a:latin typeface="Calibri"/>
              </a:rPr>
              <a:t>  ☐   I can run the five verification techniques as drills, not as a vibe</a:t>
            </a:r>
          </a:p>
          <a:p>
            <a:pPr algn="l">
              <a:spcBef>
                <a:spcPts val="800"/>
              </a:spcBef>
            </a:pPr>
            <a:r>
              <a:rPr sz="1300" b="0">
                <a:solidFill>
                  <a:srgbClr val="A8B4C8"/>
                </a:solidFill>
                <a:latin typeface="Calibri"/>
              </a:rPr>
              <a:t>  ☐   I can run the four-question 'when to use AI' checklist before I type</a:t>
            </a:r>
          </a:p>
          <a:p>
            <a:pPr algn="l">
              <a:spcBef>
                <a:spcPts val="800"/>
              </a:spcBef>
            </a:pPr>
            <a:r>
              <a:rPr sz="1300" b="0">
                <a:solidFill>
                  <a:srgbClr val="A8B4C8"/>
                </a:solidFill>
                <a:latin typeface="Calibri"/>
              </a:rPr>
              <a:t>  ☐   I know what must never go into an unauthorized system and have written my personal bright line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228600" cy="6858000"/>
          </a:xfrm>
          <a:prstGeom prst="rect">
            <a:avLst/>
          </a:prstGeom>
          <a:solidFill>
            <a:srgbClr val="00B4FF"/>
          </a:solidFill>
          <a:ln>
            <a:noFill/>
          </a:ln>
          <a:effectLst>
            <a:glow rad="635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548640"/>
            <a:ext cx="7315200" cy="347472"/>
          </a:xfrm>
          <a:prstGeom prst="rect">
            <a:avLst/>
          </a:prstGeom>
          <a:noFill/>
        </p:spPr>
        <p:txBody>
          <a:bodyPr wrap="square">
            <a:spAutoFit/>
          </a:bodyPr>
          <a:lstStyle/>
          <a:p>
            <a:pPr algn="l"/>
            <a:r>
              <a:rPr sz="1100" b="1" i="0">
                <a:solidFill>
                  <a:srgbClr val="00B4FF"/>
                </a:solidFill>
                <a:latin typeface="Calibri"/>
              </a:rPr>
              <a:t>END OF MODULE</a:t>
            </a:r>
          </a:p>
        </p:txBody>
      </p:sp>
      <p:sp>
        <p:nvSpPr>
          <p:cNvPr id="6" name="TextBox 5"/>
          <p:cNvSpPr txBox="1"/>
          <p:nvPr/>
        </p:nvSpPr>
        <p:spPr>
          <a:xfrm>
            <a:off x="411480" y="1005840"/>
            <a:ext cx="7315200" cy="1828800"/>
          </a:xfrm>
          <a:prstGeom prst="rect">
            <a:avLst/>
          </a:prstGeom>
          <a:noFill/>
        </p:spPr>
        <p:txBody>
          <a:bodyPr wrap="square">
            <a:spAutoFit/>
          </a:bodyPr>
          <a:lstStyle/>
          <a:p>
            <a:pPr algn="l"/>
            <a:r>
              <a:rPr sz="4000" b="1" i="0">
                <a:solidFill>
                  <a:srgbClr val="FFFFFF"/>
                </a:solidFill>
                <a:latin typeface="Calibri"/>
              </a:rPr>
              <a:t>Module 1:
Know Your Weapon</a:t>
            </a:r>
          </a:p>
        </p:txBody>
      </p:sp>
      <p:sp>
        <p:nvSpPr>
          <p:cNvPr id="7" name="Rectangle 6"/>
          <p:cNvSpPr/>
          <p:nvPr/>
        </p:nvSpPr>
        <p:spPr>
          <a:xfrm>
            <a:off x="411480" y="2971800"/>
            <a:ext cx="5486400" cy="254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154680"/>
            <a:ext cx="3657600" cy="320040"/>
          </a:xfrm>
          <a:prstGeom prst="rect">
            <a:avLst/>
          </a:prstGeom>
          <a:noFill/>
        </p:spPr>
        <p:txBody>
          <a:bodyPr wrap="square">
            <a:spAutoFit/>
          </a:bodyPr>
          <a:lstStyle/>
          <a:p>
            <a:pPr algn="l"/>
            <a:r>
              <a:rPr sz="1100" b="1" i="0">
                <a:solidFill>
                  <a:srgbClr val="FFAA00"/>
                </a:solidFill>
                <a:latin typeface="Calibri"/>
              </a:rPr>
              <a:t>NEXT STEPS</a:t>
            </a:r>
          </a:p>
        </p:txBody>
      </p:sp>
      <p:sp>
        <p:nvSpPr>
          <p:cNvPr id="9" name="TextBox 8"/>
          <p:cNvSpPr txBox="1"/>
          <p:nvPr/>
        </p:nvSpPr>
        <p:spPr>
          <a:xfrm>
            <a:off x="411480" y="3566160"/>
            <a:ext cx="6858000" cy="2560320"/>
          </a:xfrm>
          <a:prstGeom prst="rect">
            <a:avLst/>
          </a:prstGeom>
          <a:noFill/>
        </p:spPr>
        <p:txBody>
          <a:bodyPr wrap="square">
            <a:spAutoFit/>
          </a:bodyPr>
          <a:lstStyle/>
          <a:p>
            <a:pPr algn="l">
              <a:spcBef>
                <a:spcPts val="1000"/>
              </a:spcBef>
            </a:pPr>
            <a:r>
              <a:rPr sz="1400" b="0">
                <a:solidFill>
                  <a:srgbClr val="A8B4C8"/>
                </a:solidFill>
                <a:latin typeface="Calibri"/>
              </a:rPr>
              <a:t>  1.   Produce a hallucination with your own hands before moving on — if you have not yet, do it now.</a:t>
            </a:r>
          </a:p>
          <a:p>
            <a:pPr algn="l">
              <a:spcBef>
                <a:spcPts val="1000"/>
              </a:spcBef>
            </a:pPr>
            <a:r>
              <a:rPr sz="1400" b="0">
                <a:solidFill>
                  <a:srgbClr val="A8B4C8"/>
                </a:solidFill>
                <a:latin typeface="Calibri"/>
              </a:rPr>
              <a:t>  2.   Run all five verification techniques against one planted false claim in a single session.</a:t>
            </a:r>
          </a:p>
          <a:p>
            <a:pPr algn="l">
              <a:spcBef>
                <a:spcPts val="1000"/>
              </a:spcBef>
            </a:pPr>
            <a:r>
              <a:rPr sz="1400" b="0">
                <a:solidFill>
                  <a:srgbClr val="A8B4C8"/>
                </a:solidFill>
                <a:latin typeface="Calibri"/>
              </a:rPr>
              <a:t>  3.   Run your last five AI uses through the four-question 'when to use it' checklist.</a:t>
            </a:r>
          </a:p>
          <a:p>
            <a:pPr algn="l">
              <a:spcBef>
                <a:spcPts val="1000"/>
              </a:spcBef>
            </a:pPr>
            <a:r>
              <a:rPr sz="1400" b="0">
                <a:solidFill>
                  <a:srgbClr val="A8B4C8"/>
                </a:solidFill>
                <a:latin typeface="Calibri"/>
              </a:rPr>
              <a:t>  4.   Write down your personal bright line for content you handle — and keep it. It does not expire.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