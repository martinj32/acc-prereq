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0"/>
            <a:ext cx="1270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274320"/>
            <a:ext cx="5486400" cy="320040"/>
          </a:xfrm>
          <a:prstGeom prst="rect">
            <a:avLst/>
          </a:prstGeom>
          <a:noFill/>
        </p:spPr>
        <p:txBody>
          <a:bodyPr wrap="square">
            <a:spAutoFit/>
          </a:bodyPr>
          <a:lstStyle/>
          <a:p>
            <a:pPr algn="l"/>
            <a:r>
              <a:rPr sz="1000" b="1" i="0">
                <a:solidFill>
                  <a:srgbClr val="00B4FF"/>
                </a:solidFill>
                <a:latin typeface="Calibri"/>
              </a:rPr>
              <a:t>AGENTIC COMMANDERS COURSE</a:t>
            </a:r>
          </a:p>
        </p:txBody>
      </p:sp>
      <p:sp>
        <p:nvSpPr>
          <p:cNvPr id="4" name="TextBox 3"/>
          <p:cNvSpPr txBox="1"/>
          <p:nvPr/>
        </p:nvSpPr>
        <p:spPr>
          <a:xfrm>
            <a:off x="274320" y="914400"/>
            <a:ext cx="5943600" cy="2560320"/>
          </a:xfrm>
          <a:prstGeom prst="rect">
            <a:avLst/>
          </a:prstGeom>
          <a:noFill/>
        </p:spPr>
        <p:txBody>
          <a:bodyPr wrap="square">
            <a:spAutoFit/>
          </a:bodyPr>
          <a:lstStyle/>
          <a:p>
            <a:pPr algn="l"/>
            <a:r>
              <a:rPr sz="4000" b="1" i="0">
                <a:solidFill>
                  <a:srgbClr val="FFFFFF"/>
                </a:solidFill>
                <a:latin typeface="Calibri"/>
              </a:rPr>
              <a:t>Know the Terrain:
Filesystem &amp;
Terminal</a:t>
            </a:r>
          </a:p>
        </p:txBody>
      </p:sp>
      <p:sp>
        <p:nvSpPr>
          <p:cNvPr id="5" name="Rectangle 4"/>
          <p:cNvSpPr/>
          <p:nvPr/>
        </p:nvSpPr>
        <p:spPr>
          <a:xfrm>
            <a:off x="274320" y="3657600"/>
            <a:ext cx="530352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3794760"/>
            <a:ext cx="5486400" cy="457200"/>
          </a:xfrm>
          <a:prstGeom prst="rect">
            <a:avLst/>
          </a:prstGeom>
          <a:noFill/>
        </p:spPr>
        <p:txBody>
          <a:bodyPr wrap="square">
            <a:spAutoFit/>
          </a:bodyPr>
          <a:lstStyle/>
          <a:p>
            <a:pPr algn="l"/>
            <a:r>
              <a:rPr sz="1300" b="0" i="0">
                <a:solidFill>
                  <a:srgbClr val="A8B4C8"/>
                </a:solidFill>
                <a:latin typeface="Calibri"/>
              </a:rPr>
              <a:t>PREREQUISITE MODULE  |  2-3 HOUR BLOCK</a:t>
            </a:r>
          </a:p>
        </p:txBody>
      </p:sp>
      <p:sp>
        <p:nvSpPr>
          <p:cNvPr id="7" name="Rectangle 6"/>
          <p:cNvSpPr/>
          <p:nvPr/>
        </p:nvSpPr>
        <p:spPr>
          <a:xfrm>
            <a:off x="6492240" y="320040"/>
            <a:ext cx="5394960" cy="60807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3040380"/>
            <a:ext cx="5394960" cy="274320"/>
          </a:xfrm>
          <a:prstGeom prst="rect">
            <a:avLst/>
          </a:prstGeom>
          <a:noFill/>
        </p:spPr>
        <p:txBody>
          <a:bodyPr wrap="square">
            <a:spAutoFit/>
          </a:bodyPr>
          <a:lstStyle/>
          <a:p>
            <a:pPr algn="ctr"/>
            <a:r>
              <a:rPr sz="900" b="1" i="0">
                <a:solidFill>
                  <a:srgbClr val="00B4FF"/>
                </a:solidFill>
                <a:latin typeface="Calibri"/>
              </a:rPr>
              <a:t>◼  IMAGE</a:t>
            </a:r>
          </a:p>
        </p:txBody>
      </p:sp>
      <p:sp>
        <p:nvSpPr>
          <p:cNvPr id="9" name="TextBox 8"/>
          <p:cNvSpPr txBox="1"/>
          <p:nvPr/>
        </p:nvSpPr>
        <p:spPr>
          <a:xfrm>
            <a:off x="6675120" y="3314700"/>
            <a:ext cx="5029200" cy="914400"/>
          </a:xfrm>
          <a:prstGeom prst="rect">
            <a:avLst/>
          </a:prstGeom>
          <a:noFill/>
        </p:spPr>
        <p:txBody>
          <a:bodyPr wrap="square">
            <a:spAutoFit/>
          </a:bodyPr>
          <a:lstStyle/>
          <a:p>
            <a:pPr algn="ctr"/>
            <a:r>
              <a:rPr sz="900" b="0" i="0">
                <a:solidFill>
                  <a:srgbClr val="A8B4C8"/>
                </a:solidFill>
                <a:latin typeface="Calibri"/>
              </a:rPr>
              <a:t>[IMAGE: Soldier studying a terrain map before movement — the filesystem is the ground]</a:t>
            </a:r>
          </a:p>
        </p:txBody>
      </p:sp>
      <p:sp>
        <p:nvSpPr>
          <p:cNvPr id="10" name="Rectangle 9"/>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OVERVIEW</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Situation Brief</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25880"/>
            <a:ext cx="11365992" cy="96012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325880"/>
            <a:ext cx="50800" cy="96012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914400" cy="256032"/>
          </a:xfrm>
          <a:prstGeom prst="rect">
            <a:avLst/>
          </a:prstGeom>
          <a:noFill/>
        </p:spPr>
        <p:txBody>
          <a:bodyPr wrap="square">
            <a:spAutoFit/>
          </a:bodyPr>
          <a:lstStyle/>
          <a:p>
            <a:pPr algn="l"/>
            <a:r>
              <a:rPr sz="900" b="1" i="0">
                <a:solidFill>
                  <a:srgbClr val="FFAA00"/>
                </a:solidFill>
                <a:latin typeface="Calibri"/>
              </a:rPr>
              <a:t>BLUF</a:t>
            </a:r>
          </a:p>
        </p:txBody>
      </p:sp>
      <p:sp>
        <p:nvSpPr>
          <p:cNvPr id="10" name="TextBox 9"/>
          <p:cNvSpPr txBox="1"/>
          <p:nvPr/>
        </p:nvSpPr>
        <p:spPr>
          <a:xfrm>
            <a:off x="594360" y="1618488"/>
            <a:ext cx="11000232" cy="594360"/>
          </a:xfrm>
          <a:prstGeom prst="rect">
            <a:avLst/>
          </a:prstGeom>
          <a:noFill/>
        </p:spPr>
        <p:txBody>
          <a:bodyPr wrap="square">
            <a:spAutoFit/>
          </a:bodyPr>
          <a:lstStyle/>
          <a:p>
            <a:pPr algn="l"/>
            <a:r>
              <a:rPr sz="1400" b="0" i="0">
                <a:solidFill>
                  <a:srgbClr val="FFFFFF"/>
                </a:solidFill>
                <a:latin typeface="Calibri"/>
              </a:rPr>
              <a:t>Learn to read and walk the filesystem by clicking and by typing, tell plaintext from rich text, and run, control, and verify terminal commands. These are the exact moves an agent makes on your machine — you learn them so you can supervise.</a:t>
            </a:r>
          </a:p>
        </p:txBody>
      </p:sp>
      <p:sp>
        <p:nvSpPr>
          <p:cNvPr id="11" name="TextBox 10"/>
          <p:cNvSpPr txBox="1"/>
          <p:nvPr/>
        </p:nvSpPr>
        <p:spPr>
          <a:xfrm>
            <a:off x="411480" y="2377440"/>
            <a:ext cx="4572000" cy="320040"/>
          </a:xfrm>
          <a:prstGeom prst="rect">
            <a:avLst/>
          </a:prstGeom>
          <a:noFill/>
        </p:spPr>
        <p:txBody>
          <a:bodyPr wrap="square">
            <a:spAutoFit/>
          </a:bodyPr>
          <a:lstStyle/>
          <a:p>
            <a:pPr algn="l"/>
            <a:r>
              <a:rPr sz="1200" b="1" i="0">
                <a:solidFill>
                  <a:srgbClr val="FFAA00"/>
                </a:solidFill>
                <a:latin typeface="Calibri"/>
              </a:rPr>
              <a:t>⏱  2-3 hour block (about 110 min hands-on)</a:t>
            </a:r>
          </a:p>
        </p:txBody>
      </p:sp>
      <p:sp>
        <p:nvSpPr>
          <p:cNvPr id="12" name="Rectangle 11"/>
          <p:cNvSpPr/>
          <p:nvPr/>
        </p:nvSpPr>
        <p:spPr>
          <a:xfrm>
            <a:off x="411480" y="2788920"/>
            <a:ext cx="11365992" cy="36118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 y="2788920"/>
            <a:ext cx="50800" cy="36118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5486400" cy="256032"/>
          </a:xfrm>
          <a:prstGeom prst="rect">
            <a:avLst/>
          </a:prstGeom>
          <a:noFill/>
        </p:spPr>
        <p:txBody>
          <a:bodyPr wrap="square">
            <a:spAutoFit/>
          </a:bodyPr>
          <a:lstStyle/>
          <a:p>
            <a:pPr algn="l"/>
            <a:r>
              <a:rPr sz="900" b="1" i="0">
                <a:solidFill>
                  <a:srgbClr val="00B4FF"/>
                </a:solidFill>
                <a:latin typeface="Calibri"/>
              </a:rPr>
              <a:t>LEARNING OBJECTIVES</a:t>
            </a:r>
          </a:p>
        </p:txBody>
      </p:sp>
      <p:sp>
        <p:nvSpPr>
          <p:cNvPr id="15" name="TextBox 14"/>
          <p:cNvSpPr txBox="1"/>
          <p:nvPr/>
        </p:nvSpPr>
        <p:spPr>
          <a:xfrm>
            <a:off x="594360" y="3154680"/>
            <a:ext cx="11000232" cy="3108960"/>
          </a:xfrm>
          <a:prstGeom prst="rect">
            <a:avLst/>
          </a:prstGeom>
          <a:noFill/>
        </p:spPr>
        <p:txBody>
          <a:bodyPr wrap="square">
            <a:spAutoFit/>
          </a:bodyPr>
          <a:lstStyle/>
          <a:p>
            <a:pPr algn="l">
              <a:spcBef>
                <a:spcPts val="400"/>
              </a:spcBef>
            </a:pPr>
            <a:r>
              <a:rPr sz="1300" b="0">
                <a:solidFill>
                  <a:srgbClr val="A8B4C8"/>
                </a:solidFill>
                <a:latin typeface="Calibri"/>
              </a:rPr>
              <a:t>  ›  Read a file path as a route through the folder tree</a:t>
            </a:r>
          </a:p>
          <a:p>
            <a:pPr algn="l">
              <a:spcBef>
                <a:spcPts val="400"/>
              </a:spcBef>
            </a:pPr>
            <a:r>
              <a:rPr sz="1300" b="0">
                <a:solidFill>
                  <a:srgbClr val="A8B4C8"/>
                </a:solidFill>
                <a:latin typeface="Calibri"/>
              </a:rPr>
              <a:t>  ›  Distinguish plaintext from rich text and know why tools want plaintext</a:t>
            </a:r>
          </a:p>
          <a:p>
            <a:pPr algn="l">
              <a:spcBef>
                <a:spcPts val="400"/>
              </a:spcBef>
            </a:pPr>
            <a:r>
              <a:rPr sz="1300" b="0">
                <a:solidFill>
                  <a:srgbClr val="A8B4C8"/>
                </a:solidFill>
                <a:latin typeface="Calibri"/>
              </a:rPr>
              <a:t>  ›  Navigate, create, copy, and move files from the command line</a:t>
            </a:r>
          </a:p>
          <a:p>
            <a:pPr algn="l">
              <a:spcBef>
                <a:spcPts val="400"/>
              </a:spcBef>
            </a:pPr>
            <a:r>
              <a:rPr sz="1300" b="0">
                <a:solidFill>
                  <a:srgbClr val="A8B4C8"/>
                </a:solidFill>
                <a:latin typeface="Calibri"/>
              </a:rPr>
              <a:t>  ›  Use paths, tab-completion, flags, help, piping, redirection, and Ctrl+C</a:t>
            </a:r>
          </a:p>
          <a:p>
            <a:pPr algn="l">
              <a:spcBef>
                <a:spcPts val="400"/>
              </a:spcBef>
            </a:pPr>
            <a:r>
              <a:rPr sz="1300" b="0">
                <a:solidFill>
                  <a:srgbClr val="A8B4C8"/>
                </a:solidFill>
                <a:latin typeface="Calibri"/>
              </a:rPr>
              <a:t>  ›  Build the verify-after-acting habit — trust the disk, not the narration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01</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01</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Files, Folders,
and the Tree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Everything lives in a file; files live in folders; folders nest into a tree; the path is the route you walk.</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nested folder tree rendered as a terrain map with grid lines]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The Tree and the Path</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file holds data. A folder holds files and other folders. Folders nest into a tree.</a:t>
            </a:r>
          </a:p>
          <a:p>
            <a:pPr algn="l">
              <a:spcBef>
                <a:spcPts val="700"/>
              </a:spcBef>
            </a:pPr>
            <a:r>
              <a:rPr sz="1500" b="0">
                <a:solidFill>
                  <a:srgbClr val="FFFFFF"/>
                </a:solidFill>
                <a:latin typeface="Calibri"/>
              </a:rPr>
              <a:t>  ›  Every file has exactly one location in that tree.</a:t>
            </a:r>
          </a:p>
          <a:p>
            <a:pPr algn="l">
              <a:spcBef>
                <a:spcPts val="700"/>
              </a:spcBef>
            </a:pPr>
            <a:r>
              <a:rPr sz="1500" b="0">
                <a:solidFill>
                  <a:srgbClr val="FFFFFF"/>
                </a:solidFill>
                <a:latin typeface="Calibri"/>
              </a:rPr>
              <a:t>  ›  The PATH is the route through the tree to reach a file.</a:t>
            </a:r>
          </a:p>
          <a:p>
            <a:pPr algn="l">
              <a:spcBef>
                <a:spcPts val="300"/>
              </a:spcBef>
            </a:pPr>
            <a:r>
              <a:rPr sz="1300" b="0">
                <a:solidFill>
                  <a:srgbClr val="A8B4C8"/>
                </a:solidFill>
                <a:latin typeface="Calibri"/>
              </a:rPr>
              <a:t>      ◦  Windows: C:\Users\YourName\Documents\report.txt</a:t>
            </a:r>
          </a:p>
          <a:p>
            <a:pPr algn="l">
              <a:spcBef>
                <a:spcPts val="300"/>
              </a:spcBef>
            </a:pPr>
            <a:r>
              <a:rPr sz="1300" b="0">
                <a:solidFill>
                  <a:srgbClr val="A8B4C8"/>
                </a:solidFill>
                <a:latin typeface="Calibri"/>
              </a:rPr>
              <a:t>      ◦  Mac / Linux: /home/yourname/documents/report.txt</a:t>
            </a:r>
          </a:p>
          <a:p>
            <a:pPr algn="l">
              <a:spcBef>
                <a:spcPts val="700"/>
              </a:spcBef>
            </a:pPr>
            <a:r>
              <a:rPr sz="1500" b="0">
                <a:solidFill>
                  <a:srgbClr val="FFFFFF"/>
                </a:solidFill>
                <a:latin typeface="Calibri"/>
              </a:rPr>
              <a:t>  ›  Read it left to right — each slash is one step down the tree.</a:t>
            </a:r>
          </a:p>
          <a:p>
            <a:pPr algn="l">
              <a:spcBef>
                <a:spcPts val="700"/>
              </a:spcBef>
            </a:pPr>
            <a:r>
              <a:rPr sz="1500" b="0">
                <a:solidFill>
                  <a:srgbClr val="FFFFFF"/>
                </a:solidFill>
                <a:latin typeface="Calibri"/>
              </a:rPr>
              <a:t>  ›  Most apps hide this. The tree exists whether you see it or not.</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Turn on file extensions now: File Explorer -&gt; View -&gt; Show -&gt; File name extensions. You will need to see .txt vs .docx in the next section.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Walk the Tree by Clicking</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File Explorer (Windows) or Finder (Mac).</a:t>
            </a:r>
          </a:p>
          <a:p>
            <a:pPr algn="l">
              <a:spcBef>
                <a:spcPts val="1000"/>
              </a:spcBef>
            </a:pPr>
            <a:r>
              <a:rPr sz="1400" b="0">
                <a:solidFill>
                  <a:srgbClr val="FFFFFF"/>
                </a:solidFill>
                <a:latin typeface="Calibri"/>
              </a:rPr>
              <a:t>  2.   Navigate from your home folder down to Downloads by clicking — do not use search.</a:t>
            </a:r>
          </a:p>
          <a:p>
            <a:pPr algn="l">
              <a:spcBef>
                <a:spcPts val="1000"/>
              </a:spcBef>
            </a:pPr>
            <a:r>
              <a:rPr sz="1400" b="0">
                <a:solidFill>
                  <a:srgbClr val="FFFFFF"/>
                </a:solidFill>
                <a:latin typeface="Calibri"/>
              </a:rPr>
              <a:t>  3.   Find a file. Read its full path in the address bar.</a:t>
            </a:r>
          </a:p>
          <a:p>
            <a:pPr algn="l">
              <a:spcBef>
                <a:spcPts val="1000"/>
              </a:spcBef>
            </a:pPr>
            <a:r>
              <a:rPr sz="1400" b="0">
                <a:solidFill>
                  <a:srgbClr val="FFFFFF"/>
                </a:solidFill>
                <a:latin typeface="Calibri"/>
              </a:rPr>
              <a:t>  4.   Create a new folder on your Desktop. Name it 'practice'.</a:t>
            </a:r>
          </a:p>
          <a:p>
            <a:pPr algn="l">
              <a:spcBef>
                <a:spcPts val="1000"/>
              </a:spcBef>
            </a:pPr>
            <a:r>
              <a:rPr sz="1400" b="0">
                <a:solidFill>
                  <a:srgbClr val="FFFFFF"/>
                </a:solidFill>
                <a:latin typeface="Calibri"/>
              </a:rPr>
              <a:t>  5.   Move any file into that folder by dragging.</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 hand dragging a file along a marked route through a folder tree]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just moved a file by dragging.
Write out the path to where it now lives.
Could you give someone else those directions and have them find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Files, Folders, and the Tree</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Files live in folders; folders nest into a tree; every file has one location.</a:t>
            </a:r>
          </a:p>
          <a:p>
            <a:pPr algn="l">
              <a:spcBef>
                <a:spcPts val="1400"/>
              </a:spcBef>
            </a:pPr>
            <a:r>
              <a:rPr sz="1600" b="0">
                <a:solidFill>
                  <a:srgbClr val="FFFFFF"/>
                </a:solidFill>
                <a:latin typeface="Calibri"/>
              </a:rPr>
              <a:t>  ›  A path is the route through the tree — read left to right, each slash is one step.</a:t>
            </a:r>
          </a:p>
          <a:p>
            <a:pPr algn="l">
              <a:spcBef>
                <a:spcPts val="1400"/>
              </a:spcBef>
            </a:pPr>
            <a:r>
              <a:rPr sz="1600" b="0">
                <a:solidFill>
                  <a:srgbClr val="FFFFFF"/>
                </a:solidFill>
                <a:latin typeface="Calibri"/>
              </a:rPr>
              <a:t>  ›  Apps hide the tree, but it is always there.</a:t>
            </a:r>
          </a:p>
          <a:p>
            <a:pPr algn="l">
              <a:spcBef>
                <a:spcPts val="1400"/>
              </a:spcBef>
            </a:pPr>
            <a:r>
              <a:rPr sz="1600" b="0">
                <a:solidFill>
                  <a:srgbClr val="FFFFFF"/>
                </a:solidFill>
                <a:latin typeface="Calibri"/>
              </a:rPr>
              <a:t>  ›  Turn on file extensions before continuing.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02</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02</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Plaintext vs
Rich Text</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Plaintext is just characters — no hidden formatting — and that is exactly what models and tools want.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Two documents side by side — one clean text, one stuffed with hidden formatting marks]</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What You See Is What the Machine Reads</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Plaintext: text, nothing else. What you see is what the machine reads.</a:t>
            </a:r>
          </a:p>
          <a:p>
            <a:pPr algn="l">
              <a:spcBef>
                <a:spcPts val="300"/>
              </a:spcBef>
            </a:pPr>
            <a:r>
              <a:rPr sz="1300" b="0">
                <a:solidFill>
                  <a:srgbClr val="A8B4C8"/>
                </a:solidFill>
                <a:latin typeface="Calibri"/>
              </a:rPr>
              <a:t>      ◦  No hidden formatting, no metadata — opens the same everywhere.</a:t>
            </a:r>
          </a:p>
          <a:p>
            <a:pPr algn="l">
              <a:spcBef>
                <a:spcPts val="700"/>
              </a:spcBef>
            </a:pPr>
            <a:r>
              <a:rPr sz="1500" b="0">
                <a:solidFill>
                  <a:srgbClr val="FFFFFF"/>
                </a:solidFill>
                <a:latin typeface="Calibri"/>
              </a:rPr>
              <a:t>  ›  Rich text (.docx): stores formatting, fonts, margins, revision history alongside the words.</a:t>
            </a:r>
          </a:p>
          <a:p>
            <a:pPr algn="l">
              <a:spcBef>
                <a:spcPts val="300"/>
              </a:spcBef>
            </a:pPr>
            <a:r>
              <a:rPr sz="1300" b="0">
                <a:solidFill>
                  <a:srgbClr val="A8B4C8"/>
                </a:solidFill>
                <a:latin typeface="Calibri"/>
              </a:rPr>
              <a:t>      ◦  Those hidden characters travel when you paste into a terminal, chat, or Markdown file.</a:t>
            </a:r>
          </a:p>
          <a:p>
            <a:pPr algn="l">
              <a:spcBef>
                <a:spcPts val="700"/>
              </a:spcBef>
            </a:pPr>
            <a:r>
              <a:rPr sz="1500" b="0">
                <a:solidFill>
                  <a:srgbClr val="FFFFFF"/>
                </a:solidFill>
                <a:latin typeface="Calibri"/>
              </a:rPr>
              <a:t>  ›  Plaintext extensions: .txt  .md  .csv  .json  .py</a:t>
            </a:r>
          </a:p>
          <a:p>
            <a:pPr algn="l">
              <a:spcBef>
                <a:spcPts val="700"/>
              </a:spcBef>
            </a:pPr>
            <a:r>
              <a:rPr sz="1500" b="0">
                <a:solidFill>
                  <a:srgbClr val="FFFFFF"/>
                </a:solidFill>
                <a:latin typeface="Calibri"/>
              </a:rPr>
              <a:t>  ›  Rich text extensions: .docx  .xlsx  .pdf</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The Word-to-Markdown trap: Word turns straight quotes into smart quotes and double hyphens into em-dashes. Pasted into plaintext, they break things silently. Fix: write Markdown in a code editor.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paste a block of text from a Word document into your AI chatbot and the formatting looks off.
What is the most likely cause, and what would you do instead?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Plaintext vs Rich Text</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Plaintext is honest: what you see is what the machine reads.</a:t>
            </a:r>
          </a:p>
          <a:p>
            <a:pPr algn="l">
              <a:spcBef>
                <a:spcPts val="1400"/>
              </a:spcBef>
            </a:pPr>
            <a:r>
              <a:rPr sz="1600" b="0">
                <a:solidFill>
                  <a:srgbClr val="FFFFFF"/>
                </a:solidFill>
                <a:latin typeface="Calibri"/>
              </a:rPr>
              <a:t>  ›  Rich text hides formatting, smart quotes, and invisible characters.</a:t>
            </a:r>
          </a:p>
          <a:p>
            <a:pPr algn="l">
              <a:spcBef>
                <a:spcPts val="1400"/>
              </a:spcBef>
            </a:pPr>
            <a:r>
              <a:rPr sz="1600" b="0">
                <a:solidFill>
                  <a:srgbClr val="FFFFFF"/>
                </a:solidFill>
                <a:latin typeface="Calibri"/>
              </a:rPr>
              <a:t>  ›  Pasting from Word silently breaks terminals, chats, and Markdown.</a:t>
            </a:r>
          </a:p>
          <a:p>
            <a:pPr algn="l">
              <a:spcBef>
                <a:spcPts val="1400"/>
              </a:spcBef>
            </a:pPr>
            <a:r>
              <a:rPr sz="1600" b="0">
                <a:solidFill>
                  <a:srgbClr val="FFFFFF"/>
                </a:solidFill>
                <a:latin typeface="Calibri"/>
              </a:rPr>
              <a:t>  ›  When something looks right but behaves wrong, check for hidden characters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03</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03</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Looking at Files
in a Real Editor</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code editor is a better text viewer — install one, open a folder, read a file, close it without fear.</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code editor with a file tree on the left and a rendered Markdown preview on the right]</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VS Code: Three Things to Know</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A code editor is not an IDE — it is a text viewer with good defaults.</a:t>
            </a:r>
          </a:p>
          <a:p>
            <a:pPr algn="l">
              <a:spcBef>
                <a:spcPts val="700"/>
              </a:spcBef>
            </a:pPr>
            <a:r>
              <a:rPr sz="1500" b="0">
                <a:solidFill>
                  <a:srgbClr val="FFFFFF"/>
                </a:solidFill>
                <a:latin typeface="Calibri"/>
              </a:rPr>
              <a:t>  ›  VS Code is the standard here: free, Windows and Mac, handles every file type in this course.</a:t>
            </a:r>
          </a:p>
          <a:p>
            <a:pPr algn="l">
              <a:spcBef>
                <a:spcPts val="300"/>
              </a:spcBef>
            </a:pPr>
            <a:r>
              <a:rPr sz="1300" b="0">
                <a:solidFill>
                  <a:srgbClr val="A8B4C8"/>
                </a:solidFill>
                <a:latin typeface="Calibri"/>
              </a:rPr>
              <a:t>      ◦  File tree panel (left): the folder structure, now labeled.</a:t>
            </a:r>
          </a:p>
          <a:p>
            <a:pPr algn="l">
              <a:spcBef>
                <a:spcPts val="300"/>
              </a:spcBef>
            </a:pPr>
            <a:r>
              <a:rPr sz="1300" b="0">
                <a:solidFill>
                  <a:srgbClr val="A8B4C8"/>
                </a:solidFill>
                <a:latin typeface="Calibri"/>
              </a:rPr>
              <a:t>      ◦  Editor panel (right): file content.</a:t>
            </a:r>
          </a:p>
          <a:p>
            <a:pPr algn="l">
              <a:spcBef>
                <a:spcPts val="300"/>
              </a:spcBef>
            </a:pPr>
            <a:r>
              <a:rPr sz="1300" b="0">
                <a:solidFill>
                  <a:srgbClr val="A8B4C8"/>
                </a:solidFill>
                <a:latin typeface="Calibri"/>
              </a:rPr>
              <a:t>      ◦  Markdown preview: click the split-square icon (Ctrl+Shift+V) to render a .md file.</a:t>
            </a:r>
          </a:p>
          <a:p>
            <a:pPr algn="l">
              <a:spcBef>
                <a:spcPts val="700"/>
              </a:spcBef>
            </a:pPr>
            <a:r>
              <a:rPr sz="1500" b="0">
                <a:solidFill>
                  <a:srgbClr val="FFFFFF"/>
                </a:solidFill>
                <a:latin typeface="Calibri"/>
              </a:rPr>
              <a:t>  ›  Scope for now: open, view, close. No extensions, no settings changes, no editing.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Open and View a File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Download and install VS Code if you have not already.</a:t>
            </a:r>
          </a:p>
          <a:p>
            <a:pPr algn="l">
              <a:spcBef>
                <a:spcPts val="1000"/>
              </a:spcBef>
            </a:pPr>
            <a:r>
              <a:rPr sz="1400" b="0">
                <a:solidFill>
                  <a:srgbClr val="FFFFFF"/>
                </a:solidFill>
                <a:latin typeface="Calibri"/>
              </a:rPr>
              <a:t>  2.   File -&gt; Open Folder. Open the 'practice' folder from Section 1.</a:t>
            </a:r>
          </a:p>
          <a:p>
            <a:pPr algn="l">
              <a:spcBef>
                <a:spcPts val="1000"/>
              </a:spcBef>
            </a:pPr>
            <a:r>
              <a:rPr sz="1400" b="0">
                <a:solidFill>
                  <a:srgbClr val="FFFFFF"/>
                </a:solidFill>
                <a:latin typeface="Calibri"/>
              </a:rPr>
              <a:t>  3.   Click the .txt file you created. Read it in the editor panel.</a:t>
            </a:r>
          </a:p>
          <a:p>
            <a:pPr algn="l">
              <a:spcBef>
                <a:spcPts val="1000"/>
              </a:spcBef>
            </a:pPr>
            <a:r>
              <a:rPr sz="1400" b="0">
                <a:solidFill>
                  <a:srgbClr val="FFFFFF"/>
                </a:solidFill>
                <a:latin typeface="Calibri"/>
              </a:rPr>
              <a:t>  4.   Find a .md file anywhere on your machine. Open it. Toggle the rendered preview.</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Raw Markdown and rendered Markdown shown side by side in an editor]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Looking at Files in a Real Editor</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code editor works in plaintext — no hidden characters, no auto-formatting.</a:t>
            </a:r>
          </a:p>
          <a:p>
            <a:pPr algn="l">
              <a:spcBef>
                <a:spcPts val="1400"/>
              </a:spcBef>
            </a:pPr>
            <a:r>
              <a:rPr sz="1600" b="0">
                <a:solidFill>
                  <a:srgbClr val="FFFFFF"/>
                </a:solidFill>
                <a:latin typeface="Calibri"/>
              </a:rPr>
              <a:t>  ›  The file tree is the same tree from Section 1, now labeled.</a:t>
            </a:r>
          </a:p>
          <a:p>
            <a:pPr algn="l">
              <a:spcBef>
                <a:spcPts val="1400"/>
              </a:spcBef>
            </a:pPr>
            <a:r>
              <a:rPr sz="1600" b="0">
                <a:solidFill>
                  <a:srgbClr val="FFFFFF"/>
                </a:solidFill>
                <a:latin typeface="Calibri"/>
              </a:rPr>
              <a:t>  ›  Markdown preview shows raw plaintext and rendered output side by side.</a:t>
            </a:r>
          </a:p>
          <a:p>
            <a:pPr algn="l">
              <a:spcBef>
                <a:spcPts val="1400"/>
              </a:spcBef>
            </a:pPr>
            <a:r>
              <a:rPr sz="1600" b="0">
                <a:solidFill>
                  <a:srgbClr val="FFFFFF"/>
                </a:solidFill>
                <a:latin typeface="Calibri"/>
              </a:rPr>
              <a:t>  ›  Scope: open, view, close. Comfort at the front door, not a full tour.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04</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04</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What the Terminal Is
(and Why It Is Safe)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typed way to give the same instructions you used to give by clicking — not hacking, not dangerous by default.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terminal window with a blinking prompt — calm, not threatening]</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 Command Is a Typed Click</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A command is a typed instruction — the same as a click, with more precision.</a:t>
            </a:r>
          </a:p>
          <a:p>
            <a:pPr algn="l">
              <a:spcBef>
                <a:spcPts val="700"/>
              </a:spcBef>
            </a:pPr>
            <a:r>
              <a:rPr sz="1500" b="0">
                <a:solidFill>
                  <a:srgbClr val="FFFFFF"/>
                </a:solidFill>
                <a:latin typeface="Calibri"/>
              </a:rPr>
              <a:t>  ›  A click is limited to what a menu shows. A command can express anything the machine understands.</a:t>
            </a:r>
          </a:p>
          <a:p>
            <a:pPr algn="l">
              <a:spcBef>
                <a:spcPts val="700"/>
              </a:spcBef>
            </a:pPr>
            <a:r>
              <a:rPr sz="1500" b="0">
                <a:solidFill>
                  <a:srgbClr val="FFFFFF"/>
                </a:solidFill>
                <a:latin typeface="Calibri"/>
              </a:rPr>
              <a:t>  ›  The prompt line is where your typing goes — it ends with $ (Mac/Linux) or &gt; (PowerShell).</a:t>
            </a:r>
          </a:p>
          <a:p>
            <a:pPr algn="l">
              <a:spcBef>
                <a:spcPts val="700"/>
              </a:spcBef>
            </a:pPr>
            <a:r>
              <a:rPr sz="1500" b="0">
                <a:solidFill>
                  <a:srgbClr val="FFFFFF"/>
                </a:solidFill>
                <a:latin typeface="Calibri"/>
              </a:rPr>
              <a:t>  ›  First command: 'date' (Mac/Linux) or 'Get-Date' (PowerShell). The date prints; the prompt returns.</a:t>
            </a:r>
          </a:p>
          <a:p>
            <a:pPr algn="l">
              <a:spcBef>
                <a:spcPts val="700"/>
              </a:spcBef>
            </a:pPr>
            <a:r>
              <a:rPr sz="1500" b="0">
                <a:solidFill>
                  <a:srgbClr val="FFFFFF"/>
                </a:solidFill>
                <a:latin typeface="Calibri"/>
              </a:rPr>
              <a:t>  ›  Everything in this section and the next two is read-only and harmless.</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Environment note: course transcripts assume a Linux/Unix shell. On Windows, WSL gives that ('wsl --install', no admin on Win 11). Windows files live at /mnt/c/Users/YourName/. The per-tab tables in the markdown give PowerShell equivalents for students who stay on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Your First Five Commands</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Open the terminal. Sit with the blinking cursor for ten seconds. Name the feeling.</a:t>
            </a:r>
          </a:p>
          <a:p>
            <a:pPr algn="l">
              <a:spcBef>
                <a:spcPts val="1000"/>
              </a:spcBef>
            </a:pPr>
            <a:r>
              <a:rPr sz="1400" b="0">
                <a:solidFill>
                  <a:srgbClr val="FFFFFF"/>
                </a:solidFill>
                <a:latin typeface="Calibri"/>
              </a:rPr>
              <a:t>  2.   Mac/WSL: run date, whoami, pwd, ls, echo "hello" — read each output.</a:t>
            </a:r>
          </a:p>
          <a:p>
            <a:pPr algn="l">
              <a:spcBef>
                <a:spcPts val="1000"/>
              </a:spcBef>
            </a:pPr>
            <a:r>
              <a:rPr sz="1400" b="0">
                <a:solidFill>
                  <a:srgbClr val="FFFFFF"/>
                </a:solidFill>
                <a:latin typeface="Calibri"/>
              </a:rPr>
              <a:t>  3.   PowerShell: run Get-Date, $env:USERNAME, Get-Location, Get-ChildItem, Write-Output "hello".</a:t>
            </a:r>
          </a:p>
          <a:p>
            <a:pPr algn="l">
              <a:spcBef>
                <a:spcPts val="1000"/>
              </a:spcBef>
            </a:pPr>
            <a:r>
              <a:rPr sz="1400" b="0">
                <a:solidFill>
                  <a:srgbClr val="FFFFFF"/>
                </a:solidFill>
                <a:latin typeface="Calibri"/>
              </a:rPr>
              <a:t>  4.   Close the terminal and open it again.</a:t>
            </a:r>
          </a:p>
          <a:p>
            <a:pPr algn="l">
              <a:spcBef>
                <a:spcPts val="1000"/>
              </a:spcBef>
            </a:pPr>
            <a:r>
              <a:rPr sz="1400" b="0">
                <a:solidFill>
                  <a:srgbClr val="FFFFFF"/>
                </a:solidFill>
                <a:latin typeface="Calibri"/>
              </a:rPr>
              <a:t>  5.   Re-run one command from memory without looking at the table.</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 soldier running a quick comms check — short, routine, builds confidence]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typed a command and saw a response.
What is the difference between that and clicking a button in an app?
What stayed the same?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What the Terminal Is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 command is a typed click — same action, more precision, no menu.</a:t>
            </a:r>
          </a:p>
          <a:p>
            <a:pPr algn="l">
              <a:spcBef>
                <a:spcPts val="1400"/>
              </a:spcBef>
            </a:pPr>
            <a:r>
              <a:rPr sz="1600" b="0">
                <a:solidFill>
                  <a:srgbClr val="FFFFFF"/>
                </a:solidFill>
                <a:latin typeface="Calibri"/>
              </a:rPr>
              <a:t>  ›  The prompt line ends with $ or &gt; and signals the terminal is ready.</a:t>
            </a:r>
          </a:p>
          <a:p>
            <a:pPr algn="l">
              <a:spcBef>
                <a:spcPts val="1400"/>
              </a:spcBef>
            </a:pPr>
            <a:r>
              <a:rPr sz="1600" b="0">
                <a:solidFill>
                  <a:srgbClr val="FFFFFF"/>
                </a:solidFill>
                <a:latin typeface="Calibri"/>
              </a:rPr>
              <a:t>  ›  Nothing in the read-only sections can hurt the machine.</a:t>
            </a:r>
          </a:p>
          <a:p>
            <a:pPr algn="l">
              <a:spcBef>
                <a:spcPts val="1400"/>
              </a:spcBef>
            </a:pPr>
            <a:r>
              <a:rPr sz="1600" b="0">
                <a:solidFill>
                  <a:srgbClr val="FFFFFF"/>
                </a:solidFill>
                <a:latin typeface="Calibri"/>
              </a:rPr>
              <a:t>  ›  On Windows, WSL provides the Linux/Unix shell the course assumes.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05</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05</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Navigating: Where
Am I, What Is Here</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Three commands cover navigation — where am I, what is here, move — and pwd is the reset button.</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soldier checking a grid reference to confirm position before moving]</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pwd, ls, cd</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pwd — Print Working Directory: your current location in the tree.</a:t>
            </a:r>
          </a:p>
          <a:p>
            <a:pPr algn="l">
              <a:spcBef>
                <a:spcPts val="700"/>
              </a:spcBef>
            </a:pPr>
            <a:r>
              <a:rPr sz="1500" b="0">
                <a:solidFill>
                  <a:srgbClr val="FFFFFF"/>
                </a:solidFill>
                <a:latin typeface="Calibri"/>
              </a:rPr>
              <a:t>  ›  ls — List: everything in the current folder. Add -la (Mac/WSL) for hidden files.</a:t>
            </a:r>
          </a:p>
          <a:p>
            <a:pPr algn="l">
              <a:spcBef>
                <a:spcPts val="700"/>
              </a:spcBef>
            </a:pPr>
            <a:r>
              <a:rPr sz="1500" b="0">
                <a:solidFill>
                  <a:srgbClr val="FFFFFF"/>
                </a:solidFill>
                <a:latin typeface="Calibri"/>
              </a:rPr>
              <a:t>  ›  cd foldername — Change Directory: move down into a folder.</a:t>
            </a:r>
          </a:p>
          <a:p>
            <a:pPr algn="l">
              <a:spcBef>
                <a:spcPts val="700"/>
              </a:spcBef>
            </a:pPr>
            <a:r>
              <a:rPr sz="1500" b="0">
                <a:solidFill>
                  <a:srgbClr val="FFFFFF"/>
                </a:solidFill>
                <a:latin typeface="Calibri"/>
              </a:rPr>
              <a:t>  ›  cd .. — move up one level.</a:t>
            </a:r>
          </a:p>
          <a:p>
            <a:pPr algn="l">
              <a:spcBef>
                <a:spcPts val="700"/>
              </a:spcBef>
            </a:pPr>
            <a:r>
              <a:rPr sz="1500" b="0">
                <a:solidFill>
                  <a:srgbClr val="FFFFFF"/>
                </a:solidFill>
                <a:latin typeface="Calibri"/>
              </a:rPr>
              <a:t>  ›  Walk the tree: pwd -&gt; ls -&gt; cd Documents -&gt; pwd -&gt; ls -&gt; cd .. -&gt; pwd.</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pwd is your reset button. Any time you feel lost, type pwd — it tells you exactly where you are. You can never be permanently lost if you can always ask 'where am I.'</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Exercise 1 — Orientation Walk</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Run pwd. Read the path. Find that same location in File Explorer / Finder.</a:t>
            </a:r>
          </a:p>
          <a:p>
            <a:pPr algn="l">
              <a:spcBef>
                <a:spcPts val="1000"/>
              </a:spcBef>
            </a:pPr>
            <a:r>
              <a:rPr sz="1400" b="0">
                <a:solidFill>
                  <a:srgbClr val="FFFFFF"/>
                </a:solidFill>
                <a:latin typeface="Calibri"/>
              </a:rPr>
              <a:t>  2.   From your home directory, navigate to five different locations.</a:t>
            </a:r>
          </a:p>
          <a:p>
            <a:pPr algn="l">
              <a:spcBef>
                <a:spcPts val="1000"/>
              </a:spcBef>
            </a:pPr>
            <a:r>
              <a:rPr sz="1400" b="0">
                <a:solidFill>
                  <a:srgbClr val="FFFFFF"/>
                </a:solidFill>
                <a:latin typeface="Calibri"/>
              </a:rPr>
              <a:t>  3.   Run pwd after EACH move to confirm where you landed.</a:t>
            </a:r>
          </a:p>
          <a:p>
            <a:pPr algn="l">
              <a:spcBef>
                <a:spcPts val="1000"/>
              </a:spcBef>
            </a:pPr>
            <a:r>
              <a:rPr sz="1400" b="0">
                <a:solidFill>
                  <a:srgbClr val="FFFFFF"/>
                </a:solidFill>
                <a:latin typeface="Calibri"/>
              </a:rPr>
              <a:t>  4.   Run ls in each; identify three items by name in one of them.</a:t>
            </a:r>
          </a:p>
          <a:p>
            <a:pPr algn="l">
              <a:spcBef>
                <a:spcPts val="1000"/>
              </a:spcBef>
            </a:pPr>
            <a:r>
              <a:rPr sz="1400" b="0">
                <a:solidFill>
                  <a:srgbClr val="FFFFFF"/>
                </a:solidFill>
                <a:latin typeface="Calibri"/>
              </a:rPr>
              <a:t>  5.   Move back up with cd .. and confirm with pwd. Save a transcript (1 of 6).</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 route traced across a map with checkpoints at each stop]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typed 'cd Documents' and then 'pwd'.
What does pwd tell you, and how does it prove you moved?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Navigating</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pwd prints your location; ls lists contents; cd moves; cd .. moves up.</a:t>
            </a:r>
          </a:p>
          <a:p>
            <a:pPr algn="l">
              <a:spcBef>
                <a:spcPts val="1400"/>
              </a:spcBef>
            </a:pPr>
            <a:r>
              <a:rPr sz="1600" b="0">
                <a:solidFill>
                  <a:srgbClr val="FFFFFF"/>
                </a:solidFill>
                <a:latin typeface="Calibri"/>
              </a:rPr>
              <a:t>  ›  pwd is the reset button — you can never be permanently lost.</a:t>
            </a:r>
          </a:p>
          <a:p>
            <a:pPr algn="l">
              <a:spcBef>
                <a:spcPts val="1400"/>
              </a:spcBef>
            </a:pPr>
            <a:r>
              <a:rPr sz="1600" b="0">
                <a:solidFill>
                  <a:srgbClr val="FFFFFF"/>
                </a:solidFill>
                <a:latin typeface="Calibri"/>
              </a:rPr>
              <a:t>  ›  These are the same moves you did by clicking, now typed.</a:t>
            </a:r>
          </a:p>
          <a:p>
            <a:pPr algn="l">
              <a:spcBef>
                <a:spcPts val="1400"/>
              </a:spcBef>
            </a:pPr>
            <a:r>
              <a:rPr sz="1600" b="0">
                <a:solidFill>
                  <a:srgbClr val="FFFFFF"/>
                </a:solidFill>
                <a:latin typeface="Calibri"/>
              </a:rPr>
              <a:t>  ›  Reps over coverage: one capability at a time builds muscle memory.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06</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06</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Acting: Make,
Move, Copy —
and Verify</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Four commands cover daily file work — and every one of them you confirm before you trust it.</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soldier confirming a round landed on target before calling the next — check, do not assume]</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Make, Copy, Move — Then Verify</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mkdir foldername — make a new folder.</a:t>
            </a:r>
          </a:p>
          <a:p>
            <a:pPr algn="l">
              <a:spcBef>
                <a:spcPts val="700"/>
              </a:spcBef>
            </a:pPr>
            <a:r>
              <a:rPr sz="1500" b="0">
                <a:solidFill>
                  <a:srgbClr val="FFFFFF"/>
                </a:solidFill>
                <a:latin typeface="Calibri"/>
              </a:rPr>
              <a:t>  ›  touch filename.txt (Mac/WSL) / New-Item filename.txt (PowerShell) — make an empty file.</a:t>
            </a:r>
          </a:p>
          <a:p>
            <a:pPr algn="l">
              <a:spcBef>
                <a:spcPts val="700"/>
              </a:spcBef>
            </a:pPr>
            <a:r>
              <a:rPr sz="1500" b="0">
                <a:solidFill>
                  <a:srgbClr val="FFFFFF"/>
                </a:solidFill>
                <a:latin typeface="Calibri"/>
              </a:rPr>
              <a:t>  ›  cp source destination — copy a file.</a:t>
            </a:r>
          </a:p>
          <a:p>
            <a:pPr algn="l">
              <a:spcBef>
                <a:spcPts val="700"/>
              </a:spcBef>
            </a:pPr>
            <a:r>
              <a:rPr sz="1500" b="0">
                <a:solidFill>
                  <a:srgbClr val="FFFFFF"/>
                </a:solidFill>
                <a:latin typeface="Calibri"/>
              </a:rPr>
              <a:t>  ›  mv source destination — move or rename a file.</a:t>
            </a:r>
          </a:p>
          <a:p>
            <a:pPr algn="l">
              <a:spcBef>
                <a:spcPts val="700"/>
              </a:spcBef>
            </a:pPr>
            <a:r>
              <a:rPr sz="1500" b="0">
                <a:solidFill>
                  <a:srgbClr val="FFFFFF"/>
                </a:solidFill>
                <a:latin typeface="Calibri"/>
              </a:rPr>
              <a:t>  ›  After EVERY action, run ls to confirm the change landed.</a:t>
            </a:r>
          </a:p>
          <a:p>
            <a:pPr algn="l">
              <a:spcBef>
                <a:spcPts val="700"/>
              </a:spcBef>
            </a:pPr>
            <a:r>
              <a:rPr sz="1500" b="0">
                <a:solidFill>
                  <a:srgbClr val="FFFFFF"/>
                </a:solidFill>
                <a:latin typeface="Calibri"/>
              </a:rPr>
              <a:t>  ›  Typos do not error — they create a second file with the wrong name. Read the ls output.</a:t>
            </a:r>
          </a:p>
          <a:p>
            <a:pPr algn="l">
              <a:spcBef>
                <a:spcPts val="700"/>
              </a:spcBef>
            </a:pPr>
            <a:r>
              <a:rPr sz="1500" b="0">
                <a:solidFill>
                  <a:srgbClr val="FFFFFF"/>
                </a:solidFill>
                <a:latin typeface="Calibri"/>
              </a:rPr>
              <a:t>  ›  No deletion yet: irreversible at the command line, behind heavy framing later.</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THIS IS THE VERIFY-AFTER-ACTING HABIT, AND IT STARTS HERE. Trust the result on disk, not the narration that an action happened. You will use this same reflex to supervise an agent (Module 7) and it is graded at the capstone (Module 11). Build it now while the stakes are a practice file.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Build Something From Scratch</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Every action confirmed with ls — the verify habit in motion</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6492240"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6217920" cy="4663440"/>
          </a:xfrm>
          <a:prstGeom prst="rect">
            <a:avLst/>
          </a:prstGeom>
          <a:noFill/>
        </p:spPr>
        <p:txBody>
          <a:bodyPr wrap="square">
            <a:spAutoFit/>
          </a:bodyPr>
          <a:lstStyle/>
          <a:p>
            <a:pPr algn="l">
              <a:spcBef>
                <a:spcPts val="300"/>
              </a:spcBef>
            </a:pPr>
            <a:r>
              <a:rPr sz="1200" b="0">
                <a:solidFill>
                  <a:srgbClr val="FFFFFF"/>
                </a:solidFill>
                <a:latin typeface="Calibri"/>
              </a:rPr>
              <a:t>mkdir project</a:t>
            </a:r>
          </a:p>
          <a:p>
            <a:pPr algn="l">
              <a:spcBef>
                <a:spcPts val="300"/>
              </a:spcBef>
            </a:pPr>
            <a:r>
              <a:rPr sz="1200" b="0">
                <a:solidFill>
                  <a:srgbClr val="FFFFFF"/>
                </a:solidFill>
                <a:latin typeface="Calibri"/>
              </a:rPr>
              <a:t>cd project</a:t>
            </a:r>
          </a:p>
          <a:p>
            <a:pPr algn="l">
              <a:spcBef>
                <a:spcPts val="300"/>
              </a:spcBef>
            </a:pPr>
            <a:r>
              <a:rPr sz="1200" b="0">
                <a:solidFill>
                  <a:srgbClr val="FFFFFF"/>
                </a:solidFill>
                <a:latin typeface="Calibri"/>
              </a:rPr>
              <a:t>touch notes.txt</a:t>
            </a:r>
          </a:p>
          <a:p>
            <a:pPr algn="l">
              <a:spcBef>
                <a:spcPts val="300"/>
              </a:spcBef>
            </a:pPr>
            <a:r>
              <a:rPr sz="1200" b="0">
                <a:solidFill>
                  <a:srgbClr val="FFFFFF"/>
                </a:solidFill>
                <a:latin typeface="Calibri"/>
              </a:rPr>
              <a:t>ls                      # Verify notes.txt is there</a:t>
            </a:r>
          </a:p>
          <a:p>
            <a:pPr algn="l">
              <a:spcBef>
                <a:spcPts val="300"/>
              </a:spcBef>
            </a:pPr>
            <a:r>
              <a:rPr sz="1200" b="0">
                <a:solidFill>
                  <a:srgbClr val="FFFFFF"/>
                </a:solidFill>
                <a:latin typeface="Calibri"/>
              </a:rPr>
              <a:t>mkdir drafts</a:t>
            </a:r>
          </a:p>
          <a:p>
            <a:pPr algn="l">
              <a:spcBef>
                <a:spcPts val="300"/>
              </a:spcBef>
            </a:pPr>
            <a:r>
              <a:rPr sz="1200" b="0">
                <a:solidFill>
                  <a:srgbClr val="FFFFFF"/>
                </a:solidFill>
                <a:latin typeface="Calibri"/>
              </a:rPr>
              <a:t>cp notes.txt drafts/notes-copy.txt</a:t>
            </a:r>
          </a:p>
          <a:p>
            <a:pPr algn="l">
              <a:spcBef>
                <a:spcPts val="300"/>
              </a:spcBef>
            </a:pPr>
            <a:r>
              <a:rPr sz="1200" b="0">
                <a:solidFill>
                  <a:srgbClr val="FFFFFF"/>
                </a:solidFill>
                <a:latin typeface="Calibri"/>
              </a:rPr>
              <a:t>ls drafts               # Verify the copy landed</a:t>
            </a:r>
          </a:p>
          <a:p>
            <a:pPr algn="l">
              <a:spcBef>
                <a:spcPts val="300"/>
              </a:spcBef>
            </a:pPr>
            <a:r>
              <a:rPr sz="1200" b="0">
                <a:solidFill>
                  <a:srgbClr val="FFFFFF"/>
                </a:solidFill>
                <a:latin typeface="Calibri"/>
              </a:rPr>
              <a:t>mv notes.txt notes-v1.txt</a:t>
            </a:r>
          </a:p>
          <a:p>
            <a:pPr algn="l">
              <a:spcBef>
                <a:spcPts val="300"/>
              </a:spcBef>
            </a:pPr>
            <a:r>
              <a:rPr sz="1200" b="0">
                <a:solidFill>
                  <a:srgbClr val="FFFFFF"/>
                </a:solidFill>
                <a:latin typeface="Calibri"/>
              </a:rPr>
              <a:t>ls                      # Verify the rename happened</a:t>
            </a:r>
          </a:p>
          <a:p>
            <a:pPr algn="l">
              <a:spcBef>
                <a:spcPts val="800"/>
              </a:spcBef>
            </a:pPr>
            <a:r>
              <a:rPr sz="1200" b="0">
                <a:solidFill>
                  <a:srgbClr val="FFFFFF"/>
                </a:solidFill>
                <a:latin typeface="Calibri"/>
              </a:rPr>
              <a:t/>
            </a:r>
          </a:p>
          <a:p>
            <a:pPr algn="l">
              <a:spcBef>
                <a:spcPts val="300"/>
              </a:spcBef>
            </a:pPr>
            <a:r>
              <a:rPr sz="1200" b="0">
                <a:solidFill>
                  <a:srgbClr val="FFFFFF"/>
                </a:solidFill>
                <a:latin typeface="Calibri"/>
              </a:rPr>
              <a:t>After each command, ls confirms reality. Do not trust the silence.</a:t>
            </a:r>
          </a:p>
        </p:txBody>
      </p:sp>
      <p:sp>
        <p:nvSpPr>
          <p:cNvPr id="10" name="Rectangle 9"/>
          <p:cNvSpPr/>
          <p:nvPr/>
        </p:nvSpPr>
        <p:spPr>
          <a:xfrm>
            <a:off x="7086600" y="1417320"/>
            <a:ext cx="4690872" cy="502920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3611880"/>
            <a:ext cx="4690872" cy="274320"/>
          </a:xfrm>
          <a:prstGeom prst="rect">
            <a:avLst/>
          </a:prstGeom>
          <a:noFill/>
        </p:spPr>
        <p:txBody>
          <a:bodyPr wrap="square">
            <a:spAutoFit/>
          </a:bodyPr>
          <a:lstStyle/>
          <a:p>
            <a:pPr algn="ctr"/>
            <a:r>
              <a:rPr sz="900" b="1" i="0">
                <a:solidFill>
                  <a:srgbClr val="00B4FF"/>
                </a:solidFill>
                <a:latin typeface="Calibri"/>
              </a:rPr>
              <a:t>◼  IMAGE</a:t>
            </a:r>
          </a:p>
        </p:txBody>
      </p:sp>
      <p:sp>
        <p:nvSpPr>
          <p:cNvPr id="12" name="TextBox 11"/>
          <p:cNvSpPr txBox="1"/>
          <p:nvPr/>
        </p:nvSpPr>
        <p:spPr>
          <a:xfrm>
            <a:off x="7269480" y="3886200"/>
            <a:ext cx="4325112" cy="914400"/>
          </a:xfrm>
          <a:prstGeom prst="rect">
            <a:avLst/>
          </a:prstGeom>
          <a:noFill/>
        </p:spPr>
        <p:txBody>
          <a:bodyPr wrap="square">
            <a:spAutoFit/>
          </a:bodyPr>
          <a:lstStyle/>
          <a:p>
            <a:pPr algn="ctr"/>
            <a:r>
              <a:rPr sz="900" b="0" i="0">
                <a:solidFill>
                  <a:srgbClr val="A8B4C8"/>
                </a:solidFill>
                <a:latin typeface="Calibri"/>
              </a:rPr>
              <a:t>[IMAGE: A checklist where each built item is verified before the next begins]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Exercise 2 — File Manipulation Sprint</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Make a folder structure: projects/acc-prep/module-5/  then cd into module-5.</a:t>
            </a:r>
          </a:p>
          <a:p>
            <a:pPr algn="l">
              <a:spcBef>
                <a:spcPts val="1000"/>
              </a:spcBef>
            </a:pPr>
            <a:r>
              <a:rPr sz="1400" b="0">
                <a:solidFill>
                  <a:srgbClr val="FFFFFF"/>
                </a:solidFill>
                <a:latin typeface="Calibri"/>
              </a:rPr>
              <a:t>  2.   Create three text files (touch, or echo a line into one).</a:t>
            </a:r>
          </a:p>
          <a:p>
            <a:pPr algn="l">
              <a:spcBef>
                <a:spcPts val="1000"/>
              </a:spcBef>
            </a:pPr>
            <a:r>
              <a:rPr sz="1400" b="0">
                <a:solidFill>
                  <a:srgbClr val="FFFFFF"/>
                </a:solidFill>
                <a:latin typeface="Calibri"/>
              </a:rPr>
              <a:t>  3.   Copy one file into a 'backup' subfolder.</a:t>
            </a:r>
          </a:p>
          <a:p>
            <a:pPr algn="l">
              <a:spcBef>
                <a:spcPts val="1000"/>
              </a:spcBef>
            </a:pPr>
            <a:r>
              <a:rPr sz="1400" b="0">
                <a:solidFill>
                  <a:srgbClr val="FFFFFF"/>
                </a:solidFill>
                <a:latin typeface="Calibri"/>
              </a:rPr>
              <a:t>  4.   Rename one file (e.g. day1.txt -&gt; day1-v1.txt).</a:t>
            </a:r>
          </a:p>
          <a:p>
            <a:pPr algn="l">
              <a:spcBef>
                <a:spcPts val="1000"/>
              </a:spcBef>
            </a:pPr>
            <a:r>
              <a:rPr sz="1400" b="0">
                <a:solidFill>
                  <a:srgbClr val="FFFFFF"/>
                </a:solidFill>
                <a:latin typeface="Calibri"/>
              </a:rPr>
              <a:t>  5.   Run ls after EVERY step and read the output. Save a transcript (2 of 6).</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 staged build area with each item checked off as it is placed]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ran 'mv notes.txt notes-final.txt'.
What does ls show you, and what would it look like if you had made a typo in the destination name?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Acting — Make, Move, Copy, Verify</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mkdir, touch/New-Item, cp, mv cover most daily file work.</a:t>
            </a:r>
          </a:p>
          <a:p>
            <a:pPr algn="l">
              <a:spcBef>
                <a:spcPts val="1400"/>
              </a:spcBef>
            </a:pPr>
            <a:r>
              <a:rPr sz="1600" b="0">
                <a:solidFill>
                  <a:srgbClr val="FFFFFF"/>
                </a:solidFill>
                <a:latin typeface="Calibri"/>
              </a:rPr>
              <a:t>  ›  Verify after acting: run ls after every change and read the output.</a:t>
            </a:r>
          </a:p>
          <a:p>
            <a:pPr algn="l">
              <a:spcBef>
                <a:spcPts val="1400"/>
              </a:spcBef>
            </a:pPr>
            <a:r>
              <a:rPr sz="1600" b="0">
                <a:solidFill>
                  <a:srgbClr val="FFFFFF"/>
                </a:solidFill>
                <a:latin typeface="Calibri"/>
              </a:rPr>
              <a:t>  ›  Typos create new files silently — the ls check is how you catch them.</a:t>
            </a:r>
          </a:p>
          <a:p>
            <a:pPr algn="l">
              <a:spcBef>
                <a:spcPts val="1400"/>
              </a:spcBef>
            </a:pPr>
            <a:r>
              <a:rPr sz="1600" b="0">
                <a:solidFill>
                  <a:srgbClr val="FFFFFF"/>
                </a:solidFill>
                <a:latin typeface="Calibri"/>
              </a:rPr>
              <a:t>  ›  No deletion yet. The verify habit is the through-line of agentic supervision.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07</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07</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Paths, Tab-Completion,
and the Up-Arrow</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A path is a grid coordinate; tab-completion makes the completed portion typo-proof; the up-arrow recalls commands.</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precise grid coordinate plotted on a map — a single wrong digit misses the target]</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Aim Precisely</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443484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443484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4160520"/>
          </a:xfrm>
          <a:prstGeom prst="rect">
            <a:avLst/>
          </a:prstGeom>
          <a:noFill/>
        </p:spPr>
        <p:txBody>
          <a:bodyPr wrap="square">
            <a:spAutoFit/>
          </a:bodyPr>
          <a:lstStyle/>
          <a:p>
            <a:pPr algn="l">
              <a:spcBef>
                <a:spcPts val="700"/>
              </a:spcBef>
            </a:pPr>
            <a:r>
              <a:rPr sz="1500" b="0">
                <a:solidFill>
                  <a:srgbClr val="FFFFFF"/>
                </a:solidFill>
                <a:latin typeface="Calibri"/>
              </a:rPr>
              <a:t>  ›  Absolute path: starts from the root — works from anywhere. /home/you/docs/report.txt</a:t>
            </a:r>
          </a:p>
          <a:p>
            <a:pPr algn="l">
              <a:spcBef>
                <a:spcPts val="700"/>
              </a:spcBef>
            </a:pPr>
            <a:r>
              <a:rPr sz="1500" b="0">
                <a:solidFill>
                  <a:srgbClr val="FFFFFF"/>
                </a:solidFill>
                <a:latin typeface="Calibri"/>
              </a:rPr>
              <a:t>  ›  Relative path: starts from where you are — breaks if you move. docs/report.txt</a:t>
            </a:r>
          </a:p>
          <a:p>
            <a:pPr algn="l">
              <a:spcBef>
                <a:spcPts val="700"/>
              </a:spcBef>
            </a:pPr>
            <a:r>
              <a:rPr sz="1500" b="0">
                <a:solidFill>
                  <a:srgbClr val="FFFFFF"/>
                </a:solidFill>
                <a:latin typeface="Calibri"/>
              </a:rPr>
              <a:t>  ›  A path is a grid coordinate: a wrong space or capital fails or hits the wrong target. The space is load-bearing.</a:t>
            </a:r>
          </a:p>
          <a:p>
            <a:pPr algn="l">
              <a:spcBef>
                <a:spcPts val="700"/>
              </a:spcBef>
            </a:pPr>
            <a:r>
              <a:rPr sz="1500" b="0">
                <a:solidFill>
                  <a:srgbClr val="FFFFFF"/>
                </a:solidFill>
                <a:latin typeface="Calibri"/>
              </a:rPr>
              <a:t>  ›  Tab-completion: start a name, press Tab, the terminal finishes it. Tab twice for multiple matches.</a:t>
            </a:r>
          </a:p>
          <a:p>
            <a:pPr algn="l">
              <a:spcBef>
                <a:spcPts val="700"/>
              </a:spcBef>
            </a:pPr>
            <a:r>
              <a:rPr sz="1500" b="0">
                <a:solidFill>
                  <a:srgbClr val="FFFFFF"/>
                </a:solidFill>
                <a:latin typeface="Calibri"/>
              </a:rPr>
              <a:t>  ›  Tab-completion makes typos structurally impossible for the completed portion. Use it every time.</a:t>
            </a:r>
          </a:p>
          <a:p>
            <a:pPr algn="l">
              <a:spcBef>
                <a:spcPts val="700"/>
              </a:spcBef>
            </a:pPr>
            <a:r>
              <a:rPr sz="1500" b="0">
                <a:solidFill>
                  <a:srgbClr val="FFFFFF"/>
                </a:solidFill>
                <a:latin typeface="Calibri"/>
              </a:rPr>
              <a:t>  ›  Up-arrow: cycle previous commands, edit one, re-run — instead of retyping.</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Exercise 3 — Path Puzzle</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Target file: /home/user/projects/claude/config.txt</a:t>
            </a:r>
          </a:p>
          <a:p>
            <a:pPr algn="l">
              <a:spcBef>
                <a:spcPts val="1000"/>
              </a:spcBef>
            </a:pPr>
            <a:r>
              <a:rPr sz="1400" b="0">
                <a:solidFill>
                  <a:srgbClr val="FFFFFF"/>
                </a:solidFill>
                <a:latin typeface="Calibri"/>
              </a:rPr>
              <a:t>  2.   Write the absolute path to it.</a:t>
            </a:r>
          </a:p>
          <a:p>
            <a:pPr algn="l">
              <a:spcBef>
                <a:spcPts val="1000"/>
              </a:spcBef>
            </a:pPr>
            <a:r>
              <a:rPr sz="1400" b="0">
                <a:solidFill>
                  <a:srgbClr val="FFFFFF"/>
                </a:solidFill>
                <a:latin typeface="Calibri"/>
              </a:rPr>
              <a:t>  3.   Write the relative path from /home/user/  and from /home/user/projects/.</a:t>
            </a:r>
          </a:p>
          <a:p>
            <a:pPr algn="l">
              <a:spcBef>
                <a:spcPts val="1000"/>
              </a:spcBef>
            </a:pPr>
            <a:r>
              <a:rPr sz="1400" b="0">
                <a:solidFill>
                  <a:srgbClr val="FFFFFF"/>
                </a:solidFill>
                <a:latin typeface="Calibri"/>
              </a:rPr>
              <a:t>  4.   Navigate using each path to confirm it reaches the file.</a:t>
            </a:r>
          </a:p>
          <a:p>
            <a:pPr algn="l">
              <a:spcBef>
                <a:spcPts val="1000"/>
              </a:spcBef>
            </a:pPr>
            <a:r>
              <a:rPr sz="1400" b="0">
                <a:solidFill>
                  <a:srgbClr val="FFFFFF"/>
                </a:solidFill>
                <a:latin typeface="Calibri"/>
              </a:rPr>
              <a:t>  5.   Redo with tab-completion (Tab after each segment). Use up-arrow to re-run an edited command. Notes (3 of 6).</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The same target plotted three ways — one absolute fix, two relative bearings]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are deep in a nested folder and need to copy a file to a location three levels up.
Would you use an absolute or a relative path? Why?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Paths, Tab-Completion, Up-Arrow</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Absolute paths work anywhere; relative paths depend on where you are.</a:t>
            </a:r>
          </a:p>
          <a:p>
            <a:pPr algn="l">
              <a:spcBef>
                <a:spcPts val="1400"/>
              </a:spcBef>
            </a:pPr>
            <a:r>
              <a:rPr sz="1600" b="0">
                <a:solidFill>
                  <a:srgbClr val="FFFFFF"/>
                </a:solidFill>
                <a:latin typeface="Calibri"/>
              </a:rPr>
              <a:t>  ›  A path is unforgiving of a wrong character — exactness matters.</a:t>
            </a:r>
          </a:p>
          <a:p>
            <a:pPr algn="l">
              <a:spcBef>
                <a:spcPts val="1400"/>
              </a:spcBef>
            </a:pPr>
            <a:r>
              <a:rPr sz="1600" b="0">
                <a:solidFill>
                  <a:srgbClr val="FFFFFF"/>
                </a:solidFill>
                <a:latin typeface="Calibri"/>
              </a:rPr>
              <a:t>  ›  Tab-completion is the biggest accuracy win — use it on every path.</a:t>
            </a:r>
          </a:p>
          <a:p>
            <a:pPr algn="l">
              <a:spcBef>
                <a:spcPts val="1400"/>
              </a:spcBef>
            </a:pPr>
            <a:r>
              <a:rPr sz="1600" b="0">
                <a:solidFill>
                  <a:srgbClr val="FFFFFF"/>
                </a:solidFill>
                <a:latin typeface="Calibri"/>
              </a:rPr>
              <a:t>  ›  The up-arrow turns one good command into a reusable tool.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137160" y="365760"/>
            <a:ext cx="3657600" cy="4572000"/>
          </a:xfrm>
          <a:prstGeom prst="rect">
            <a:avLst/>
          </a:prstGeom>
          <a:noFill/>
        </p:spPr>
        <p:txBody>
          <a:bodyPr wrap="square">
            <a:spAutoFit/>
          </a:bodyPr>
          <a:lstStyle/>
          <a:p>
            <a:pPr algn="l"/>
            <a:r>
              <a:rPr sz="19000" b="1" i="0">
                <a:solidFill>
                  <a:srgbClr val="151E35"/>
                </a:solidFill>
                <a:latin typeface="Calibri"/>
              </a:rPr>
              <a:t>08</a:t>
            </a:r>
          </a:p>
        </p:txBody>
      </p:sp>
      <p:sp>
        <p:nvSpPr>
          <p:cNvPr id="3" name="TextBox 2"/>
          <p:cNvSpPr txBox="1"/>
          <p:nvPr/>
        </p:nvSpPr>
        <p:spPr>
          <a:xfrm>
            <a:off x="411480" y="868680"/>
            <a:ext cx="3657600" cy="347472"/>
          </a:xfrm>
          <a:prstGeom prst="rect">
            <a:avLst/>
          </a:prstGeom>
          <a:noFill/>
        </p:spPr>
        <p:txBody>
          <a:bodyPr wrap="square">
            <a:spAutoFit/>
          </a:bodyPr>
          <a:lstStyle/>
          <a:p>
            <a:pPr algn="l"/>
            <a:r>
              <a:rPr sz="1100" b="1" i="0">
                <a:solidFill>
                  <a:srgbClr val="FFAA00"/>
                </a:solidFill>
                <a:latin typeface="Calibri"/>
              </a:rPr>
              <a:t>SECTION  08</a:t>
            </a:r>
          </a:p>
        </p:txBody>
      </p:sp>
      <p:sp>
        <p:nvSpPr>
          <p:cNvPr id="4" name="Rectangle 3"/>
          <p:cNvSpPr/>
          <p:nvPr/>
        </p:nvSpPr>
        <p:spPr>
          <a:xfrm>
            <a:off x="411480" y="1261872"/>
            <a:ext cx="5303520" cy="1905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417320"/>
            <a:ext cx="5943600" cy="2743200"/>
          </a:xfrm>
          <a:prstGeom prst="rect">
            <a:avLst/>
          </a:prstGeom>
          <a:noFill/>
        </p:spPr>
        <p:txBody>
          <a:bodyPr wrap="square">
            <a:spAutoFit/>
          </a:bodyPr>
          <a:lstStyle/>
          <a:p>
            <a:pPr algn="l"/>
            <a:r>
              <a:rPr sz="4400" b="1" i="0">
                <a:solidFill>
                  <a:srgbClr val="FFFFFF"/>
                </a:solidFill>
                <a:latin typeface="Calibri"/>
              </a:rPr>
              <a:t>Flags, Help, Piping,
and When to Stop</a:t>
            </a:r>
          </a:p>
        </p:txBody>
      </p:sp>
      <p:sp>
        <p:nvSpPr>
          <p:cNvPr id="6" name="Rectangle 5"/>
          <p:cNvSpPr/>
          <p:nvPr/>
        </p:nvSpPr>
        <p:spPr>
          <a:xfrm>
            <a:off x="411480" y="4297680"/>
            <a:ext cx="5303520"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4434840"/>
            <a:ext cx="5943600" cy="1097280"/>
          </a:xfrm>
          <a:prstGeom prst="rect">
            <a:avLst/>
          </a:prstGeom>
          <a:noFill/>
        </p:spPr>
        <p:txBody>
          <a:bodyPr wrap="square">
            <a:spAutoFit/>
          </a:bodyPr>
          <a:lstStyle/>
          <a:p>
            <a:pPr algn="l"/>
            <a:r>
              <a:rPr sz="1400" b="0" i="0">
                <a:solidFill>
                  <a:srgbClr val="A8B4C8"/>
                </a:solidFill>
                <a:latin typeface="Calibri"/>
              </a:rPr>
              <a:t>Flags change behavior; --help finds them without memorizing; pipe and redirect chain commands; Ctrl+C stops anything.</a:t>
            </a:r>
          </a:p>
        </p:txBody>
      </p:sp>
      <p:sp>
        <p:nvSpPr>
          <p:cNvPr id="8" name="Rectangle 7"/>
          <p:cNvSpPr/>
          <p:nvPr/>
        </p:nvSpPr>
        <p:spPr>
          <a:xfrm>
            <a:off x="6675120" y="548640"/>
            <a:ext cx="5212080" cy="5852160"/>
          </a:xfrm>
          <a:prstGeom prst="rect">
            <a:avLst/>
          </a:prstGeom>
          <a:solidFill>
            <a:srgbClr val="0F1423"/>
          </a:solidFill>
          <a:ln w="19050">
            <a:solidFill>
              <a:srgbClr val="00B4FF"/>
            </a:solid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0" y="3154680"/>
            <a:ext cx="5212080" cy="274320"/>
          </a:xfrm>
          <a:prstGeom prst="rect">
            <a:avLst/>
          </a:prstGeom>
          <a:noFill/>
        </p:spPr>
        <p:txBody>
          <a:bodyPr wrap="square">
            <a:spAutoFit/>
          </a:bodyPr>
          <a:lstStyle/>
          <a:p>
            <a:pPr algn="ctr"/>
            <a:r>
              <a:rPr sz="900" b="1" i="0">
                <a:solidFill>
                  <a:srgbClr val="00B4FF"/>
                </a:solidFill>
                <a:latin typeface="Calibri"/>
              </a:rPr>
              <a:t>◼  IMAGE</a:t>
            </a:r>
          </a:p>
        </p:txBody>
      </p:sp>
      <p:sp>
        <p:nvSpPr>
          <p:cNvPr id="10" name="TextBox 9"/>
          <p:cNvSpPr txBox="1"/>
          <p:nvPr/>
        </p:nvSpPr>
        <p:spPr>
          <a:xfrm>
            <a:off x="6858000" y="3429000"/>
            <a:ext cx="4846320" cy="914400"/>
          </a:xfrm>
          <a:prstGeom prst="rect">
            <a:avLst/>
          </a:prstGeom>
          <a:noFill/>
        </p:spPr>
        <p:txBody>
          <a:bodyPr wrap="square">
            <a:spAutoFit/>
          </a:bodyPr>
          <a:lstStyle/>
          <a:p>
            <a:pPr algn="ctr"/>
            <a:r>
              <a:rPr sz="900" b="0" i="0">
                <a:solidFill>
                  <a:srgbClr val="A8B4C8"/>
                </a:solidFill>
                <a:latin typeface="Calibri"/>
              </a:rPr>
              <a:t>[IMAGE: A control panel with options, a manual, and a clearly marked stop button]</a:t>
            </a:r>
          </a:p>
        </p:txBody>
      </p:sp>
      <p:sp>
        <p:nvSpPr>
          <p:cNvPr id="11" name="Rectangle 10"/>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Flags, Help, Glue, and the Stop Button</a:t>
            </a:r>
          </a:p>
        </p:txBody>
      </p:sp>
      <p:sp>
        <p:nvSpPr>
          <p:cNvPr id="3" name="Rectangle 2"/>
          <p:cNvSpPr/>
          <p:nvPr/>
        </p:nvSpPr>
        <p:spPr>
          <a:xfrm>
            <a:off x="411480" y="86868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6" name="Rectangle 5"/>
          <p:cNvSpPr/>
          <p:nvPr/>
        </p:nvSpPr>
        <p:spPr>
          <a:xfrm>
            <a:off x="411480" y="1371600"/>
            <a:ext cx="11365992" cy="315468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371600"/>
            <a:ext cx="50800" cy="315468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36192"/>
            <a:ext cx="11000232" cy="2880360"/>
          </a:xfrm>
          <a:prstGeom prst="rect">
            <a:avLst/>
          </a:prstGeom>
          <a:noFill/>
        </p:spPr>
        <p:txBody>
          <a:bodyPr wrap="square">
            <a:spAutoFit/>
          </a:bodyPr>
          <a:lstStyle/>
          <a:p>
            <a:pPr algn="l">
              <a:spcBef>
                <a:spcPts val="700"/>
              </a:spcBef>
            </a:pPr>
            <a:r>
              <a:rPr sz="1500" b="0">
                <a:solidFill>
                  <a:srgbClr val="FFFFFF"/>
                </a:solidFill>
                <a:latin typeface="Calibri"/>
              </a:rPr>
              <a:t>  ›  Flags change a command's behavior: ls vs ls -l vs ls -la. Same command, different output.</a:t>
            </a:r>
          </a:p>
          <a:p>
            <a:pPr algn="l">
              <a:spcBef>
                <a:spcPts val="700"/>
              </a:spcBef>
            </a:pPr>
            <a:r>
              <a:rPr sz="1500" b="0">
                <a:solidFill>
                  <a:srgbClr val="FFFFFF"/>
                </a:solidFill>
                <a:latin typeface="Calibri"/>
              </a:rPr>
              <a:t>  ›  Do not memorize flags — look them up: ls --help, or man ls (Mac/Linux/WSL).</a:t>
            </a:r>
          </a:p>
          <a:p>
            <a:pPr algn="l">
              <a:spcBef>
                <a:spcPts val="700"/>
              </a:spcBef>
            </a:pPr>
            <a:r>
              <a:rPr sz="1500" b="0">
                <a:solidFill>
                  <a:srgbClr val="FFFFFF"/>
                </a:solidFill>
                <a:latin typeface="Calibri"/>
              </a:rPr>
              <a:t>  ›  Pipe | sends one command's output into another: ls | wc -l counts items.</a:t>
            </a:r>
          </a:p>
          <a:p>
            <a:pPr algn="l">
              <a:spcBef>
                <a:spcPts val="700"/>
              </a:spcBef>
            </a:pPr>
            <a:r>
              <a:rPr sz="1500" b="0">
                <a:solidFill>
                  <a:srgbClr val="FFFFFF"/>
                </a:solidFill>
                <a:latin typeface="Calibri"/>
              </a:rPr>
              <a:t>  ›  Redirect &gt; writes output to a file (replaces); &gt;&gt; appends to a file.</a:t>
            </a:r>
          </a:p>
          <a:p>
            <a:pPr algn="l">
              <a:spcBef>
                <a:spcPts val="700"/>
              </a:spcBef>
            </a:pPr>
            <a:r>
              <a:rPr sz="1500" b="0">
                <a:solidFill>
                  <a:srgbClr val="FFFFFF"/>
                </a:solidFill>
                <a:latin typeface="Calibri"/>
              </a:rPr>
              <a:t>  ›  The prompt returning means the command finished. A blinking cursor with no prompt means it is still running.</a:t>
            </a:r>
          </a:p>
          <a:p>
            <a:pPr algn="l">
              <a:spcBef>
                <a:spcPts val="700"/>
              </a:spcBef>
            </a:pPr>
            <a:r>
              <a:rPr sz="1500" b="0">
                <a:solidFill>
                  <a:srgbClr val="FFFFFF"/>
                </a:solidFill>
                <a:latin typeface="Calibri"/>
              </a:rPr>
              <a:t>  ›  Ctrl+C stops a running command and returns the prompt. It deletes nothing.</a:t>
            </a:r>
          </a:p>
        </p:txBody>
      </p:sp>
      <p:sp>
        <p:nvSpPr>
          <p:cNvPr id="9" name="Rectangle 8"/>
          <p:cNvSpPr/>
          <p:nvPr/>
        </p:nvSpPr>
        <p:spPr>
          <a:xfrm>
            <a:off x="411480" y="4663440"/>
            <a:ext cx="11365992" cy="1600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4663440"/>
            <a:ext cx="50800" cy="1600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4727448"/>
            <a:ext cx="1371600" cy="256032"/>
          </a:xfrm>
          <a:prstGeom prst="rect">
            <a:avLst/>
          </a:prstGeom>
          <a:noFill/>
        </p:spPr>
        <p:txBody>
          <a:bodyPr wrap="square">
            <a:spAutoFit/>
          </a:bodyPr>
          <a:lstStyle/>
          <a:p>
            <a:pPr algn="l"/>
            <a:r>
              <a:rPr sz="900" b="1" i="0">
                <a:solidFill>
                  <a:srgbClr val="FFAA00"/>
                </a:solidFill>
                <a:latin typeface="Calibri"/>
              </a:rPr>
              <a:t>NOTE</a:t>
            </a:r>
          </a:p>
        </p:txBody>
      </p:sp>
      <p:sp>
        <p:nvSpPr>
          <p:cNvPr id="12" name="TextBox 11"/>
          <p:cNvSpPr txBox="1"/>
          <p:nvPr/>
        </p:nvSpPr>
        <p:spPr>
          <a:xfrm>
            <a:off x="594360" y="4974336"/>
            <a:ext cx="11000232" cy="1216152"/>
          </a:xfrm>
          <a:prstGeom prst="rect">
            <a:avLst/>
          </a:prstGeom>
          <a:noFill/>
        </p:spPr>
        <p:txBody>
          <a:bodyPr wrap="square">
            <a:spAutoFit/>
          </a:bodyPr>
          <a:lstStyle/>
          <a:p>
            <a:pPr algn="l"/>
            <a:r>
              <a:rPr sz="1200" b="0" i="0">
                <a:solidFill>
                  <a:srgbClr val="A8B4C8"/>
                </a:solidFill>
                <a:latin typeface="Calibri"/>
              </a:rPr>
              <a:t>Ctrl+C is the most important shortcut: it sends an interrupt and stops the current process. Drill it until it is a reflex — you need this before anything else can go wrong.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E57A"/>
          </a:solidFill>
          <a:ln>
            <a:no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E57A"/>
          </a:solidFill>
          <a:ln>
            <a:noFill/>
          </a:ln>
          <a:effectLst>
            <a:glow rad="508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2286000" cy="365760"/>
          </a:xfrm>
          <a:prstGeom prst="rect">
            <a:avLst/>
          </a:prstGeom>
          <a:noFill/>
        </p:spPr>
        <p:txBody>
          <a:bodyPr wrap="square">
            <a:spAutoFit/>
          </a:bodyPr>
          <a:lstStyle/>
          <a:p>
            <a:pPr algn="l"/>
            <a:r>
              <a:rPr sz="1400" b="1" i="0">
                <a:solidFill>
                  <a:srgbClr val="0A0C14"/>
                </a:solidFill>
                <a:latin typeface="Calibri"/>
              </a:rPr>
              <a:t>HANDS-ON</a:t>
            </a:r>
          </a:p>
        </p:txBody>
      </p:sp>
      <p:sp>
        <p:nvSpPr>
          <p:cNvPr id="6" name="TextBox 5"/>
          <p:cNvSpPr txBox="1"/>
          <p:nvPr/>
        </p:nvSpPr>
        <p:spPr>
          <a:xfrm>
            <a:off x="2011680" y="91440"/>
            <a:ext cx="8229600" cy="365760"/>
          </a:xfrm>
          <a:prstGeom prst="rect">
            <a:avLst/>
          </a:prstGeom>
          <a:noFill/>
        </p:spPr>
        <p:txBody>
          <a:bodyPr wrap="square">
            <a:spAutoFit/>
          </a:bodyPr>
          <a:lstStyle/>
          <a:p>
            <a:pPr algn="l"/>
            <a:r>
              <a:rPr sz="1300" b="0" i="0">
                <a:solidFill>
                  <a:srgbClr val="0A0C14"/>
                </a:solidFill>
                <a:latin typeface="Calibri"/>
              </a:rPr>
              <a:t>Exercises 4-6 — Help, Pipes, and a Real Scenario</a:t>
            </a:r>
          </a:p>
        </p:txBody>
      </p:sp>
      <p:sp>
        <p:nvSpPr>
          <p:cNvPr id="7" name="Rectangle 6"/>
          <p:cNvSpPr/>
          <p:nvPr/>
        </p:nvSpPr>
        <p:spPr>
          <a:xfrm>
            <a:off x="411480" y="713232"/>
            <a:ext cx="6858000"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713232"/>
            <a:ext cx="50800" cy="5733288"/>
          </a:xfrm>
          <a:prstGeom prst="rect">
            <a:avLst/>
          </a:prstGeom>
          <a:solidFill>
            <a:srgbClr val="00E57A"/>
          </a:solidFill>
          <a:ln>
            <a:noFill/>
          </a:ln>
          <a:effectLst>
            <a:glow rad="38100">
              <a:srgbClr val="00E57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896112"/>
            <a:ext cx="6583680" cy="5349240"/>
          </a:xfrm>
          <a:prstGeom prst="rect">
            <a:avLst/>
          </a:prstGeom>
          <a:noFill/>
        </p:spPr>
        <p:txBody>
          <a:bodyPr wrap="square">
            <a:spAutoFit/>
          </a:bodyPr>
          <a:lstStyle/>
          <a:p>
            <a:pPr algn="l">
              <a:spcBef>
                <a:spcPts val="1000"/>
              </a:spcBef>
            </a:pPr>
            <a:r>
              <a:rPr sz="1400" b="0">
                <a:solidFill>
                  <a:srgbClr val="FFFFFF"/>
                </a:solidFill>
                <a:latin typeface="Calibri"/>
              </a:rPr>
              <a:t>  1.   Ex 4 (Help): run ls --help / Get-Help; find the hidden-files flag; build a help card for ls cd mkdir cp mv (4 of 6).</a:t>
            </a:r>
          </a:p>
          <a:p>
            <a:pPr algn="l">
              <a:spcBef>
                <a:spcPts val="1000"/>
              </a:spcBef>
            </a:pPr>
            <a:r>
              <a:rPr sz="1400" b="0">
                <a:solidFill>
                  <a:srgbClr val="FFFFFF"/>
                </a:solidFill>
                <a:latin typeface="Calibri"/>
              </a:rPr>
              <a:t>  2.   Ex 5 (Piping): use &gt;, &gt;&gt;, and ls | wc -l; verify with ls and by opening the file (5 of 6).</a:t>
            </a:r>
          </a:p>
          <a:p>
            <a:pPr algn="l">
              <a:spcBef>
                <a:spcPts val="1000"/>
              </a:spcBef>
            </a:pPr>
            <a:r>
              <a:rPr sz="1400" b="0">
                <a:solidFill>
                  <a:srgbClr val="FFFFFF"/>
                </a:solidFill>
                <a:latin typeface="Calibri"/>
              </a:rPr>
              <a:t>  3.   Ex 6 (Scenario): make a mixed folder, list the .txt files, mkdir archive, move them in.</a:t>
            </a:r>
          </a:p>
          <a:p>
            <a:pPr algn="l">
              <a:spcBef>
                <a:spcPts val="1000"/>
              </a:spcBef>
            </a:pPr>
            <a:r>
              <a:rPr sz="1400" b="0">
                <a:solidFill>
                  <a:srgbClr val="FFFFFF"/>
                </a:solidFill>
                <a:latin typeface="Calibri"/>
              </a:rPr>
              <a:t>  4.   Run ls on BOTH folders to verify the move — confirm arrivals, confirm nothing left behind.</a:t>
            </a:r>
          </a:p>
          <a:p>
            <a:pPr algn="l">
              <a:spcBef>
                <a:spcPts val="1000"/>
              </a:spcBef>
            </a:pPr>
            <a:r>
              <a:rPr sz="1400" b="0">
                <a:solidFill>
                  <a:srgbClr val="FFFFFF"/>
                </a:solidFill>
                <a:latin typeface="Calibri"/>
              </a:rPr>
              <a:t>  5.   Press Ctrl+C during a long command to prove you can stop it. Transcript (6 of 6).</a:t>
            </a:r>
          </a:p>
        </p:txBody>
      </p:sp>
      <p:sp>
        <p:nvSpPr>
          <p:cNvPr id="10" name="Rectangle 9"/>
          <p:cNvSpPr/>
          <p:nvPr/>
        </p:nvSpPr>
        <p:spPr>
          <a:xfrm>
            <a:off x="7452360" y="713232"/>
            <a:ext cx="4325112" cy="5733288"/>
          </a:xfrm>
          <a:prstGeom prst="rect">
            <a:avLst/>
          </a:prstGeom>
          <a:solidFill>
            <a:srgbClr val="0F1423"/>
          </a:solidFill>
          <a:ln w="19050">
            <a:solidFill>
              <a:srgbClr val="00E57A"/>
            </a:solidFill>
          </a:ln>
          <a:effectLst>
            <a:glow rad="38100">
              <a:srgbClr val="00E57A">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60" y="3259836"/>
            <a:ext cx="4325112" cy="274320"/>
          </a:xfrm>
          <a:prstGeom prst="rect">
            <a:avLst/>
          </a:prstGeom>
          <a:noFill/>
        </p:spPr>
        <p:txBody>
          <a:bodyPr wrap="square">
            <a:spAutoFit/>
          </a:bodyPr>
          <a:lstStyle/>
          <a:p>
            <a:pPr algn="ctr"/>
            <a:r>
              <a:rPr sz="900" b="1" i="0">
                <a:solidFill>
                  <a:srgbClr val="00E57A"/>
                </a:solidFill>
                <a:latin typeface="Calibri"/>
              </a:rPr>
              <a:t>◼  IMAGE</a:t>
            </a:r>
          </a:p>
        </p:txBody>
      </p:sp>
      <p:sp>
        <p:nvSpPr>
          <p:cNvPr id="12" name="TextBox 11"/>
          <p:cNvSpPr txBox="1"/>
          <p:nvPr/>
        </p:nvSpPr>
        <p:spPr>
          <a:xfrm>
            <a:off x="7635240" y="3534156"/>
            <a:ext cx="3959352" cy="914400"/>
          </a:xfrm>
          <a:prstGeom prst="rect">
            <a:avLst/>
          </a:prstGeom>
          <a:noFill/>
        </p:spPr>
        <p:txBody>
          <a:bodyPr wrap="square">
            <a:spAutoFit/>
          </a:bodyPr>
          <a:lstStyle/>
          <a:p>
            <a:pPr algn="ctr"/>
            <a:r>
              <a:rPr sz="900" b="0" i="0">
                <a:solidFill>
                  <a:srgbClr val="A8B4C8"/>
                </a:solidFill>
                <a:latin typeface="Calibri"/>
              </a:rPr>
              <a:t>[IMAGE: A short workflow chained together, ending with a verification step]</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12188952" cy="54864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91440"/>
            <a:ext cx="7315200" cy="365760"/>
          </a:xfrm>
          <a:prstGeom prst="rect">
            <a:avLst/>
          </a:prstGeom>
          <a:noFill/>
        </p:spPr>
        <p:txBody>
          <a:bodyPr wrap="square">
            <a:spAutoFit/>
          </a:bodyPr>
          <a:lstStyle/>
          <a:p>
            <a:pPr algn="l"/>
            <a:r>
              <a:rPr sz="1400" b="1" i="0">
                <a:solidFill>
                  <a:srgbClr val="0A0C14"/>
                </a:solidFill>
                <a:latin typeface="Calibri"/>
              </a:rPr>
              <a:t>CHECK ON LEARNING</a:t>
            </a:r>
          </a:p>
        </p:txBody>
      </p:sp>
      <p:sp>
        <p:nvSpPr>
          <p:cNvPr id="6" name="Rectangle 5"/>
          <p:cNvSpPr/>
          <p:nvPr/>
        </p:nvSpPr>
        <p:spPr>
          <a:xfrm>
            <a:off x="411480" y="713232"/>
            <a:ext cx="11365992" cy="5733288"/>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713232"/>
            <a:ext cx="50800" cy="5733288"/>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822960"/>
            <a:ext cx="9144000" cy="475488"/>
          </a:xfrm>
          <a:prstGeom prst="rect">
            <a:avLst/>
          </a:prstGeom>
          <a:noFill/>
        </p:spPr>
        <p:txBody>
          <a:bodyPr wrap="square">
            <a:spAutoFit/>
          </a:bodyPr>
          <a:lstStyle/>
          <a:p>
            <a:pPr algn="l"/>
            <a:r>
              <a:rPr sz="1800" b="1" i="0">
                <a:solidFill>
                  <a:srgbClr val="FFAA00"/>
                </a:solidFill>
                <a:latin typeface="Calibri"/>
              </a:rPr>
              <a:t>Before You Continue</a:t>
            </a:r>
          </a:p>
        </p:txBody>
      </p:sp>
      <p:sp>
        <p:nvSpPr>
          <p:cNvPr id="9" name="Rectangle 8"/>
          <p:cNvSpPr/>
          <p:nvPr/>
        </p:nvSpPr>
        <p:spPr>
          <a:xfrm>
            <a:off x="594360" y="1344168"/>
            <a:ext cx="10972800"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508760"/>
            <a:ext cx="11000232" cy="4754880"/>
          </a:xfrm>
          <a:prstGeom prst="rect">
            <a:avLst/>
          </a:prstGeom>
          <a:noFill/>
        </p:spPr>
        <p:txBody>
          <a:bodyPr wrap="square">
            <a:spAutoFit/>
          </a:bodyPr>
          <a:lstStyle/>
          <a:p>
            <a:pPr algn="l"/>
            <a:r>
              <a:rPr sz="1500" b="0" i="0">
                <a:solidFill>
                  <a:srgbClr val="FFFFFF"/>
                </a:solidFill>
                <a:latin typeface="Calibri"/>
              </a:rPr>
              <a:t>You run a command and nothing happens for thirty seconds — the cursor just blinks.
What are the two possibilities, and how do you handle each one?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SECTION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Flags, Help, Piping, and Stopping</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00B4FF"/>
          </a:solidFill>
          <a:ln>
            <a:noFill/>
          </a:ln>
          <a:effectLst>
            <a:glow rad="38100">
              <a:srgbClr val="00B4FF">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1400"/>
              </a:spcBef>
            </a:pPr>
            <a:r>
              <a:rPr sz="1600" b="0">
                <a:solidFill>
                  <a:srgbClr val="FFFFFF"/>
                </a:solidFill>
                <a:latin typeface="Calibri"/>
              </a:rPr>
              <a:t>  ›  Flags change behavior; --help and man let you find a flag without memorizing it.</a:t>
            </a:r>
          </a:p>
          <a:p>
            <a:pPr algn="l">
              <a:spcBef>
                <a:spcPts val="1400"/>
              </a:spcBef>
            </a:pPr>
            <a:r>
              <a:rPr sz="1600" b="0">
                <a:solidFill>
                  <a:srgbClr val="FFFFFF"/>
                </a:solidFill>
                <a:latin typeface="Calibri"/>
              </a:rPr>
              <a:t>  ›  Pipe (|) chains commands; redirect (&gt;, &gt;&gt;) captures output to a file.</a:t>
            </a:r>
          </a:p>
          <a:p>
            <a:pPr algn="l">
              <a:spcBef>
                <a:spcPts val="1400"/>
              </a:spcBef>
            </a:pPr>
            <a:r>
              <a:rPr sz="1600" b="0">
                <a:solidFill>
                  <a:srgbClr val="FFFFFF"/>
                </a:solidFill>
                <a:latin typeface="Calibri"/>
              </a:rPr>
              <a:t>  ›  The prompt returning means finished; a blinking cursor means still running.</a:t>
            </a:r>
          </a:p>
          <a:p>
            <a:pPr algn="l">
              <a:spcBef>
                <a:spcPts val="1400"/>
              </a:spcBef>
            </a:pPr>
            <a:r>
              <a:rPr sz="1600" b="0">
                <a:solidFill>
                  <a:srgbClr val="FFFFFF"/>
                </a:solidFill>
                <a:latin typeface="Calibri"/>
              </a:rPr>
              <a:t>  ›  Ctrl+C stops anything you start and deletes nothing — drill it to reflex.</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MODULE SUMMARY</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Know the Terrain — Capabilities and Habits</a:t>
            </a:r>
          </a:p>
        </p:txBody>
      </p:sp>
      <p:sp>
        <p:nvSpPr>
          <p:cNvPr id="4" name="Rectangle 3"/>
          <p:cNvSpPr/>
          <p:nvPr/>
        </p:nvSpPr>
        <p:spPr>
          <a:xfrm>
            <a:off x="411480" y="1143000"/>
            <a:ext cx="11365992" cy="25400"/>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389888"/>
            <a:ext cx="11365992" cy="384048"/>
          </a:xfrm>
          <a:prstGeom prst="rect">
            <a:avLst/>
          </a:prstGeom>
          <a:solidFill>
            <a:srgbClr val="00B4FF"/>
          </a:solidFill>
          <a:ln>
            <a:noFill/>
          </a:ln>
          <a:effectLst>
            <a:glow rad="508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44752"/>
            <a:ext cx="2560320" cy="384048"/>
          </a:xfrm>
          <a:prstGeom prst="rect">
            <a:avLst/>
          </a:prstGeom>
          <a:noFill/>
        </p:spPr>
        <p:txBody>
          <a:bodyPr wrap="square">
            <a:spAutoFit/>
          </a:bodyPr>
          <a:lstStyle/>
          <a:p>
            <a:pPr algn="l"/>
            <a:r>
              <a:rPr sz="1100" b="1" i="0">
                <a:solidFill>
                  <a:srgbClr val="0A0C14"/>
                </a:solidFill>
                <a:latin typeface="Calibri"/>
              </a:rPr>
              <a:t>CAPABILITY</a:t>
            </a:r>
          </a:p>
        </p:txBody>
      </p:sp>
      <p:sp>
        <p:nvSpPr>
          <p:cNvPr id="9" name="TextBox 8"/>
          <p:cNvSpPr txBox="1"/>
          <p:nvPr/>
        </p:nvSpPr>
        <p:spPr>
          <a:xfrm>
            <a:off x="3108960" y="1444752"/>
            <a:ext cx="4023360" cy="384048"/>
          </a:xfrm>
          <a:prstGeom prst="rect">
            <a:avLst/>
          </a:prstGeom>
          <a:noFill/>
        </p:spPr>
        <p:txBody>
          <a:bodyPr wrap="square">
            <a:spAutoFit/>
          </a:bodyPr>
          <a:lstStyle/>
          <a:p>
            <a:pPr algn="l"/>
            <a:r>
              <a:rPr sz="1100" b="1" i="0">
                <a:solidFill>
                  <a:srgbClr val="0A0C14"/>
                </a:solidFill>
                <a:latin typeface="Calibri"/>
              </a:rPr>
              <a:t>COMMANDS / TOOLS</a:t>
            </a:r>
          </a:p>
        </p:txBody>
      </p:sp>
      <p:sp>
        <p:nvSpPr>
          <p:cNvPr id="10" name="TextBox 9"/>
          <p:cNvSpPr txBox="1"/>
          <p:nvPr/>
        </p:nvSpPr>
        <p:spPr>
          <a:xfrm>
            <a:off x="7132320" y="1444752"/>
            <a:ext cx="4206240" cy="384048"/>
          </a:xfrm>
          <a:prstGeom prst="rect">
            <a:avLst/>
          </a:prstGeom>
          <a:noFill/>
        </p:spPr>
        <p:txBody>
          <a:bodyPr wrap="square">
            <a:spAutoFit/>
          </a:bodyPr>
          <a:lstStyle/>
          <a:p>
            <a:pPr algn="l"/>
            <a:r>
              <a:rPr sz="1100" b="1" i="0">
                <a:solidFill>
                  <a:srgbClr val="0A0C14"/>
                </a:solidFill>
                <a:latin typeface="Calibri"/>
              </a:rPr>
              <a:t>THE HABIT IT BUILDS</a:t>
            </a:r>
          </a:p>
        </p:txBody>
      </p:sp>
      <p:sp>
        <p:nvSpPr>
          <p:cNvPr id="11" name="Rectangle 10"/>
          <p:cNvSpPr/>
          <p:nvPr/>
        </p:nvSpPr>
        <p:spPr>
          <a:xfrm>
            <a:off x="411480" y="1773936"/>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177393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1208" y="1847088"/>
            <a:ext cx="2423160" cy="731520"/>
          </a:xfrm>
          <a:prstGeom prst="rect">
            <a:avLst/>
          </a:prstGeom>
          <a:noFill/>
        </p:spPr>
        <p:txBody>
          <a:bodyPr wrap="square">
            <a:spAutoFit/>
          </a:bodyPr>
          <a:lstStyle/>
          <a:p>
            <a:pPr algn="l"/>
            <a:r>
              <a:rPr sz="1100" b="1" i="0">
                <a:solidFill>
                  <a:srgbClr val="00B4FF"/>
                </a:solidFill>
                <a:latin typeface="Calibri"/>
              </a:rPr>
              <a:t>Read the terrain</a:t>
            </a:r>
          </a:p>
        </p:txBody>
      </p:sp>
      <p:sp>
        <p:nvSpPr>
          <p:cNvPr id="14" name="TextBox 13"/>
          <p:cNvSpPr txBox="1"/>
          <p:nvPr/>
        </p:nvSpPr>
        <p:spPr>
          <a:xfrm>
            <a:off x="3127248" y="1847088"/>
            <a:ext cx="3886200" cy="731520"/>
          </a:xfrm>
          <a:prstGeom prst="rect">
            <a:avLst/>
          </a:prstGeom>
          <a:noFill/>
        </p:spPr>
        <p:txBody>
          <a:bodyPr wrap="square">
            <a:spAutoFit/>
          </a:bodyPr>
          <a:lstStyle/>
          <a:p>
            <a:pPr algn="l"/>
            <a:r>
              <a:rPr sz="1100" b="0" i="0">
                <a:solidFill>
                  <a:srgbClr val="FFFFFF"/>
                </a:solidFill>
                <a:latin typeface="Calibri"/>
              </a:rPr>
              <a:t>path, file tree, plaintext vs rich</a:t>
            </a:r>
          </a:p>
        </p:txBody>
      </p:sp>
      <p:sp>
        <p:nvSpPr>
          <p:cNvPr id="15" name="TextBox 14"/>
          <p:cNvSpPr txBox="1"/>
          <p:nvPr/>
        </p:nvSpPr>
        <p:spPr>
          <a:xfrm>
            <a:off x="7150608" y="1847088"/>
            <a:ext cx="4069080" cy="731520"/>
          </a:xfrm>
          <a:prstGeom prst="rect">
            <a:avLst/>
          </a:prstGeom>
          <a:noFill/>
        </p:spPr>
        <p:txBody>
          <a:bodyPr wrap="square">
            <a:spAutoFit/>
          </a:bodyPr>
          <a:lstStyle/>
          <a:p>
            <a:pPr algn="l"/>
            <a:r>
              <a:rPr sz="1100" b="0" i="0">
                <a:solidFill>
                  <a:srgbClr val="A8B4C8"/>
                </a:solidFill>
                <a:latin typeface="Calibri"/>
              </a:rPr>
              <a:t>Know where things live first</a:t>
            </a:r>
          </a:p>
        </p:txBody>
      </p:sp>
      <p:sp>
        <p:nvSpPr>
          <p:cNvPr id="16" name="Rectangle 15"/>
          <p:cNvSpPr/>
          <p:nvPr/>
        </p:nvSpPr>
        <p:spPr>
          <a:xfrm>
            <a:off x="411480" y="2532888"/>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2532888"/>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 y="2606040"/>
            <a:ext cx="2423160" cy="731520"/>
          </a:xfrm>
          <a:prstGeom prst="rect">
            <a:avLst/>
          </a:prstGeom>
          <a:noFill/>
        </p:spPr>
        <p:txBody>
          <a:bodyPr wrap="square">
            <a:spAutoFit/>
          </a:bodyPr>
          <a:lstStyle/>
          <a:p>
            <a:pPr algn="l"/>
            <a:r>
              <a:rPr sz="1100" b="1" i="0">
                <a:solidFill>
                  <a:srgbClr val="00B4FF"/>
                </a:solidFill>
                <a:latin typeface="Calibri"/>
              </a:rPr>
              <a:t>Navigate</a:t>
            </a:r>
          </a:p>
        </p:txBody>
      </p:sp>
      <p:sp>
        <p:nvSpPr>
          <p:cNvPr id="19" name="TextBox 18"/>
          <p:cNvSpPr txBox="1"/>
          <p:nvPr/>
        </p:nvSpPr>
        <p:spPr>
          <a:xfrm>
            <a:off x="3127248" y="2606040"/>
            <a:ext cx="3886200" cy="731520"/>
          </a:xfrm>
          <a:prstGeom prst="rect">
            <a:avLst/>
          </a:prstGeom>
          <a:noFill/>
        </p:spPr>
        <p:txBody>
          <a:bodyPr wrap="square">
            <a:spAutoFit/>
          </a:bodyPr>
          <a:lstStyle/>
          <a:p>
            <a:pPr algn="l"/>
            <a:r>
              <a:rPr sz="1100" b="0" i="0">
                <a:solidFill>
                  <a:srgbClr val="FFFFFF"/>
                </a:solidFill>
                <a:latin typeface="Calibri"/>
              </a:rPr>
              <a:t>pwd, ls, cd, cd ..</a:t>
            </a:r>
          </a:p>
        </p:txBody>
      </p:sp>
      <p:sp>
        <p:nvSpPr>
          <p:cNvPr id="20" name="TextBox 19"/>
          <p:cNvSpPr txBox="1"/>
          <p:nvPr/>
        </p:nvSpPr>
        <p:spPr>
          <a:xfrm>
            <a:off x="7150608" y="2606040"/>
            <a:ext cx="4069080" cy="731520"/>
          </a:xfrm>
          <a:prstGeom prst="rect">
            <a:avLst/>
          </a:prstGeom>
          <a:noFill/>
        </p:spPr>
        <p:txBody>
          <a:bodyPr wrap="square">
            <a:spAutoFit/>
          </a:bodyPr>
          <a:lstStyle/>
          <a:p>
            <a:pPr algn="l"/>
            <a:r>
              <a:rPr sz="1100" b="0" i="0">
                <a:solidFill>
                  <a:srgbClr val="A8B4C8"/>
                </a:solidFill>
                <a:latin typeface="Calibri"/>
              </a:rPr>
              <a:t>Never be lost; pwd resets you</a:t>
            </a:r>
          </a:p>
        </p:txBody>
      </p:sp>
      <p:sp>
        <p:nvSpPr>
          <p:cNvPr id="21" name="Rectangle 20"/>
          <p:cNvSpPr/>
          <p:nvPr/>
        </p:nvSpPr>
        <p:spPr>
          <a:xfrm>
            <a:off x="411480" y="3291840"/>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11480" y="3291840"/>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3364992"/>
            <a:ext cx="2423160" cy="731520"/>
          </a:xfrm>
          <a:prstGeom prst="rect">
            <a:avLst/>
          </a:prstGeom>
          <a:noFill/>
        </p:spPr>
        <p:txBody>
          <a:bodyPr wrap="square">
            <a:spAutoFit/>
          </a:bodyPr>
          <a:lstStyle/>
          <a:p>
            <a:pPr algn="l"/>
            <a:r>
              <a:rPr sz="1100" b="1" i="0">
                <a:solidFill>
                  <a:srgbClr val="00B4FF"/>
                </a:solidFill>
                <a:latin typeface="Calibri"/>
              </a:rPr>
              <a:t>Act</a:t>
            </a:r>
          </a:p>
        </p:txBody>
      </p:sp>
      <p:sp>
        <p:nvSpPr>
          <p:cNvPr id="24" name="TextBox 23"/>
          <p:cNvSpPr txBox="1"/>
          <p:nvPr/>
        </p:nvSpPr>
        <p:spPr>
          <a:xfrm>
            <a:off x="3127248" y="3364992"/>
            <a:ext cx="3886200" cy="731520"/>
          </a:xfrm>
          <a:prstGeom prst="rect">
            <a:avLst/>
          </a:prstGeom>
          <a:noFill/>
        </p:spPr>
        <p:txBody>
          <a:bodyPr wrap="square">
            <a:spAutoFit/>
          </a:bodyPr>
          <a:lstStyle/>
          <a:p>
            <a:pPr algn="l"/>
            <a:r>
              <a:rPr sz="1100" b="0" i="0">
                <a:solidFill>
                  <a:srgbClr val="FFFFFF"/>
                </a:solidFill>
                <a:latin typeface="Calibri"/>
              </a:rPr>
              <a:t>mkdir, touch/New-Item, cp, mv</a:t>
            </a:r>
          </a:p>
        </p:txBody>
      </p:sp>
      <p:sp>
        <p:nvSpPr>
          <p:cNvPr id="25" name="TextBox 24"/>
          <p:cNvSpPr txBox="1"/>
          <p:nvPr/>
        </p:nvSpPr>
        <p:spPr>
          <a:xfrm>
            <a:off x="7150608" y="3364992"/>
            <a:ext cx="4069080" cy="731520"/>
          </a:xfrm>
          <a:prstGeom prst="rect">
            <a:avLst/>
          </a:prstGeom>
          <a:noFill/>
        </p:spPr>
        <p:txBody>
          <a:bodyPr wrap="square">
            <a:spAutoFit/>
          </a:bodyPr>
          <a:lstStyle/>
          <a:p>
            <a:pPr algn="l"/>
            <a:r>
              <a:rPr sz="1100" b="0" i="0">
                <a:solidFill>
                  <a:srgbClr val="A8B4C8"/>
                </a:solidFill>
                <a:latin typeface="Calibri"/>
              </a:rPr>
              <a:t>Make, copy, move — no deletion</a:t>
            </a:r>
          </a:p>
        </p:txBody>
      </p:sp>
      <p:sp>
        <p:nvSpPr>
          <p:cNvPr id="26" name="Rectangle 25"/>
          <p:cNvSpPr/>
          <p:nvPr/>
        </p:nvSpPr>
        <p:spPr>
          <a:xfrm>
            <a:off x="411480" y="4050792"/>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11480" y="4050792"/>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21208" y="4123944"/>
            <a:ext cx="2423160" cy="731520"/>
          </a:xfrm>
          <a:prstGeom prst="rect">
            <a:avLst/>
          </a:prstGeom>
          <a:noFill/>
        </p:spPr>
        <p:txBody>
          <a:bodyPr wrap="square">
            <a:spAutoFit/>
          </a:bodyPr>
          <a:lstStyle/>
          <a:p>
            <a:pPr algn="l"/>
            <a:r>
              <a:rPr sz="1100" b="1" i="0">
                <a:solidFill>
                  <a:srgbClr val="00B4FF"/>
                </a:solidFill>
                <a:latin typeface="Calibri"/>
              </a:rPr>
              <a:t>Aim precisely</a:t>
            </a:r>
          </a:p>
        </p:txBody>
      </p:sp>
      <p:sp>
        <p:nvSpPr>
          <p:cNvPr id="29" name="TextBox 28"/>
          <p:cNvSpPr txBox="1"/>
          <p:nvPr/>
        </p:nvSpPr>
        <p:spPr>
          <a:xfrm>
            <a:off x="3127248" y="4123944"/>
            <a:ext cx="3886200" cy="731520"/>
          </a:xfrm>
          <a:prstGeom prst="rect">
            <a:avLst/>
          </a:prstGeom>
          <a:noFill/>
        </p:spPr>
        <p:txBody>
          <a:bodyPr wrap="square">
            <a:spAutoFit/>
          </a:bodyPr>
          <a:lstStyle/>
          <a:p>
            <a:pPr algn="l"/>
            <a:r>
              <a:rPr sz="1100" b="0" i="0">
                <a:solidFill>
                  <a:srgbClr val="FFFFFF"/>
                </a:solidFill>
                <a:latin typeface="Calibri"/>
              </a:rPr>
              <a:t>abs/rel paths, Tab, up-arrow</a:t>
            </a:r>
          </a:p>
        </p:txBody>
      </p:sp>
      <p:sp>
        <p:nvSpPr>
          <p:cNvPr id="30" name="TextBox 29"/>
          <p:cNvSpPr txBox="1"/>
          <p:nvPr/>
        </p:nvSpPr>
        <p:spPr>
          <a:xfrm>
            <a:off x="7150608" y="4123944"/>
            <a:ext cx="4069080" cy="731520"/>
          </a:xfrm>
          <a:prstGeom prst="rect">
            <a:avLst/>
          </a:prstGeom>
          <a:noFill/>
        </p:spPr>
        <p:txBody>
          <a:bodyPr wrap="square">
            <a:spAutoFit/>
          </a:bodyPr>
          <a:lstStyle/>
          <a:p>
            <a:pPr algn="l"/>
            <a:r>
              <a:rPr sz="1100" b="0" i="0">
                <a:solidFill>
                  <a:srgbClr val="A8B4C8"/>
                </a:solidFill>
                <a:latin typeface="Calibri"/>
              </a:rPr>
              <a:t>Let the machine complete names</a:t>
            </a:r>
          </a:p>
        </p:txBody>
      </p:sp>
      <p:sp>
        <p:nvSpPr>
          <p:cNvPr id="31" name="Rectangle 30"/>
          <p:cNvSpPr/>
          <p:nvPr/>
        </p:nvSpPr>
        <p:spPr>
          <a:xfrm>
            <a:off x="411480" y="4809744"/>
            <a:ext cx="11365992" cy="758952"/>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11480" y="4809744"/>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882896"/>
            <a:ext cx="2423160" cy="731520"/>
          </a:xfrm>
          <a:prstGeom prst="rect">
            <a:avLst/>
          </a:prstGeom>
          <a:noFill/>
        </p:spPr>
        <p:txBody>
          <a:bodyPr wrap="square">
            <a:spAutoFit/>
          </a:bodyPr>
          <a:lstStyle/>
          <a:p>
            <a:pPr algn="l"/>
            <a:r>
              <a:rPr sz="1100" b="1" i="0">
                <a:solidFill>
                  <a:srgbClr val="00B4FF"/>
                </a:solidFill>
                <a:latin typeface="Calibri"/>
              </a:rPr>
              <a:t>Control</a:t>
            </a:r>
          </a:p>
        </p:txBody>
      </p:sp>
      <p:sp>
        <p:nvSpPr>
          <p:cNvPr id="34" name="TextBox 33"/>
          <p:cNvSpPr txBox="1"/>
          <p:nvPr/>
        </p:nvSpPr>
        <p:spPr>
          <a:xfrm>
            <a:off x="3127248" y="4882896"/>
            <a:ext cx="3886200" cy="731520"/>
          </a:xfrm>
          <a:prstGeom prst="rect">
            <a:avLst/>
          </a:prstGeom>
          <a:noFill/>
        </p:spPr>
        <p:txBody>
          <a:bodyPr wrap="square">
            <a:spAutoFit/>
          </a:bodyPr>
          <a:lstStyle/>
          <a:p>
            <a:pPr algn="l"/>
            <a:r>
              <a:rPr sz="1100" b="0" i="0">
                <a:solidFill>
                  <a:srgbClr val="FFFFFF"/>
                </a:solidFill>
                <a:latin typeface="Calibri"/>
              </a:rPr>
              <a:t>flags, --help, |, &gt;, &gt;&gt;, Ctrl+C</a:t>
            </a:r>
          </a:p>
        </p:txBody>
      </p:sp>
      <p:sp>
        <p:nvSpPr>
          <p:cNvPr id="35" name="TextBox 34"/>
          <p:cNvSpPr txBox="1"/>
          <p:nvPr/>
        </p:nvSpPr>
        <p:spPr>
          <a:xfrm>
            <a:off x="7150608" y="4882896"/>
            <a:ext cx="4069080" cy="731520"/>
          </a:xfrm>
          <a:prstGeom prst="rect">
            <a:avLst/>
          </a:prstGeom>
          <a:noFill/>
        </p:spPr>
        <p:txBody>
          <a:bodyPr wrap="square">
            <a:spAutoFit/>
          </a:bodyPr>
          <a:lstStyle/>
          <a:p>
            <a:pPr algn="l"/>
            <a:r>
              <a:rPr sz="1100" b="0" i="0">
                <a:solidFill>
                  <a:srgbClr val="A8B4C8"/>
                </a:solidFill>
                <a:latin typeface="Calibri"/>
              </a:rPr>
              <a:t>Look it up; chain; stop anything</a:t>
            </a:r>
          </a:p>
        </p:txBody>
      </p:sp>
      <p:sp>
        <p:nvSpPr>
          <p:cNvPr id="36" name="Rectangle 35"/>
          <p:cNvSpPr/>
          <p:nvPr/>
        </p:nvSpPr>
        <p:spPr>
          <a:xfrm>
            <a:off x="411480" y="5568696"/>
            <a:ext cx="11365992" cy="758952"/>
          </a:xfrm>
          <a:prstGeom prst="rect">
            <a:avLst/>
          </a:prstGeom>
          <a:solidFill>
            <a:srgbClr val="151E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 y="5568696"/>
            <a:ext cx="38100" cy="758952"/>
          </a:xfrm>
          <a:prstGeom prst="rect">
            <a:avLst/>
          </a:prstGeom>
          <a:solidFill>
            <a:srgbClr val="00B4FF"/>
          </a:solidFill>
          <a:ln>
            <a:noFill/>
          </a:ln>
          <a:effectLst>
            <a:glow rad="381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1208" y="5641848"/>
            <a:ext cx="2423160" cy="731520"/>
          </a:xfrm>
          <a:prstGeom prst="rect">
            <a:avLst/>
          </a:prstGeom>
          <a:noFill/>
        </p:spPr>
        <p:txBody>
          <a:bodyPr wrap="square">
            <a:spAutoFit/>
          </a:bodyPr>
          <a:lstStyle/>
          <a:p>
            <a:pPr algn="l"/>
            <a:r>
              <a:rPr sz="1100" b="1" i="0">
                <a:solidFill>
                  <a:srgbClr val="00B4FF"/>
                </a:solidFill>
                <a:latin typeface="Calibri"/>
              </a:rPr>
              <a:t>Verify</a:t>
            </a:r>
          </a:p>
        </p:txBody>
      </p:sp>
      <p:sp>
        <p:nvSpPr>
          <p:cNvPr id="39" name="TextBox 38"/>
          <p:cNvSpPr txBox="1"/>
          <p:nvPr/>
        </p:nvSpPr>
        <p:spPr>
          <a:xfrm>
            <a:off x="3127248" y="5641848"/>
            <a:ext cx="3886200" cy="731520"/>
          </a:xfrm>
          <a:prstGeom prst="rect">
            <a:avLst/>
          </a:prstGeom>
          <a:noFill/>
        </p:spPr>
        <p:txBody>
          <a:bodyPr wrap="square">
            <a:spAutoFit/>
          </a:bodyPr>
          <a:lstStyle/>
          <a:p>
            <a:pPr algn="l"/>
            <a:r>
              <a:rPr sz="1100" b="0" i="0">
                <a:solidFill>
                  <a:srgbClr val="FFFFFF"/>
                </a:solidFill>
                <a:latin typeface="Calibri"/>
              </a:rPr>
              <a:t>ls after every action</a:t>
            </a:r>
          </a:p>
        </p:txBody>
      </p:sp>
      <p:sp>
        <p:nvSpPr>
          <p:cNvPr id="40" name="TextBox 39"/>
          <p:cNvSpPr txBox="1"/>
          <p:nvPr/>
        </p:nvSpPr>
        <p:spPr>
          <a:xfrm>
            <a:off x="7150608" y="5641848"/>
            <a:ext cx="4069080" cy="731520"/>
          </a:xfrm>
          <a:prstGeom prst="rect">
            <a:avLst/>
          </a:prstGeom>
          <a:noFill/>
        </p:spPr>
        <p:txBody>
          <a:bodyPr wrap="square">
            <a:spAutoFit/>
          </a:bodyPr>
          <a:lstStyle/>
          <a:p>
            <a:pPr algn="l"/>
            <a:r>
              <a:rPr sz="1100" b="0" i="0">
                <a:solidFill>
                  <a:srgbClr val="A8B4C8"/>
                </a:solidFill>
                <a:latin typeface="Calibri"/>
              </a:rPr>
              <a:t>Trust the disk, not the narration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TextBox 1"/>
          <p:cNvSpPr txBox="1"/>
          <p:nvPr/>
        </p:nvSpPr>
        <p:spPr>
          <a:xfrm>
            <a:off x="411480" y="182880"/>
            <a:ext cx="11365992" cy="685800"/>
          </a:xfrm>
          <a:prstGeom prst="rect">
            <a:avLst/>
          </a:prstGeom>
          <a:noFill/>
        </p:spPr>
        <p:txBody>
          <a:bodyPr wrap="square">
            <a:spAutoFit/>
          </a:bodyPr>
          <a:lstStyle/>
          <a:p>
            <a:pPr algn="l"/>
            <a:r>
              <a:rPr sz="2800" b="1" i="0">
                <a:solidFill>
                  <a:srgbClr val="FFFFFF"/>
                </a:solidFill>
                <a:latin typeface="Calibri"/>
              </a:rPr>
              <a:t>READINESS CHECK</a:t>
            </a:r>
          </a:p>
        </p:txBody>
      </p:sp>
      <p:sp>
        <p:nvSpPr>
          <p:cNvPr id="3" name="TextBox 2"/>
          <p:cNvSpPr txBox="1"/>
          <p:nvPr/>
        </p:nvSpPr>
        <p:spPr>
          <a:xfrm>
            <a:off x="411480" y="868680"/>
            <a:ext cx="11365992" cy="320040"/>
          </a:xfrm>
          <a:prstGeom prst="rect">
            <a:avLst/>
          </a:prstGeom>
          <a:noFill/>
        </p:spPr>
        <p:txBody>
          <a:bodyPr wrap="square">
            <a:spAutoFit/>
          </a:bodyPr>
          <a:lstStyle/>
          <a:p>
            <a:pPr algn="l"/>
            <a:r>
              <a:rPr sz="1200" b="0" i="0">
                <a:solidFill>
                  <a:srgbClr val="A8B4C8"/>
                </a:solidFill>
                <a:latin typeface="Calibri"/>
              </a:rPr>
              <a:t>Confirm before moving on</a:t>
            </a:r>
          </a:p>
        </p:txBody>
      </p:sp>
      <p:sp>
        <p:nvSpPr>
          <p:cNvPr id="4" name="Rectangle 3"/>
          <p:cNvSpPr/>
          <p:nvPr/>
        </p:nvSpPr>
        <p:spPr>
          <a:xfrm>
            <a:off x="411480" y="1143000"/>
            <a:ext cx="11365992" cy="25400"/>
          </a:xfrm>
          <a:prstGeom prst="rect">
            <a:avLst/>
          </a:prstGeom>
          <a:solidFill>
            <a:srgbClr val="FFAA00"/>
          </a:solidFill>
          <a:ln>
            <a:noFill/>
          </a:ln>
          <a:effectLst>
            <a:glow rad="50800">
              <a:srgbClr val="FFAA00">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601968"/>
            <a:ext cx="12188952" cy="19050"/>
          </a:xfrm>
          <a:prstGeom prst="rect">
            <a:avLst/>
          </a:prstGeom>
          <a:solidFill>
            <a:srgbClr val="FFAA00"/>
          </a:solidFill>
          <a:ln>
            <a:noFill/>
          </a:ln>
          <a:effectLst>
            <a:glow rad="38100">
              <a:srgbClr val="FFAA00">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7" name="Rectangle 6"/>
          <p:cNvSpPr/>
          <p:nvPr/>
        </p:nvSpPr>
        <p:spPr>
          <a:xfrm>
            <a:off x="411480" y="1417320"/>
            <a:ext cx="11365992" cy="5029200"/>
          </a:xfrm>
          <a:prstGeom prst="rect">
            <a:avLst/>
          </a:prstGeom>
          <a:solidFill>
            <a:srgbClr val="0F14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417320"/>
            <a:ext cx="50800" cy="50292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81912"/>
            <a:ext cx="11000232" cy="4663440"/>
          </a:xfrm>
          <a:prstGeom prst="rect">
            <a:avLst/>
          </a:prstGeom>
          <a:noFill/>
        </p:spPr>
        <p:txBody>
          <a:bodyPr wrap="square">
            <a:spAutoFit/>
          </a:bodyPr>
          <a:lstStyle/>
          <a:p>
            <a:pPr algn="l">
              <a:spcBef>
                <a:spcPts val="800"/>
              </a:spcBef>
            </a:pPr>
            <a:r>
              <a:rPr sz="1300" b="0">
                <a:solidFill>
                  <a:srgbClr val="A8B4C8"/>
                </a:solidFill>
                <a:latin typeface="Calibri"/>
              </a:rPr>
              <a:t>  ☐   I can read a file path as a route through the folder tree</a:t>
            </a:r>
          </a:p>
          <a:p>
            <a:pPr algn="l">
              <a:spcBef>
                <a:spcPts val="800"/>
              </a:spcBef>
            </a:pPr>
            <a:r>
              <a:rPr sz="1300" b="0">
                <a:solidFill>
                  <a:srgbClr val="A8B4C8"/>
                </a:solidFill>
                <a:latin typeface="Calibri"/>
              </a:rPr>
              <a:t>  ☐   I can distinguish plaintext from rich text and know why tools prefer plaintext</a:t>
            </a:r>
          </a:p>
          <a:p>
            <a:pPr algn="l">
              <a:spcBef>
                <a:spcPts val="800"/>
              </a:spcBef>
            </a:pPr>
            <a:r>
              <a:rPr sz="1300" b="0">
                <a:solidFill>
                  <a:srgbClr val="A8B4C8"/>
                </a:solidFill>
                <a:latin typeface="Calibri"/>
              </a:rPr>
              <a:t>  ☐   I can navigate with pwd, ls, cd, and cd ..</a:t>
            </a:r>
          </a:p>
          <a:p>
            <a:pPr algn="l">
              <a:spcBef>
                <a:spcPts val="800"/>
              </a:spcBef>
            </a:pPr>
            <a:r>
              <a:rPr sz="1300" b="0">
                <a:solidFill>
                  <a:srgbClr val="A8B4C8"/>
                </a:solidFill>
                <a:latin typeface="Calibri"/>
              </a:rPr>
              <a:t>  ☐   I can make, copy, and move files — and I have not deleted anything</a:t>
            </a:r>
          </a:p>
          <a:p>
            <a:pPr algn="l">
              <a:spcBef>
                <a:spcPts val="800"/>
              </a:spcBef>
            </a:pPr>
            <a:r>
              <a:rPr sz="1300" b="0">
                <a:solidFill>
                  <a:srgbClr val="A8B4C8"/>
                </a:solidFill>
                <a:latin typeface="Calibri"/>
              </a:rPr>
              <a:t>  ☐   I use absolute and relative paths, tab-completion, and the up-arrow</a:t>
            </a:r>
          </a:p>
          <a:p>
            <a:pPr algn="l">
              <a:spcBef>
                <a:spcPts val="800"/>
              </a:spcBef>
            </a:pPr>
            <a:r>
              <a:rPr sz="1300" b="0">
                <a:solidFill>
                  <a:srgbClr val="A8B4C8"/>
                </a:solidFill>
                <a:latin typeface="Calibri"/>
              </a:rPr>
              <a:t>  ☐   I can find a flag with --help, chain commands with pipes, and stop anything with Ctrl+C</a:t>
            </a:r>
          </a:p>
          <a:p>
            <a:pPr algn="l">
              <a:spcBef>
                <a:spcPts val="800"/>
              </a:spcBef>
            </a:pPr>
            <a:r>
              <a:rPr sz="1300" b="0">
                <a:solidFill>
                  <a:srgbClr val="A8B4C8"/>
                </a:solidFill>
                <a:latin typeface="Calibri"/>
              </a:rPr>
              <a:t>  ☐   I verify after acting on every file operation — I trust the disk, not the narration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C14"/>
        </a:solidFill>
        <a:effectLst/>
      </p:bgPr>
    </p:bg>
    <p:spTree>
      <p:nvGrpSpPr>
        <p:cNvPr id="1" name=""/>
        <p:cNvGrpSpPr/>
        <p:nvPr/>
      </p:nvGrpSpPr>
      <p:grpSpPr/>
      <p:sp>
        <p:nvSpPr>
          <p:cNvPr id="2" name="Rectangle 1"/>
          <p:cNvSpPr/>
          <p:nvPr/>
        </p:nvSpPr>
        <p:spPr>
          <a:xfrm>
            <a:off x="0" y="6601968"/>
            <a:ext cx="12188952" cy="19050"/>
          </a:xfrm>
          <a:prstGeom prst="rect">
            <a:avLst/>
          </a:prstGeom>
          <a:solidFill>
            <a:srgbClr val="00B4FF"/>
          </a:solidFill>
          <a:ln>
            <a:noFill/>
          </a:ln>
          <a:effectLst>
            <a:glow rad="38100">
              <a:srgbClr val="00B4FF">
                <a:alpha val="2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6675120"/>
            <a:ext cx="7315200" cy="182880"/>
          </a:xfrm>
          <a:prstGeom prst="rect">
            <a:avLst/>
          </a:prstGeom>
          <a:noFill/>
        </p:spPr>
        <p:txBody>
          <a:bodyPr wrap="square">
            <a:spAutoFit/>
          </a:bodyPr>
          <a:lstStyle/>
          <a:p>
            <a:pPr algn="l"/>
            <a:r>
              <a:rPr sz="800" b="0" i="0">
                <a:solidFill>
                  <a:srgbClr val="3A4458"/>
                </a:solidFill>
                <a:latin typeface="Calibri"/>
              </a:rPr>
              <a:t>ACC  |  AGENTIC COMMANDERS COURSE</a:t>
            </a:r>
          </a:p>
        </p:txBody>
      </p:sp>
      <p:sp>
        <p:nvSpPr>
          <p:cNvPr id="4" name="Rectangle 3"/>
          <p:cNvSpPr/>
          <p:nvPr/>
        </p:nvSpPr>
        <p:spPr>
          <a:xfrm>
            <a:off x="0" y="0"/>
            <a:ext cx="228600" cy="6858000"/>
          </a:xfrm>
          <a:prstGeom prst="rect">
            <a:avLst/>
          </a:prstGeom>
          <a:solidFill>
            <a:srgbClr val="00B4FF"/>
          </a:solidFill>
          <a:ln>
            <a:noFill/>
          </a:ln>
          <a:effectLst>
            <a:glow rad="63500">
              <a:srgbClr val="00B4FF">
                <a:alpha val="25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548640"/>
            <a:ext cx="7315200" cy="347472"/>
          </a:xfrm>
          <a:prstGeom prst="rect">
            <a:avLst/>
          </a:prstGeom>
          <a:noFill/>
        </p:spPr>
        <p:txBody>
          <a:bodyPr wrap="square">
            <a:spAutoFit/>
          </a:bodyPr>
          <a:lstStyle/>
          <a:p>
            <a:pPr algn="l"/>
            <a:r>
              <a:rPr sz="1100" b="1" i="0">
                <a:solidFill>
                  <a:srgbClr val="00B4FF"/>
                </a:solidFill>
                <a:latin typeface="Calibri"/>
              </a:rPr>
              <a:t>END OF MODULE</a:t>
            </a:r>
          </a:p>
        </p:txBody>
      </p:sp>
      <p:sp>
        <p:nvSpPr>
          <p:cNvPr id="6" name="TextBox 5"/>
          <p:cNvSpPr txBox="1"/>
          <p:nvPr/>
        </p:nvSpPr>
        <p:spPr>
          <a:xfrm>
            <a:off x="411480" y="1005840"/>
            <a:ext cx="7315200" cy="1828800"/>
          </a:xfrm>
          <a:prstGeom prst="rect">
            <a:avLst/>
          </a:prstGeom>
          <a:noFill/>
        </p:spPr>
        <p:txBody>
          <a:bodyPr wrap="square">
            <a:spAutoFit/>
          </a:bodyPr>
          <a:lstStyle/>
          <a:p>
            <a:pPr algn="l"/>
            <a:r>
              <a:rPr sz="4000" b="1" i="0">
                <a:solidFill>
                  <a:srgbClr val="FFFFFF"/>
                </a:solidFill>
                <a:latin typeface="Calibri"/>
              </a:rPr>
              <a:t>Know the Terrain:
Filesystem &amp;
Terminal</a:t>
            </a:r>
          </a:p>
        </p:txBody>
      </p:sp>
      <p:sp>
        <p:nvSpPr>
          <p:cNvPr id="7" name="Rectangle 6"/>
          <p:cNvSpPr/>
          <p:nvPr/>
        </p:nvSpPr>
        <p:spPr>
          <a:xfrm>
            <a:off x="411480" y="2971800"/>
            <a:ext cx="5486400" cy="25400"/>
          </a:xfrm>
          <a:prstGeom prst="rect">
            <a:avLst/>
          </a:prstGeom>
          <a:solidFill>
            <a:srgbClr val="FFAA00"/>
          </a:solidFill>
          <a:ln>
            <a:noFill/>
          </a:ln>
          <a:effectLst>
            <a:glow rad="38100">
              <a:srgbClr val="FFAA00">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3154680"/>
            <a:ext cx="3657600" cy="320040"/>
          </a:xfrm>
          <a:prstGeom prst="rect">
            <a:avLst/>
          </a:prstGeom>
          <a:noFill/>
        </p:spPr>
        <p:txBody>
          <a:bodyPr wrap="square">
            <a:spAutoFit/>
          </a:bodyPr>
          <a:lstStyle/>
          <a:p>
            <a:pPr algn="l"/>
            <a:r>
              <a:rPr sz="1100" b="1" i="0">
                <a:solidFill>
                  <a:srgbClr val="FFAA00"/>
                </a:solidFill>
                <a:latin typeface="Calibri"/>
              </a:rPr>
              <a:t>NEXT STEPS</a:t>
            </a:r>
          </a:p>
        </p:txBody>
      </p:sp>
      <p:sp>
        <p:nvSpPr>
          <p:cNvPr id="9" name="TextBox 8"/>
          <p:cNvSpPr txBox="1"/>
          <p:nvPr/>
        </p:nvSpPr>
        <p:spPr>
          <a:xfrm>
            <a:off x="411480" y="3566160"/>
            <a:ext cx="6858000" cy="2560320"/>
          </a:xfrm>
          <a:prstGeom prst="rect">
            <a:avLst/>
          </a:prstGeom>
          <a:noFill/>
        </p:spPr>
        <p:txBody>
          <a:bodyPr wrap="square">
            <a:spAutoFit/>
          </a:bodyPr>
          <a:lstStyle/>
          <a:p>
            <a:pPr algn="l">
              <a:spcBef>
                <a:spcPts val="1000"/>
              </a:spcBef>
            </a:pPr>
            <a:r>
              <a:rPr sz="1400" b="0">
                <a:solidFill>
                  <a:srgbClr val="A8B4C8"/>
                </a:solidFill>
                <a:latin typeface="Calibri"/>
              </a:rPr>
              <a:t>  1.   Keep running short pwd/ls/cd reps until navigation is reflex.</a:t>
            </a:r>
          </a:p>
          <a:p>
            <a:pPr algn="l">
              <a:spcBef>
                <a:spcPts val="1000"/>
              </a:spcBef>
            </a:pPr>
            <a:r>
              <a:rPr sz="1400" b="0">
                <a:solidFill>
                  <a:srgbClr val="A8B4C8"/>
                </a:solidFill>
                <a:latin typeface="Calibri"/>
              </a:rPr>
              <a:t>  2.   Carry the verify-after-acting habit forward — it is graded at the capstone.</a:t>
            </a:r>
          </a:p>
          <a:p>
            <a:pPr algn="l">
              <a:spcBef>
                <a:spcPts val="1000"/>
              </a:spcBef>
            </a:pPr>
            <a:r>
              <a:rPr sz="1400" b="0">
                <a:solidFill>
                  <a:srgbClr val="A8B4C8"/>
                </a:solidFill>
                <a:latin typeface="Calibri"/>
              </a:rPr>
              <a:t>  3.   Complete all six hands-on transcripts as your module deliverable.</a:t>
            </a:r>
          </a:p>
          <a:p>
            <a:pPr algn="l">
              <a:spcBef>
                <a:spcPts val="1000"/>
              </a:spcBef>
            </a:pPr>
            <a:r>
              <a:rPr sz="1400" b="0">
                <a:solidFill>
                  <a:srgbClr val="A8B4C8"/>
                </a:solidFill>
                <a:latin typeface="Calibri"/>
              </a:rPr>
              <a:t>  4.   Next module: when an agent can change files at speed, you want a logbook you can rewind — version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