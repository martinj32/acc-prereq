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0"/>
            <a:ext cx="127000" cy="6858000"/>
          </a:xfrm>
          <a:prstGeom prst="rect">
            <a:avLst/>
          </a:prstGeom>
          <a:solidFill>
            <a:srgbClr val="00B4FF"/>
          </a:solidFill>
          <a:ln>
            <a:noFill/>
          </a:ln>
          <a:effectLst>
            <a:glow rad="635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74320"/>
            <a:ext cx="5486400" cy="320040"/>
          </a:xfrm>
          <a:prstGeom prst="rect">
            <a:avLst/>
          </a:prstGeom>
          <a:noFill/>
        </p:spPr>
        <p:txBody>
          <a:bodyPr wrap="square">
            <a:spAutoFit/>
          </a:bodyPr>
          <a:lstStyle/>
          <a:p>
            <a:pPr algn="l"/>
            <a:r>
              <a:rPr sz="1000" b="1" i="0">
                <a:solidFill>
                  <a:srgbClr val="00B4FF"/>
                </a:solidFill>
                <a:latin typeface="Calibri"/>
              </a:rPr>
              <a:t>AGENTIC COMMANDERS COURSE</a:t>
            </a:r>
          </a:p>
        </p:txBody>
      </p:sp>
      <p:sp>
        <p:nvSpPr>
          <p:cNvPr id="4" name="TextBox 3"/>
          <p:cNvSpPr txBox="1"/>
          <p:nvPr/>
        </p:nvSpPr>
        <p:spPr>
          <a:xfrm>
            <a:off x="274320" y="914400"/>
            <a:ext cx="5943600" cy="2560320"/>
          </a:xfrm>
          <a:prstGeom prst="rect">
            <a:avLst/>
          </a:prstGeom>
          <a:noFill/>
        </p:spPr>
        <p:txBody>
          <a:bodyPr wrap="square">
            <a:spAutoFit/>
          </a:bodyPr>
          <a:lstStyle/>
          <a:p>
            <a:pPr algn="l"/>
            <a:r>
              <a:rPr sz="4000" b="1" i="0">
                <a:solidFill>
                  <a:srgbClr val="FFFFFF"/>
                </a:solidFill>
                <a:latin typeface="Calibri"/>
              </a:rPr>
              <a:t>Terminal Basics:
The Terminal</a:t>
            </a:r>
          </a:p>
        </p:txBody>
      </p:sp>
      <p:sp>
        <p:nvSpPr>
          <p:cNvPr id="5" name="Rectangle 4"/>
          <p:cNvSpPr/>
          <p:nvPr/>
        </p:nvSpPr>
        <p:spPr>
          <a:xfrm>
            <a:off x="274320" y="3657600"/>
            <a:ext cx="5303520" cy="254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3794760"/>
            <a:ext cx="5486400" cy="457200"/>
          </a:xfrm>
          <a:prstGeom prst="rect">
            <a:avLst/>
          </a:prstGeom>
          <a:noFill/>
        </p:spPr>
        <p:txBody>
          <a:bodyPr wrap="square">
            <a:spAutoFit/>
          </a:bodyPr>
          <a:lstStyle/>
          <a:p>
            <a:pPr algn="l"/>
            <a:r>
              <a:rPr sz="1300" b="0" i="0">
                <a:solidFill>
                  <a:srgbClr val="A8B4C8"/>
                </a:solidFill>
                <a:latin typeface="Calibri"/>
              </a:rPr>
              <a:t>TERMINAL BASICS MODULE  |  PREREQUISITE</a:t>
            </a:r>
          </a:p>
        </p:txBody>
      </p:sp>
      <p:sp>
        <p:nvSpPr>
          <p:cNvPr id="7" name="Rectangle 6"/>
          <p:cNvSpPr/>
          <p:nvPr/>
        </p:nvSpPr>
        <p:spPr>
          <a:xfrm>
            <a:off x="6492240" y="320040"/>
            <a:ext cx="5394960" cy="60807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3040380"/>
            <a:ext cx="5394960" cy="274320"/>
          </a:xfrm>
          <a:prstGeom prst="rect">
            <a:avLst/>
          </a:prstGeom>
          <a:noFill/>
        </p:spPr>
        <p:txBody>
          <a:bodyPr wrap="square">
            <a:spAutoFit/>
          </a:bodyPr>
          <a:lstStyle/>
          <a:p>
            <a:pPr algn="ctr"/>
            <a:r>
              <a:rPr sz="900" b="1" i="0">
                <a:solidFill>
                  <a:srgbClr val="00B4FF"/>
                </a:solidFill>
                <a:latin typeface="Calibri"/>
              </a:rPr>
              <a:t>◼  IMAGE</a:t>
            </a:r>
          </a:p>
        </p:txBody>
      </p:sp>
      <p:sp>
        <p:nvSpPr>
          <p:cNvPr id="9" name="TextBox 8"/>
          <p:cNvSpPr txBox="1"/>
          <p:nvPr/>
        </p:nvSpPr>
        <p:spPr>
          <a:xfrm>
            <a:off x="6675120" y="3314700"/>
            <a:ext cx="5029200" cy="914400"/>
          </a:xfrm>
          <a:prstGeom prst="rect">
            <a:avLst/>
          </a:prstGeom>
          <a:noFill/>
        </p:spPr>
        <p:txBody>
          <a:bodyPr wrap="square">
            <a:spAutoFit/>
          </a:bodyPr>
          <a:lstStyle/>
          <a:p>
            <a:pPr algn="ctr"/>
            <a:r>
              <a:rPr sz="900" b="0" i="0">
                <a:solidFill>
                  <a:srgbClr val="A8B4C8"/>
                </a:solidFill>
                <a:latin typeface="Calibri"/>
              </a:rPr>
              <a:t>[IMAGE: Soldier at a command post terminal typing a command — focused and deliberate]</a:t>
            </a:r>
          </a:p>
        </p:txBody>
      </p:sp>
      <p:sp>
        <p:nvSpPr>
          <p:cNvPr id="10" name="Rectangle 9"/>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MODULE OVERVIEW</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Situation Brief</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325880"/>
            <a:ext cx="11365992" cy="96012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325880"/>
            <a:ext cx="50800" cy="96012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914400" cy="256032"/>
          </a:xfrm>
          <a:prstGeom prst="rect">
            <a:avLst/>
          </a:prstGeom>
          <a:noFill/>
        </p:spPr>
        <p:txBody>
          <a:bodyPr wrap="square">
            <a:spAutoFit/>
          </a:bodyPr>
          <a:lstStyle/>
          <a:p>
            <a:pPr algn="l"/>
            <a:r>
              <a:rPr sz="900" b="1" i="0">
                <a:solidFill>
                  <a:srgbClr val="FFAA00"/>
                </a:solidFill>
                <a:latin typeface="Calibri"/>
              </a:rPr>
              <a:t>BLUF</a:t>
            </a:r>
          </a:p>
        </p:txBody>
      </p:sp>
      <p:sp>
        <p:nvSpPr>
          <p:cNvPr id="10" name="TextBox 9"/>
          <p:cNvSpPr txBox="1"/>
          <p:nvPr/>
        </p:nvSpPr>
        <p:spPr>
          <a:xfrm>
            <a:off x="594360" y="1618488"/>
            <a:ext cx="11000232" cy="594360"/>
          </a:xfrm>
          <a:prstGeom prst="rect">
            <a:avLst/>
          </a:prstGeom>
          <a:noFill/>
        </p:spPr>
        <p:txBody>
          <a:bodyPr wrap="square">
            <a:spAutoFit/>
          </a:bodyPr>
          <a:lstStyle/>
          <a:p>
            <a:pPr algn="l"/>
            <a:r>
              <a:rPr sz="1400" b="0" i="0">
                <a:solidFill>
                  <a:srgbClr val="FFFFFF"/>
                </a:solidFill>
                <a:latin typeface="Calibri"/>
              </a:rPr>
              <a:t>The terminal is a typed way to give the computer the same instructions you used to give by clicking. You are learning these moves because the agent acts through the terminal — and you need to supervise.</a:t>
            </a:r>
          </a:p>
        </p:txBody>
      </p:sp>
      <p:sp>
        <p:nvSpPr>
          <p:cNvPr id="11" name="TextBox 10"/>
          <p:cNvSpPr txBox="1"/>
          <p:nvPr/>
        </p:nvSpPr>
        <p:spPr>
          <a:xfrm>
            <a:off x="411480" y="2377440"/>
            <a:ext cx="4572000" cy="320040"/>
          </a:xfrm>
          <a:prstGeom prst="rect">
            <a:avLst/>
          </a:prstGeom>
          <a:noFill/>
        </p:spPr>
        <p:txBody>
          <a:bodyPr wrap="square">
            <a:spAutoFit/>
          </a:bodyPr>
          <a:lstStyle/>
          <a:p>
            <a:pPr algn="l"/>
            <a:r>
              <a:rPr sz="1200" b="1" i="0">
                <a:solidFill>
                  <a:srgbClr val="FFAA00"/>
                </a:solidFill>
                <a:latin typeface="Calibri"/>
              </a:rPr>
              <a:t>⏱  Self-paced (approximately 60 minutes)</a:t>
            </a:r>
          </a:p>
        </p:txBody>
      </p:sp>
      <p:sp>
        <p:nvSpPr>
          <p:cNvPr id="12" name="Rectangle 11"/>
          <p:cNvSpPr/>
          <p:nvPr/>
        </p:nvSpPr>
        <p:spPr>
          <a:xfrm>
            <a:off x="411480" y="2788920"/>
            <a:ext cx="11365992" cy="36118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2788920"/>
            <a:ext cx="50800" cy="36118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852928"/>
            <a:ext cx="5486400" cy="256032"/>
          </a:xfrm>
          <a:prstGeom prst="rect">
            <a:avLst/>
          </a:prstGeom>
          <a:noFill/>
        </p:spPr>
        <p:txBody>
          <a:bodyPr wrap="square">
            <a:spAutoFit/>
          </a:bodyPr>
          <a:lstStyle/>
          <a:p>
            <a:pPr algn="l"/>
            <a:r>
              <a:rPr sz="900" b="1" i="0">
                <a:solidFill>
                  <a:srgbClr val="00B4FF"/>
                </a:solidFill>
                <a:latin typeface="Calibri"/>
              </a:rPr>
              <a:t>LEARNING OBJECTIVES</a:t>
            </a:r>
          </a:p>
        </p:txBody>
      </p:sp>
      <p:sp>
        <p:nvSpPr>
          <p:cNvPr id="15" name="TextBox 14"/>
          <p:cNvSpPr txBox="1"/>
          <p:nvPr/>
        </p:nvSpPr>
        <p:spPr>
          <a:xfrm>
            <a:off x="594360" y="3154680"/>
            <a:ext cx="11000232" cy="3108960"/>
          </a:xfrm>
          <a:prstGeom prst="rect">
            <a:avLst/>
          </a:prstGeom>
          <a:noFill/>
        </p:spPr>
        <p:txBody>
          <a:bodyPr wrap="square">
            <a:spAutoFit/>
          </a:bodyPr>
          <a:lstStyle/>
          <a:p>
            <a:pPr algn="l">
              <a:spcBef>
                <a:spcPts val="400"/>
              </a:spcBef>
            </a:pPr>
            <a:r>
              <a:rPr sz="1300" b="0">
                <a:solidFill>
                  <a:srgbClr val="A8B4C8"/>
                </a:solidFill>
                <a:latin typeface="Calibri"/>
              </a:rPr>
              <a:t>  ›  Open the terminal and run basic commands with confidence</a:t>
            </a:r>
          </a:p>
          <a:p>
            <a:pPr algn="l">
              <a:spcBef>
                <a:spcPts val="400"/>
              </a:spcBef>
            </a:pPr>
            <a:r>
              <a:rPr sz="1300" b="0">
                <a:solidFill>
                  <a:srgbClr val="A8B4C8"/>
                </a:solidFill>
                <a:latin typeface="Calibri"/>
              </a:rPr>
              <a:t>  ›  Navigate the filesystem using pwd, ls, and cd</a:t>
            </a:r>
          </a:p>
          <a:p>
            <a:pPr algn="l">
              <a:spcBef>
                <a:spcPts val="400"/>
              </a:spcBef>
            </a:pPr>
            <a:r>
              <a:rPr sz="1300" b="0">
                <a:solidFill>
                  <a:srgbClr val="A8B4C8"/>
                </a:solidFill>
                <a:latin typeface="Calibri"/>
              </a:rPr>
              <a:t>  ›  Create, copy, and move files from the command line</a:t>
            </a:r>
          </a:p>
          <a:p>
            <a:pPr algn="l">
              <a:spcBef>
                <a:spcPts val="400"/>
              </a:spcBef>
            </a:pPr>
            <a:r>
              <a:rPr sz="1300" b="0">
                <a:solidFill>
                  <a:srgbClr val="A8B4C8"/>
                </a:solidFill>
                <a:latin typeface="Calibri"/>
              </a:rPr>
              <a:t>  ›  Use absolute and relative paths correctly</a:t>
            </a:r>
          </a:p>
          <a:p>
            <a:pPr algn="l">
              <a:spcBef>
                <a:spcPts val="400"/>
              </a:spcBef>
            </a:pPr>
            <a:r>
              <a:rPr sz="1300" b="0">
                <a:solidFill>
                  <a:srgbClr val="A8B4C8"/>
                </a:solidFill>
                <a:latin typeface="Calibri"/>
              </a:rPr>
              <a:t>  ›  Apply tab-completion and the up-arrow to reduce errors</a:t>
            </a:r>
          </a:p>
          <a:p>
            <a:pPr algn="l">
              <a:spcBef>
                <a:spcPts val="400"/>
              </a:spcBef>
            </a:pPr>
            <a:r>
              <a:rPr sz="1300" b="0">
                <a:solidFill>
                  <a:srgbClr val="A8B4C8"/>
                </a:solidFill>
                <a:latin typeface="Calibri"/>
              </a:rPr>
              <a:t>  ›  Use flags and --help to extend any command</a:t>
            </a:r>
          </a:p>
          <a:p>
            <a:pPr algn="l">
              <a:spcBef>
                <a:spcPts val="400"/>
              </a:spcBef>
            </a:pPr>
            <a:r>
              <a:rPr sz="1300" b="0">
                <a:solidFill>
                  <a:srgbClr val="A8B4C8"/>
                </a:solidFill>
                <a:latin typeface="Calibri"/>
              </a:rPr>
              <a:t>  ›  Stop a running command with Ctrl+C</a:t>
            </a:r>
          </a:p>
          <a:p>
            <a:pPr algn="l">
              <a:spcBef>
                <a:spcPts val="400"/>
              </a:spcBef>
            </a:pPr>
            <a:r>
              <a:rPr sz="1300" b="0">
                <a:solidFill>
                  <a:srgbClr val="A8B4C8"/>
                </a:solidFill>
                <a:latin typeface="Calibri"/>
              </a:rPr>
              <a:t>  ›  Explain why version control matters once an agent has write access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01</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01</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What the
Terminal Is</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A typed instruction is the same as a click — but without the menu. It feels alien for about an hour.</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Soldier sitting at a terminal for the first time — cursor blinking, ready for input]</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Terminal Is Not Hacking</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The terminal is a typed way to give the computer instructions — the same instructions a click gives.</a:t>
            </a:r>
          </a:p>
          <a:p>
            <a:pPr algn="l">
              <a:spcBef>
                <a:spcPts val="700"/>
              </a:spcBef>
            </a:pPr>
            <a:r>
              <a:rPr sz="1500" b="0">
                <a:solidFill>
                  <a:srgbClr val="FFFFFF"/>
                </a:solidFill>
                <a:latin typeface="Calibri"/>
              </a:rPr>
              <a:t>  ›  The difference is precision: a click is constrained by what a menu shows you.</a:t>
            </a:r>
          </a:p>
          <a:p>
            <a:pPr algn="l">
              <a:spcBef>
                <a:spcPts val="700"/>
              </a:spcBef>
            </a:pPr>
            <a:r>
              <a:rPr sz="1500" b="0">
                <a:solidFill>
                  <a:srgbClr val="FFFFFF"/>
                </a:solidFill>
                <a:latin typeface="Calibri"/>
              </a:rPr>
              <a:t>  ›  A command can express anything the machine understands.</a:t>
            </a:r>
          </a:p>
          <a:p>
            <a:pPr algn="l">
              <a:spcBef>
                <a:spcPts val="700"/>
              </a:spcBef>
            </a:pPr>
            <a:r>
              <a:rPr sz="1500" b="0">
                <a:solidFill>
                  <a:srgbClr val="FFFFFF"/>
                </a:solidFill>
                <a:latin typeface="Calibri"/>
              </a:rPr>
              <a:t>  ›  The prompt line is where your typing goes.</a:t>
            </a:r>
          </a:p>
          <a:p>
            <a:pPr algn="l">
              <a:spcBef>
                <a:spcPts val="300"/>
              </a:spcBef>
            </a:pPr>
            <a:r>
              <a:rPr sz="1300" b="0">
                <a:solidFill>
                  <a:srgbClr val="A8B4C8"/>
                </a:solidFill>
                <a:latin typeface="Calibri"/>
              </a:rPr>
              <a:t>      ◦  Mac/Linux: ends with $    |    Windows PowerShell: ends with &gt;</a:t>
            </a:r>
          </a:p>
          <a:p>
            <a:pPr algn="l">
              <a:spcBef>
                <a:spcPts val="300"/>
              </a:spcBef>
            </a:pPr>
            <a:r>
              <a:rPr sz="1300" b="0">
                <a:solidFill>
                  <a:srgbClr val="A8B4C8"/>
                </a:solidFill>
                <a:latin typeface="Calibri"/>
              </a:rPr>
              <a:t>      ◦  When you see that character, the terminal is ready for input.</a:t>
            </a:r>
          </a:p>
          <a:p>
            <a:pPr algn="l">
              <a:spcBef>
                <a:spcPts val="700"/>
              </a:spcBef>
            </a:pPr>
            <a:r>
              <a:rPr sz="1500" b="0">
                <a:solidFill>
                  <a:srgbClr val="FFFFFF"/>
                </a:solidFill>
                <a:latin typeface="Calibri"/>
              </a:rPr>
              <a:t>  ›  Nothing in this module can hurt the machine — all commands are read-only and harmless.</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Instructor: Name the frustration before a student says it. 'Some of you are wondering why an AI course spent time on the command line.' Then connect it: the agent acts through the terminal. The student who cannot read the terminal cannot supervise an agent using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Why the Terminal Matters Here</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443484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443484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4160520"/>
          </a:xfrm>
          <a:prstGeom prst="rect">
            <a:avLst/>
          </a:prstGeom>
          <a:noFill/>
        </p:spPr>
        <p:txBody>
          <a:bodyPr wrap="square">
            <a:spAutoFit/>
          </a:bodyPr>
          <a:lstStyle/>
          <a:p>
            <a:pPr algn="l">
              <a:spcBef>
                <a:spcPts val="700"/>
              </a:spcBef>
            </a:pPr>
            <a:r>
              <a:rPr sz="1500" b="0">
                <a:solidFill>
                  <a:srgbClr val="FFFFFF"/>
                </a:solidFill>
                <a:latin typeface="Calibri"/>
              </a:rPr>
              <a:t>  ›  The agent acts through the terminal.</a:t>
            </a:r>
          </a:p>
          <a:p>
            <a:pPr algn="l">
              <a:spcBef>
                <a:spcPts val="700"/>
              </a:spcBef>
            </a:pPr>
            <a:r>
              <a:rPr sz="1500" b="0">
                <a:solidFill>
                  <a:srgbClr val="FFFFFF"/>
                </a:solidFill>
                <a:latin typeface="Calibri"/>
              </a:rPr>
              <a:t>  ›  Every file read, every command run, every edit made — the agent does it through a terminal interface.</a:t>
            </a:r>
          </a:p>
          <a:p>
            <a:pPr algn="l">
              <a:spcBef>
                <a:spcPts val="700"/>
              </a:spcBef>
            </a:pPr>
            <a:r>
              <a:rPr sz="1500" b="0">
                <a:solidFill>
                  <a:srgbClr val="FFFFFF"/>
                </a:solidFill>
                <a:latin typeface="Calibri"/>
              </a:rPr>
              <a:t>  ›  You need to understand the terrain it operates on.</a:t>
            </a:r>
          </a:p>
          <a:p>
            <a:pPr algn="l">
              <a:spcBef>
                <a:spcPts val="700"/>
              </a:spcBef>
            </a:pPr>
            <a:r>
              <a:rPr sz="1500" b="0">
                <a:solidFill>
                  <a:srgbClr val="FFFFFF"/>
                </a:solidFill>
                <a:latin typeface="Calibri"/>
              </a:rPr>
              <a:t>  ›  You do not need to be an expert.</a:t>
            </a:r>
          </a:p>
          <a:p>
            <a:pPr algn="l">
              <a:spcBef>
                <a:spcPts val="300"/>
              </a:spcBef>
            </a:pPr>
            <a:r>
              <a:rPr sz="1300" b="0">
                <a:solidFill>
                  <a:srgbClr val="A8B4C8"/>
                </a:solidFill>
                <a:latin typeface="Calibri"/>
              </a:rPr>
              <a:t>      ◦  You need enough fluency to read what the agent is doing and intervene when it goes wrong.</a:t>
            </a:r>
          </a:p>
          <a:p>
            <a:pPr algn="l">
              <a:spcBef>
                <a:spcPts val="700"/>
              </a:spcBef>
            </a:pPr>
            <a:r>
              <a:rPr sz="1500" b="0">
                <a:solidFill>
                  <a:srgbClr val="FFFFFF"/>
                </a:solidFill>
                <a:latin typeface="Calibri"/>
              </a:rPr>
              <a:t>  ›  These are the exact moves an agent makes on your machine.</a:t>
            </a:r>
          </a:p>
          <a:p>
            <a:pPr algn="l">
              <a:spcBef>
                <a:spcPts val="700"/>
              </a:spcBef>
            </a:pPr>
            <a:r>
              <a:rPr sz="1500" b="0">
                <a:solidFill>
                  <a:srgbClr val="FFFFFF"/>
                </a:solidFill>
                <a:latin typeface="Calibri"/>
              </a:rPr>
              <a:t>  ›  You are learning them so you can supervise.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Your First Command</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Scenario: Running date to confirm the terminal is alive</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6492240"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6217920" cy="4663440"/>
          </a:xfrm>
          <a:prstGeom prst="rect">
            <a:avLst/>
          </a:prstGeom>
          <a:noFill/>
        </p:spPr>
        <p:txBody>
          <a:bodyPr wrap="square">
            <a:spAutoFit/>
          </a:bodyPr>
          <a:lstStyle/>
          <a:p>
            <a:pPr algn="l">
              <a:spcBef>
                <a:spcPts val="300"/>
              </a:spcBef>
            </a:pPr>
            <a:r>
              <a:rPr sz="1200" b="0">
                <a:solidFill>
                  <a:srgbClr val="FFFFFF"/>
                </a:solidFill>
                <a:latin typeface="Calibri"/>
              </a:rPr>
              <a:t>Open the terminal:</a:t>
            </a:r>
          </a:p>
          <a:p>
            <a:pPr algn="l">
              <a:spcBef>
                <a:spcPts val="300"/>
              </a:spcBef>
            </a:pPr>
            <a:r>
              <a:rPr sz="1200" b="0">
                <a:solidFill>
                  <a:srgbClr val="A8B4C8"/>
                </a:solidFill>
                <a:latin typeface="Calibri"/>
              </a:rPr>
              <a:t>  Windows: search 'PowerShell' or 'Terminal' in the Start menu</a:t>
            </a:r>
          </a:p>
          <a:p>
            <a:pPr algn="l">
              <a:spcBef>
                <a:spcPts val="300"/>
              </a:spcBef>
            </a:pPr>
            <a:r>
              <a:rPr sz="1200" b="0">
                <a:solidFill>
                  <a:srgbClr val="A8B4C8"/>
                </a:solidFill>
                <a:latin typeface="Calibri"/>
              </a:rPr>
              <a:t>  Mac: search 'Terminal' in Spotlight</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Mac / Linux:      type  date  and press Enter</a:t>
            </a:r>
          </a:p>
          <a:p>
            <a:pPr algn="l">
              <a:spcBef>
                <a:spcPts val="300"/>
              </a:spcBef>
            </a:pPr>
            <a:r>
              <a:rPr sz="1200" b="0">
                <a:solidFill>
                  <a:srgbClr val="FFFFFF"/>
                </a:solidFill>
                <a:latin typeface="Calibri"/>
              </a:rPr>
              <a:t>Windows PowerShell:  type  Get-Date  and press Enter</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The terminal printed the current date and returned the prompt.</a:t>
            </a:r>
          </a:p>
          <a:p>
            <a:pPr algn="l">
              <a:spcBef>
                <a:spcPts val="300"/>
              </a:spcBef>
            </a:pPr>
            <a:r>
              <a:rPr sz="1200" b="0">
                <a:solidFill>
                  <a:srgbClr val="FFFFFF"/>
                </a:solidFill>
                <a:latin typeface="Calibri"/>
              </a:rPr>
              <a:t>That is a command.</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You gave the machine an instruction. It executed. The prompt returned.</a:t>
            </a:r>
          </a:p>
          <a:p>
            <a:pPr algn="l">
              <a:spcBef>
                <a:spcPts val="300"/>
              </a:spcBef>
            </a:pPr>
            <a:r>
              <a:rPr sz="1200" b="0">
                <a:solidFill>
                  <a:srgbClr val="FFFFFF"/>
                </a:solidFill>
                <a:latin typeface="Calibri"/>
              </a:rPr>
              <a:t>That is the full loop — and everything else is a variation of it.</a:t>
            </a:r>
          </a:p>
        </p:txBody>
      </p:sp>
      <p:sp>
        <p:nvSpPr>
          <p:cNvPr id="10" name="Rectangle 9"/>
          <p:cNvSpPr/>
          <p:nvPr/>
        </p:nvSpPr>
        <p:spPr>
          <a:xfrm>
            <a:off x="7086600" y="1417320"/>
            <a:ext cx="4690872" cy="502920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3611880"/>
            <a:ext cx="4690872" cy="274320"/>
          </a:xfrm>
          <a:prstGeom prst="rect">
            <a:avLst/>
          </a:prstGeom>
          <a:noFill/>
        </p:spPr>
        <p:txBody>
          <a:bodyPr wrap="square">
            <a:spAutoFit/>
          </a:bodyPr>
          <a:lstStyle/>
          <a:p>
            <a:pPr algn="ctr"/>
            <a:r>
              <a:rPr sz="900" b="1" i="0">
                <a:solidFill>
                  <a:srgbClr val="00B4FF"/>
                </a:solidFill>
                <a:latin typeface="Calibri"/>
              </a:rPr>
              <a:t>◼  IMAGE</a:t>
            </a:r>
          </a:p>
        </p:txBody>
      </p:sp>
      <p:sp>
        <p:nvSpPr>
          <p:cNvPr id="12" name="TextBox 11"/>
          <p:cNvSpPr txBox="1"/>
          <p:nvPr/>
        </p:nvSpPr>
        <p:spPr>
          <a:xfrm>
            <a:off x="7269480" y="3886200"/>
            <a:ext cx="4325112" cy="914400"/>
          </a:xfrm>
          <a:prstGeom prst="rect">
            <a:avLst/>
          </a:prstGeom>
          <a:noFill/>
        </p:spPr>
        <p:txBody>
          <a:bodyPr wrap="square">
            <a:spAutoFit/>
          </a:bodyPr>
          <a:lstStyle/>
          <a:p>
            <a:pPr algn="ctr"/>
            <a:r>
              <a:rPr sz="900" b="0" i="0">
                <a:solidFill>
                  <a:srgbClr val="A8B4C8"/>
                </a:solidFill>
                <a:latin typeface="Calibri"/>
              </a:rPr>
              <a:t>[IMAGE: Soldier's screen showing a date output in a terminal window — first successful command]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typed a command and saw a response.
What is the difference between that and clicking a button in an app?
What stayed the same?
What does a terminal actually do — in one sentence?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What the Terminal Is</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Open the terminal on your machine. Sit with the blinking cursor for ten seconds. Name the feeling.</a:t>
            </a:r>
          </a:p>
          <a:p>
            <a:pPr algn="l">
              <a:spcBef>
                <a:spcPts val="1000"/>
              </a:spcBef>
            </a:pPr>
            <a:r>
              <a:rPr sz="1400" b="0">
                <a:solidFill>
                  <a:srgbClr val="FFFFFF"/>
                </a:solidFill>
                <a:latin typeface="Calibri"/>
              </a:rPr>
              <a:t>  2.   Mac/WSL: run  date, whoami, pwd, ls, echo "hello"  — one at a time, read each output.</a:t>
            </a:r>
          </a:p>
          <a:p>
            <a:pPr algn="l">
              <a:spcBef>
                <a:spcPts val="1000"/>
              </a:spcBef>
            </a:pPr>
            <a:r>
              <a:rPr sz="1400" b="0">
                <a:solidFill>
                  <a:srgbClr val="FFFFFF"/>
                </a:solidFill>
                <a:latin typeface="Calibri"/>
              </a:rPr>
              <a:t>  3.   Windows PowerShell: run  Get-Date, $env:USERNAME, Get-Location, Get-ChildItem, Write-Output "hello"</a:t>
            </a:r>
          </a:p>
          <a:p>
            <a:pPr algn="l">
              <a:spcBef>
                <a:spcPts val="1000"/>
              </a:spcBef>
            </a:pPr>
            <a:r>
              <a:rPr sz="1400" b="0">
                <a:solidFill>
                  <a:srgbClr val="FFFFFF"/>
                </a:solidFill>
                <a:latin typeface="Calibri"/>
              </a:rPr>
              <a:t>  4.   Close the terminal and open it again. Re-run one command from memory without looking at the list.</a:t>
            </a:r>
          </a:p>
          <a:p>
            <a:pPr algn="l">
              <a:spcBef>
                <a:spcPts val="1000"/>
              </a:spcBef>
            </a:pPr>
            <a:r>
              <a:rPr sz="1400" b="0">
                <a:solidFill>
                  <a:srgbClr val="FFFFFF"/>
                </a:solidFill>
                <a:latin typeface="Calibri"/>
              </a:rPr>
              <a:t>  5.   You opened it, ran five things, and closed it. The anxiety has a smaller surface area now.</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running five commands in sequence at a terminal — reading each output before continuing]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What the Terminal Is</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The terminal accepts typed instructions and passes them to the OS — the same as clicking, without the menu.</a:t>
            </a:r>
          </a:p>
          <a:p>
            <a:pPr algn="l">
              <a:spcBef>
                <a:spcPts val="1400"/>
              </a:spcBef>
            </a:pPr>
            <a:r>
              <a:rPr sz="1600" b="0">
                <a:solidFill>
                  <a:srgbClr val="FFFFFF"/>
                </a:solidFill>
                <a:latin typeface="Calibri"/>
              </a:rPr>
              <a:t>  ›  The prompt ($  or  &gt;) means the terminal is ready. The prompt returning means the command finished.</a:t>
            </a:r>
          </a:p>
          <a:p>
            <a:pPr algn="l">
              <a:spcBef>
                <a:spcPts val="1400"/>
              </a:spcBef>
            </a:pPr>
            <a:r>
              <a:rPr sz="1600" b="0">
                <a:solidFill>
                  <a:srgbClr val="FFFFFF"/>
                </a:solidFill>
                <a:latin typeface="Calibri"/>
              </a:rPr>
              <a:t>  ›  The agent acts through the terminal. You learn it to supervise.</a:t>
            </a:r>
          </a:p>
          <a:p>
            <a:pPr algn="l">
              <a:spcBef>
                <a:spcPts val="1400"/>
              </a:spcBef>
            </a:pPr>
            <a:r>
              <a:rPr sz="1600" b="0">
                <a:solidFill>
                  <a:srgbClr val="FFFFFF"/>
                </a:solidFill>
                <a:latin typeface="Calibri"/>
              </a:rPr>
              <a:t>  ›  Nothing in this section can damage the machine — all commands are read-only.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02</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02</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Navigating:
Where Am I</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Three commands cover most navigation — pwd, ls, cd — and knowing them cold means you can never stay lost.</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Soldier using a map and compass to confirm position before moving — deliberate orientation]</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Three Navigation Commands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pwd — Print Working Directory. Your current location in the tree.</a:t>
            </a:r>
          </a:p>
          <a:p>
            <a:pPr algn="l">
              <a:spcBef>
                <a:spcPts val="300"/>
              </a:spcBef>
            </a:pPr>
            <a:r>
              <a:rPr sz="1300" b="0">
                <a:solidFill>
                  <a:srgbClr val="A8B4C8"/>
                </a:solidFill>
                <a:latin typeface="Calibri"/>
              </a:rPr>
              <a:t>      ◦  Any time you feel lost, type pwd. You can never be permanently lost if you can always ask where you are.</a:t>
            </a:r>
          </a:p>
          <a:p>
            <a:pPr algn="l">
              <a:spcBef>
                <a:spcPts val="700"/>
              </a:spcBef>
            </a:pPr>
            <a:r>
              <a:rPr sz="1500" b="0">
                <a:solidFill>
                  <a:srgbClr val="FFFFFF"/>
                </a:solidFill>
                <a:latin typeface="Calibri"/>
              </a:rPr>
              <a:t>  ›  ls — List. Everything in the current folder.</a:t>
            </a:r>
          </a:p>
          <a:p>
            <a:pPr algn="l">
              <a:spcBef>
                <a:spcPts val="300"/>
              </a:spcBef>
            </a:pPr>
            <a:r>
              <a:rPr sz="1300" b="0">
                <a:solidFill>
                  <a:srgbClr val="A8B4C8"/>
                </a:solidFill>
                <a:latin typeface="Calibri"/>
              </a:rPr>
              <a:t>      ◦  Add  -la  (Mac/WSL) for details including hidden files.</a:t>
            </a:r>
          </a:p>
          <a:p>
            <a:pPr algn="l">
              <a:spcBef>
                <a:spcPts val="700"/>
              </a:spcBef>
            </a:pPr>
            <a:r>
              <a:rPr sz="1500" b="0">
                <a:solidFill>
                  <a:srgbClr val="FFFFFF"/>
                </a:solidFill>
                <a:latin typeface="Calibri"/>
              </a:rPr>
              <a:t>  ›  cd foldername — Change Directory. Move into a folder.</a:t>
            </a:r>
          </a:p>
          <a:p>
            <a:pPr algn="l">
              <a:spcBef>
                <a:spcPts val="300"/>
              </a:spcBef>
            </a:pPr>
            <a:r>
              <a:rPr sz="1300" b="0">
                <a:solidFill>
                  <a:srgbClr val="A8B4C8"/>
                </a:solidFill>
                <a:latin typeface="Calibri"/>
              </a:rPr>
              <a:t>      ◦  cd .. — Move up one level. Two dots always means 'the folder above this one.'</a:t>
            </a:r>
          </a:p>
          <a:p>
            <a:pPr algn="l">
              <a:spcBef>
                <a:spcPts val="700"/>
              </a:spcBef>
            </a:pPr>
            <a:r>
              <a:rPr sz="1500" b="0">
                <a:solidFill>
                  <a:srgbClr val="FFFFFF"/>
                </a:solidFill>
                <a:latin typeface="Calibri"/>
              </a:rPr>
              <a:t>  ›  These three commands replace every click you made in The Machine module.</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Reps over coverage. Same three commands, many short repetitions, spread across several days. Do not rush to the next section. One capability at a time — reps build muscle memory.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Walking the Tree</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Scenario: Navigate the same filesystem you explored by clicking — now typed</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6492240"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6217920" cy="4663440"/>
          </a:xfrm>
          <a:prstGeom prst="rect">
            <a:avLst/>
          </a:prstGeom>
          <a:noFill/>
        </p:spPr>
        <p:txBody>
          <a:bodyPr wrap="square">
            <a:spAutoFit/>
          </a:bodyPr>
          <a:lstStyle/>
          <a:p>
            <a:pPr algn="l">
              <a:spcBef>
                <a:spcPts val="300"/>
              </a:spcBef>
            </a:pPr>
            <a:r>
              <a:rPr sz="1200" b="0">
                <a:solidFill>
                  <a:srgbClr val="FFFFFF"/>
                </a:solidFill>
                <a:latin typeface="Calibri"/>
              </a:rPr>
              <a:t>pwd              # See where you are</a:t>
            </a:r>
          </a:p>
          <a:p>
            <a:pPr algn="l">
              <a:spcBef>
                <a:spcPts val="300"/>
              </a:spcBef>
            </a:pPr>
            <a:r>
              <a:rPr sz="1200" b="0">
                <a:solidFill>
                  <a:srgbClr val="FFFFFF"/>
                </a:solidFill>
                <a:latin typeface="Calibri"/>
              </a:rPr>
              <a:t>ls               # See what is here</a:t>
            </a:r>
          </a:p>
          <a:p>
            <a:pPr algn="l">
              <a:spcBef>
                <a:spcPts val="300"/>
              </a:spcBef>
            </a:pPr>
            <a:r>
              <a:rPr sz="1200" b="0">
                <a:solidFill>
                  <a:srgbClr val="FFFFFF"/>
                </a:solidFill>
                <a:latin typeface="Calibri"/>
              </a:rPr>
              <a:t>cd Documents     # Move into Documents</a:t>
            </a:r>
          </a:p>
          <a:p>
            <a:pPr algn="l">
              <a:spcBef>
                <a:spcPts val="300"/>
              </a:spcBef>
            </a:pPr>
            <a:r>
              <a:rPr sz="1200" b="0">
                <a:solidFill>
                  <a:srgbClr val="FFFFFF"/>
                </a:solidFill>
                <a:latin typeface="Calibri"/>
              </a:rPr>
              <a:t>pwd              # Confirm you moved</a:t>
            </a:r>
          </a:p>
          <a:p>
            <a:pPr algn="l">
              <a:spcBef>
                <a:spcPts val="300"/>
              </a:spcBef>
            </a:pPr>
            <a:r>
              <a:rPr sz="1200" b="0">
                <a:solidFill>
                  <a:srgbClr val="FFFFFF"/>
                </a:solidFill>
                <a:latin typeface="Calibri"/>
              </a:rPr>
              <a:t>ls               # See what is in Documents</a:t>
            </a:r>
          </a:p>
          <a:p>
            <a:pPr algn="l">
              <a:spcBef>
                <a:spcPts val="300"/>
              </a:spcBef>
            </a:pPr>
            <a:r>
              <a:rPr sz="1200" b="0">
                <a:solidFill>
                  <a:srgbClr val="FFFFFF"/>
                </a:solidFill>
                <a:latin typeface="Calibri"/>
              </a:rPr>
              <a:t>cd ..            # Move back up one level</a:t>
            </a:r>
          </a:p>
          <a:p>
            <a:pPr algn="l">
              <a:spcBef>
                <a:spcPts val="300"/>
              </a:spcBef>
            </a:pPr>
            <a:r>
              <a:rPr sz="1200" b="0">
                <a:solidFill>
                  <a:srgbClr val="FFFFFF"/>
                </a:solidFill>
                <a:latin typeface="Calibri"/>
              </a:rPr>
              <a:t>pwd              # Confirm you are back</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Walk this sequence on your own machine.</a:t>
            </a:r>
          </a:p>
          <a:p>
            <a:pPr algn="l">
              <a:spcBef>
                <a:spcPts val="300"/>
              </a:spcBef>
            </a:pPr>
            <a:r>
              <a:rPr sz="1200" b="0">
                <a:solidFill>
                  <a:srgbClr val="FFFFFF"/>
                </a:solidFill>
                <a:latin typeface="Calibri"/>
              </a:rPr>
              <a:t>These are the exact same moves from The Machine module — same tree, typed.</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pwd is your reset button. Run it any time you feel lost.</a:t>
            </a:r>
          </a:p>
        </p:txBody>
      </p:sp>
      <p:sp>
        <p:nvSpPr>
          <p:cNvPr id="10" name="Rectangle 9"/>
          <p:cNvSpPr/>
          <p:nvPr/>
        </p:nvSpPr>
        <p:spPr>
          <a:xfrm>
            <a:off x="7086600" y="1417320"/>
            <a:ext cx="4690872" cy="502920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3611880"/>
            <a:ext cx="4690872" cy="274320"/>
          </a:xfrm>
          <a:prstGeom prst="rect">
            <a:avLst/>
          </a:prstGeom>
          <a:noFill/>
        </p:spPr>
        <p:txBody>
          <a:bodyPr wrap="square">
            <a:spAutoFit/>
          </a:bodyPr>
          <a:lstStyle/>
          <a:p>
            <a:pPr algn="ctr"/>
            <a:r>
              <a:rPr sz="900" b="1" i="0">
                <a:solidFill>
                  <a:srgbClr val="00B4FF"/>
                </a:solidFill>
                <a:latin typeface="Calibri"/>
              </a:rPr>
              <a:t>◼  IMAGE</a:t>
            </a:r>
          </a:p>
        </p:txBody>
      </p:sp>
      <p:sp>
        <p:nvSpPr>
          <p:cNvPr id="12" name="TextBox 11"/>
          <p:cNvSpPr txBox="1"/>
          <p:nvPr/>
        </p:nvSpPr>
        <p:spPr>
          <a:xfrm>
            <a:off x="7269480" y="3886200"/>
            <a:ext cx="4325112" cy="914400"/>
          </a:xfrm>
          <a:prstGeom prst="rect">
            <a:avLst/>
          </a:prstGeom>
          <a:noFill/>
        </p:spPr>
        <p:txBody>
          <a:bodyPr wrap="square">
            <a:spAutoFit/>
          </a:bodyPr>
          <a:lstStyle/>
          <a:p>
            <a:pPr algn="ctr"/>
            <a:r>
              <a:rPr sz="900" b="0" i="0">
                <a:solidFill>
                  <a:srgbClr val="A8B4C8"/>
                </a:solidFill>
                <a:latin typeface="Calibri"/>
              </a:rPr>
              <a:t>[IMAGE: Soldier navigating a directory tree on screen — each cd command confirmed with pwd]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are in the terminal and have no idea where you are in the filesystem.
What is the first command you run — and why that one first?
You typed  cd Documents  and then  pwd.
What does pwd tell you, and how does it prove you moved?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Navigating: Where Am I, What Is Here</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Open the terminal. Run  pwd. Read the path. Find that same location in File Explorer.</a:t>
            </a:r>
          </a:p>
          <a:p>
            <a:pPr algn="l">
              <a:spcBef>
                <a:spcPts val="1000"/>
              </a:spcBef>
            </a:pPr>
            <a:r>
              <a:rPr sz="1400" b="0">
                <a:solidFill>
                  <a:srgbClr val="FFFFFF"/>
                </a:solidFill>
                <a:latin typeface="Calibri"/>
              </a:rPr>
              <a:t>  2.   Run  ls. Identify three items by name.</a:t>
            </a:r>
          </a:p>
          <a:p>
            <a:pPr algn="l">
              <a:spcBef>
                <a:spcPts val="1000"/>
              </a:spcBef>
            </a:pPr>
            <a:r>
              <a:rPr sz="1400" b="0">
                <a:solidFill>
                  <a:srgbClr val="FFFFFF"/>
                </a:solidFill>
                <a:latin typeface="Calibri"/>
              </a:rPr>
              <a:t>  3.   Run  cd  to move into one of those items.</a:t>
            </a:r>
          </a:p>
          <a:p>
            <a:pPr algn="l">
              <a:spcBef>
                <a:spcPts val="1000"/>
              </a:spcBef>
            </a:pPr>
            <a:r>
              <a:rPr sz="1400" b="0">
                <a:solidFill>
                  <a:srgbClr val="FFFFFF"/>
                </a:solidFill>
                <a:latin typeface="Calibri"/>
              </a:rPr>
              <a:t>  4.   Run  pwd  and  ls  again — confirm where you are and what is here.</a:t>
            </a:r>
          </a:p>
          <a:p>
            <a:pPr algn="l">
              <a:spcBef>
                <a:spcPts val="1000"/>
              </a:spcBef>
            </a:pPr>
            <a:r>
              <a:rPr sz="1400" b="0">
                <a:solidFill>
                  <a:srgbClr val="FFFFFF"/>
                </a:solidFill>
                <a:latin typeface="Calibri"/>
              </a:rPr>
              <a:t>  5.   Run  cd ..  to go back up. Run  pwd  to confirm.</a:t>
            </a:r>
          </a:p>
          <a:p>
            <a:pPr algn="l">
              <a:spcBef>
                <a:spcPts val="1000"/>
              </a:spcBef>
            </a:pPr>
            <a:r>
              <a:rPr sz="1400" b="0">
                <a:solidFill>
                  <a:srgbClr val="FFFFFF"/>
                </a:solidFill>
                <a:latin typeface="Calibri"/>
              </a:rPr>
              <a:t>  6.   Repeat this cycle until it feels routine.</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alternating between File Explorer and terminal — matching what they see in each view]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Navigating: Where Am I, What Is Here</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pwd prints your current location — run it any time you feel lost.</a:t>
            </a:r>
          </a:p>
          <a:p>
            <a:pPr algn="l">
              <a:spcBef>
                <a:spcPts val="1400"/>
              </a:spcBef>
            </a:pPr>
            <a:r>
              <a:rPr sz="1600" b="0">
                <a:solidFill>
                  <a:srgbClr val="FFFFFF"/>
                </a:solidFill>
                <a:latin typeface="Calibri"/>
              </a:rPr>
              <a:t>  ›  ls lists the contents of the current folder.</a:t>
            </a:r>
          </a:p>
          <a:p>
            <a:pPr algn="l">
              <a:spcBef>
                <a:spcPts val="1400"/>
              </a:spcBef>
            </a:pPr>
            <a:r>
              <a:rPr sz="1600" b="0">
                <a:solidFill>
                  <a:srgbClr val="FFFFFF"/>
                </a:solidFill>
                <a:latin typeface="Calibri"/>
              </a:rPr>
              <a:t>  ›  cd foldername moves in;  cd ..  moves up one level.</a:t>
            </a:r>
          </a:p>
          <a:p>
            <a:pPr algn="l">
              <a:spcBef>
                <a:spcPts val="1400"/>
              </a:spcBef>
            </a:pPr>
            <a:r>
              <a:rPr sz="1600" b="0">
                <a:solidFill>
                  <a:srgbClr val="FFFFFF"/>
                </a:solidFill>
                <a:latin typeface="Calibri"/>
              </a:rPr>
              <a:t>  ›  These three commands replace every navigation click from The Machine module.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03</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03</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Acting: Make,
Move, Copy</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Navigation gets you to the position. Now you act on it — and confirm every action before moving on.</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Soldier creating a field record and then making a copy for the next echelon — deliberate and verified]</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Four Action Commands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mkdir foldername — Make a new folder.</a:t>
            </a:r>
          </a:p>
          <a:p>
            <a:pPr algn="l">
              <a:spcBef>
                <a:spcPts val="700"/>
              </a:spcBef>
            </a:pPr>
            <a:r>
              <a:rPr sz="1500" b="0">
                <a:solidFill>
                  <a:srgbClr val="FFFFFF"/>
                </a:solidFill>
                <a:latin typeface="Calibri"/>
              </a:rPr>
              <a:t>  ›  touch filename.txt (Mac/WSL) or New-Item filename.txt (PowerShell) — Make a new empty file.</a:t>
            </a:r>
          </a:p>
          <a:p>
            <a:pPr algn="l">
              <a:spcBef>
                <a:spcPts val="700"/>
              </a:spcBef>
            </a:pPr>
            <a:r>
              <a:rPr sz="1500" b="0">
                <a:solidFill>
                  <a:srgbClr val="FFFFFF"/>
                </a:solidFill>
                <a:latin typeface="Calibri"/>
              </a:rPr>
              <a:t>  ›  cp source destination — Copy a file.</a:t>
            </a:r>
          </a:p>
          <a:p>
            <a:pPr algn="l">
              <a:spcBef>
                <a:spcPts val="700"/>
              </a:spcBef>
            </a:pPr>
            <a:r>
              <a:rPr sz="1500" b="0">
                <a:solidFill>
                  <a:srgbClr val="FFFFFF"/>
                </a:solidFill>
                <a:latin typeface="Calibri"/>
              </a:rPr>
              <a:t>  ›  mv source destination — Move or rename a file.</a:t>
            </a:r>
          </a:p>
          <a:p>
            <a:pPr algn="l">
              <a:spcBef>
                <a:spcPts val="700"/>
              </a:spcBef>
            </a:pPr>
            <a:r>
              <a:rPr sz="1500" b="0">
                <a:solidFill>
                  <a:srgbClr val="FFFFFF"/>
                </a:solidFill>
                <a:latin typeface="Calibri"/>
              </a:rPr>
              <a:t>  ›  Every action you take, you confirm. Run ls after every command.</a:t>
            </a:r>
          </a:p>
          <a:p>
            <a:pPr algn="l">
              <a:spcBef>
                <a:spcPts val="700"/>
              </a:spcBef>
            </a:pPr>
            <a:r>
              <a:rPr sz="1500" b="0">
                <a:solidFill>
                  <a:srgbClr val="FFFFFF"/>
                </a:solidFill>
                <a:latin typeface="Calibri"/>
              </a:rPr>
              <a:t>  ›  Typos create new files — the command does not error, it makes a second file with the wrong name.</a:t>
            </a:r>
          </a:p>
          <a:p>
            <a:pPr algn="l">
              <a:spcBef>
                <a:spcPts val="700"/>
              </a:spcBef>
            </a:pPr>
            <a:r>
              <a:rPr sz="1500" b="0">
                <a:solidFill>
                  <a:srgbClr val="FFFFFF"/>
                </a:solidFill>
                <a:latin typeface="Calibri"/>
              </a:rPr>
              <a:t>  ›  No deletion yet. Make, copy, and move only — deletion comes later, behind heavy framing.</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The verify habit starts here. 'Trust the action, not the narration' runs through all agentic work. A student who verifies every terminal action will verify every agent action later.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Build Something From Scratch</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Scenario: Create a project folder, a file, a copy, and a renamed version — confirming each step</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6492240"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6217920" cy="4663440"/>
          </a:xfrm>
          <a:prstGeom prst="rect">
            <a:avLst/>
          </a:prstGeom>
          <a:noFill/>
        </p:spPr>
        <p:txBody>
          <a:bodyPr wrap="square">
            <a:spAutoFit/>
          </a:bodyPr>
          <a:lstStyle/>
          <a:p>
            <a:pPr algn="l">
              <a:spcBef>
                <a:spcPts val="300"/>
              </a:spcBef>
            </a:pPr>
            <a:r>
              <a:rPr sz="1200" b="0">
                <a:solidFill>
                  <a:srgbClr val="FFFFFF"/>
                </a:solidFill>
                <a:latin typeface="Calibri"/>
              </a:rPr>
              <a:t>mkdir project</a:t>
            </a:r>
          </a:p>
          <a:p>
            <a:pPr algn="l">
              <a:spcBef>
                <a:spcPts val="300"/>
              </a:spcBef>
            </a:pPr>
            <a:r>
              <a:rPr sz="1200" b="0">
                <a:solidFill>
                  <a:srgbClr val="FFFFFF"/>
                </a:solidFill>
                <a:latin typeface="Calibri"/>
              </a:rPr>
              <a:t>cd project</a:t>
            </a:r>
          </a:p>
          <a:p>
            <a:pPr algn="l">
              <a:spcBef>
                <a:spcPts val="300"/>
              </a:spcBef>
            </a:pPr>
            <a:r>
              <a:rPr sz="1200" b="0">
                <a:solidFill>
                  <a:srgbClr val="FFFFFF"/>
                </a:solidFill>
                <a:latin typeface="Calibri"/>
              </a:rPr>
              <a:t>touch notes.txt          # (Mac/WSL)  or  New-Item notes.txt  (PowerShell)</a:t>
            </a:r>
          </a:p>
          <a:p>
            <a:pPr algn="l">
              <a:spcBef>
                <a:spcPts val="300"/>
              </a:spcBef>
            </a:pPr>
            <a:r>
              <a:rPr sz="1200" b="0">
                <a:solidFill>
                  <a:srgbClr val="FFFFFF"/>
                </a:solidFill>
                <a:latin typeface="Calibri"/>
              </a:rPr>
              <a:t>ls                       # Verify notes.txt is there</a:t>
            </a:r>
          </a:p>
          <a:p>
            <a:pPr algn="l">
              <a:spcBef>
                <a:spcPts val="300"/>
              </a:spcBef>
            </a:pPr>
            <a:r>
              <a:rPr sz="1200" b="0">
                <a:solidFill>
                  <a:srgbClr val="FFFFFF"/>
                </a:solidFill>
                <a:latin typeface="Calibri"/>
              </a:rPr>
              <a:t>mkdir drafts</a:t>
            </a:r>
          </a:p>
          <a:p>
            <a:pPr algn="l">
              <a:spcBef>
                <a:spcPts val="300"/>
              </a:spcBef>
            </a:pPr>
            <a:r>
              <a:rPr sz="1200" b="0">
                <a:solidFill>
                  <a:srgbClr val="FFFFFF"/>
                </a:solidFill>
                <a:latin typeface="Calibri"/>
              </a:rPr>
              <a:t>cp notes.txt drafts/notes-copy.txt</a:t>
            </a:r>
          </a:p>
          <a:p>
            <a:pPr algn="l">
              <a:spcBef>
                <a:spcPts val="300"/>
              </a:spcBef>
            </a:pPr>
            <a:r>
              <a:rPr sz="1200" b="0">
                <a:solidFill>
                  <a:srgbClr val="FFFFFF"/>
                </a:solidFill>
                <a:latin typeface="Calibri"/>
              </a:rPr>
              <a:t>ls drafts                # Verify the copy landed</a:t>
            </a:r>
          </a:p>
          <a:p>
            <a:pPr algn="l">
              <a:spcBef>
                <a:spcPts val="300"/>
              </a:spcBef>
            </a:pPr>
            <a:r>
              <a:rPr sz="1200" b="0">
                <a:solidFill>
                  <a:srgbClr val="FFFFFF"/>
                </a:solidFill>
                <a:latin typeface="Calibri"/>
              </a:rPr>
              <a:t>mv notes.txt notes-v1.txt</a:t>
            </a:r>
          </a:p>
          <a:p>
            <a:pPr algn="l">
              <a:spcBef>
                <a:spcPts val="300"/>
              </a:spcBef>
            </a:pPr>
            <a:r>
              <a:rPr sz="1200" b="0">
                <a:solidFill>
                  <a:srgbClr val="FFFFFF"/>
                </a:solidFill>
                <a:latin typeface="Calibri"/>
              </a:rPr>
              <a:t>ls                       # Verify the rename happened</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After each command, run ls to confirm the change happened.</a:t>
            </a:r>
          </a:p>
          <a:p>
            <a:pPr algn="l">
              <a:spcBef>
                <a:spcPts val="300"/>
              </a:spcBef>
            </a:pPr>
            <a:r>
              <a:rPr sz="1200" b="0">
                <a:solidFill>
                  <a:srgbClr val="FFFFFF"/>
                </a:solidFill>
                <a:latin typeface="Calibri"/>
              </a:rPr>
              <a:t>That is the verify-after-acting habit — build it now.</a:t>
            </a:r>
          </a:p>
        </p:txBody>
      </p:sp>
      <p:sp>
        <p:nvSpPr>
          <p:cNvPr id="10" name="Rectangle 9"/>
          <p:cNvSpPr/>
          <p:nvPr/>
        </p:nvSpPr>
        <p:spPr>
          <a:xfrm>
            <a:off x="7086600" y="1417320"/>
            <a:ext cx="4690872" cy="502920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3611880"/>
            <a:ext cx="4690872" cy="274320"/>
          </a:xfrm>
          <a:prstGeom prst="rect">
            <a:avLst/>
          </a:prstGeom>
          <a:noFill/>
        </p:spPr>
        <p:txBody>
          <a:bodyPr wrap="square">
            <a:spAutoFit/>
          </a:bodyPr>
          <a:lstStyle/>
          <a:p>
            <a:pPr algn="ctr"/>
            <a:r>
              <a:rPr sz="900" b="1" i="0">
                <a:solidFill>
                  <a:srgbClr val="00B4FF"/>
                </a:solidFill>
                <a:latin typeface="Calibri"/>
              </a:rPr>
              <a:t>◼  IMAGE</a:t>
            </a:r>
          </a:p>
        </p:txBody>
      </p:sp>
      <p:sp>
        <p:nvSpPr>
          <p:cNvPr id="12" name="TextBox 11"/>
          <p:cNvSpPr txBox="1"/>
          <p:nvPr/>
        </p:nvSpPr>
        <p:spPr>
          <a:xfrm>
            <a:off x="7269480" y="3886200"/>
            <a:ext cx="4325112" cy="914400"/>
          </a:xfrm>
          <a:prstGeom prst="rect">
            <a:avLst/>
          </a:prstGeom>
          <a:noFill/>
        </p:spPr>
        <p:txBody>
          <a:bodyPr wrap="square">
            <a:spAutoFit/>
          </a:bodyPr>
          <a:lstStyle/>
          <a:p>
            <a:pPr algn="ctr"/>
            <a:r>
              <a:rPr sz="900" b="0" i="0">
                <a:solidFill>
                  <a:srgbClr val="A8B4C8"/>
                </a:solidFill>
                <a:latin typeface="Calibri"/>
              </a:rPr>
              <a:t>[IMAGE: Soldier running a command then immediately checking with ls — deliberate confirmation after each action]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run  mv report.txt final-report.txt  and then  ls.
What are you checking for?
You ran  mv notes.txt notes-final.txt  but mistyped the destination. What does  ls  show you — and what would tip you off to the error?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Acting: Make, Move, Copy</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Make a folder called  terminal-practice  and navigate into it.</a:t>
            </a:r>
          </a:p>
          <a:p>
            <a:pPr algn="l">
              <a:spcBef>
                <a:spcPts val="1000"/>
              </a:spcBef>
            </a:pPr>
            <a:r>
              <a:rPr sz="1400" b="0">
                <a:solidFill>
                  <a:srgbClr val="FFFFFF"/>
                </a:solidFill>
                <a:latin typeface="Calibri"/>
              </a:rPr>
              <a:t>  2.   Create a file called  day1.txt.</a:t>
            </a:r>
          </a:p>
          <a:p>
            <a:pPr algn="l">
              <a:spcBef>
                <a:spcPts val="1000"/>
              </a:spcBef>
            </a:pPr>
            <a:r>
              <a:rPr sz="1400" b="0">
                <a:solidFill>
                  <a:srgbClr val="FFFFFF"/>
                </a:solidFill>
                <a:latin typeface="Calibri"/>
              </a:rPr>
              <a:t>  3.   Copy it to  day1-backup.txt.</a:t>
            </a:r>
          </a:p>
          <a:p>
            <a:pPr algn="l">
              <a:spcBef>
                <a:spcPts val="1000"/>
              </a:spcBef>
            </a:pPr>
            <a:r>
              <a:rPr sz="1400" b="0">
                <a:solidFill>
                  <a:srgbClr val="FFFFFF"/>
                </a:solidFill>
                <a:latin typeface="Calibri"/>
              </a:rPr>
              <a:t>  4.   Rename  day1.txt  to  day1-v1.txt.</a:t>
            </a:r>
          </a:p>
          <a:p>
            <a:pPr algn="l">
              <a:spcBef>
                <a:spcPts val="1000"/>
              </a:spcBef>
            </a:pPr>
            <a:r>
              <a:rPr sz="1400" b="0">
                <a:solidFill>
                  <a:srgbClr val="FFFFFF"/>
                </a:solidFill>
                <a:latin typeface="Calibri"/>
              </a:rPr>
              <a:t>  5.   Run  ls  after each step to verify the change.</a:t>
            </a:r>
          </a:p>
          <a:p>
            <a:pPr algn="l">
              <a:spcBef>
                <a:spcPts val="1000"/>
              </a:spcBef>
            </a:pPr>
            <a:r>
              <a:rPr sz="1400" b="0">
                <a:solidFill>
                  <a:srgbClr val="FFFFFF"/>
                </a:solidFill>
                <a:latin typeface="Calibri"/>
              </a:rPr>
              <a:t>  6.   You should end with two files: day1-v1.txt and day1-backup.txt.</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Soldier's terminal showing a clean folder with correctly named files — every step confirmed]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Acting: Make, Move, Copy</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mkdir, touch/New-Item, cp, mv — four commands cover most day-to-day file work.</a:t>
            </a:r>
          </a:p>
          <a:p>
            <a:pPr algn="l">
              <a:spcBef>
                <a:spcPts val="1400"/>
              </a:spcBef>
            </a:pPr>
            <a:r>
              <a:rPr sz="1600" b="0">
                <a:solidFill>
                  <a:srgbClr val="FFFFFF"/>
                </a:solidFill>
                <a:latin typeface="Calibri"/>
              </a:rPr>
              <a:t>  ›  Run ls after every action. Confirm the change happened before moving on.</a:t>
            </a:r>
          </a:p>
          <a:p>
            <a:pPr algn="l">
              <a:spcBef>
                <a:spcPts val="1400"/>
              </a:spcBef>
            </a:pPr>
            <a:r>
              <a:rPr sz="1600" b="0">
                <a:solidFill>
                  <a:srgbClr val="FFFFFF"/>
                </a:solidFill>
                <a:latin typeface="Calibri"/>
              </a:rPr>
              <a:t>  ›  Typos do not error — they create misnamed files. ls is the check.</a:t>
            </a:r>
          </a:p>
          <a:p>
            <a:pPr algn="l">
              <a:spcBef>
                <a:spcPts val="1400"/>
              </a:spcBef>
            </a:pPr>
            <a:r>
              <a:rPr sz="1600" b="0">
                <a:solidFill>
                  <a:srgbClr val="FFFFFF"/>
                </a:solidFill>
                <a:latin typeface="Calibri"/>
              </a:rPr>
              <a:t>  ›  No deletion yet. That comes later, with heavy framing.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04</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04</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Paths, Tab,
and Up-Arrow</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A path is a grid coordinate — precise and unforgiving. Tab-completion and the up-arrow are your accuracy tools.</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Soldier calling in a grid coordinate with precision — no rounding, no approximation]</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Absolute vs. Relative Paths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An absolute path starts from the root of the filesystem — it works from anywhere.</a:t>
            </a:r>
          </a:p>
          <a:p>
            <a:pPr algn="l">
              <a:spcBef>
                <a:spcPts val="300"/>
              </a:spcBef>
            </a:pPr>
            <a:r>
              <a:rPr sz="1300" b="0">
                <a:solidFill>
                  <a:srgbClr val="A8B4C8"/>
                </a:solidFill>
                <a:latin typeface="Calibri"/>
              </a:rPr>
              <a:t>      ◦  Windows: C:\Users\YourName\Documents\report.txt</a:t>
            </a:r>
          </a:p>
          <a:p>
            <a:pPr algn="l">
              <a:spcBef>
                <a:spcPts val="300"/>
              </a:spcBef>
            </a:pPr>
            <a:r>
              <a:rPr sz="1300" b="0">
                <a:solidFill>
                  <a:srgbClr val="A8B4C8"/>
                </a:solidFill>
                <a:latin typeface="Calibri"/>
              </a:rPr>
              <a:t>      ◦  Mac/Linux: /home/yourname/documents/report.txt</a:t>
            </a:r>
          </a:p>
          <a:p>
            <a:pPr algn="l">
              <a:spcBef>
                <a:spcPts val="700"/>
              </a:spcBef>
            </a:pPr>
            <a:r>
              <a:rPr sz="1500" b="0">
                <a:solidFill>
                  <a:srgbClr val="FFFFFF"/>
                </a:solidFill>
                <a:latin typeface="Calibri"/>
              </a:rPr>
              <a:t>  ›  A relative path starts from wherever you currently are — it only works from the right starting position.</a:t>
            </a:r>
          </a:p>
          <a:p>
            <a:pPr algn="l">
              <a:spcBef>
                <a:spcPts val="300"/>
              </a:spcBef>
            </a:pPr>
            <a:r>
              <a:rPr sz="1300" b="0">
                <a:solidFill>
                  <a:srgbClr val="A8B4C8"/>
                </a:solidFill>
                <a:latin typeface="Calibri"/>
              </a:rPr>
              <a:t>      ◦  documents/report.txt  or  ../otherfolder/file.txt</a:t>
            </a:r>
          </a:p>
          <a:p>
            <a:pPr algn="l">
              <a:spcBef>
                <a:spcPts val="700"/>
              </a:spcBef>
            </a:pPr>
            <a:r>
              <a:rPr sz="1500" b="0">
                <a:solidFill>
                  <a:srgbClr val="FFFFFF"/>
                </a:solidFill>
                <a:latin typeface="Calibri"/>
              </a:rPr>
              <a:t>  ›  A path is a grid coordinate: precise, unambiguous, and unforgiving of a wrong character.</a:t>
            </a:r>
          </a:p>
          <a:p>
            <a:pPr algn="l">
              <a:spcBef>
                <a:spcPts val="700"/>
              </a:spcBef>
            </a:pPr>
            <a:r>
              <a:rPr sz="1500" b="0">
                <a:solidFill>
                  <a:srgbClr val="FFFFFF"/>
                </a:solidFill>
                <a:latin typeface="Calibri"/>
              </a:rPr>
              <a:t>  ›  A space or a capital letter in the wrong place either fails or hits the wrong target.</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A student annoyed that a capital letter breaks a path is learning the right thing. Name it: 'Yes, the space matters. The capital letter matters. That is why tab-completion exists.'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Tab-Completion and the Up-Arrow</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443484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443484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4160520"/>
          </a:xfrm>
          <a:prstGeom prst="rect">
            <a:avLst/>
          </a:prstGeom>
          <a:noFill/>
        </p:spPr>
        <p:txBody>
          <a:bodyPr wrap="square">
            <a:spAutoFit/>
          </a:bodyPr>
          <a:lstStyle/>
          <a:p>
            <a:pPr algn="l">
              <a:spcBef>
                <a:spcPts val="700"/>
              </a:spcBef>
            </a:pPr>
            <a:r>
              <a:rPr sz="1500" b="0">
                <a:solidFill>
                  <a:srgbClr val="FFFFFF"/>
                </a:solidFill>
                <a:latin typeface="Calibri"/>
              </a:rPr>
              <a:t>  ›  Tab-completion: start typing a name and press Tab — the terminal finishes it.</a:t>
            </a:r>
          </a:p>
          <a:p>
            <a:pPr algn="l">
              <a:spcBef>
                <a:spcPts val="300"/>
              </a:spcBef>
            </a:pPr>
            <a:r>
              <a:rPr sz="1300" b="0">
                <a:solidFill>
                  <a:srgbClr val="A8B4C8"/>
                </a:solidFill>
                <a:latin typeface="Calibri"/>
              </a:rPr>
              <a:t>      ◦  Two matches? Press Tab twice to see all options.</a:t>
            </a:r>
          </a:p>
          <a:p>
            <a:pPr algn="l">
              <a:spcBef>
                <a:spcPts val="300"/>
              </a:spcBef>
            </a:pPr>
            <a:r>
              <a:rPr sz="1300" b="0">
                <a:solidFill>
                  <a:srgbClr val="A8B4C8"/>
                </a:solidFill>
                <a:latin typeface="Calibri"/>
              </a:rPr>
              <a:t>      ◦  Use it on every path, every time. Tab-completion makes typos structurally impossible for the completed portion.</a:t>
            </a:r>
          </a:p>
          <a:p>
            <a:pPr algn="l">
              <a:spcBef>
                <a:spcPts val="700"/>
              </a:spcBef>
            </a:pPr>
            <a:r>
              <a:rPr sz="1500" b="0">
                <a:solidFill>
                  <a:srgbClr val="FFFFFF"/>
                </a:solidFill>
                <a:latin typeface="Calibri"/>
              </a:rPr>
              <a:t>  ›  The up-arrow: cycles through previous commands.</a:t>
            </a:r>
          </a:p>
          <a:p>
            <a:pPr algn="l">
              <a:spcBef>
                <a:spcPts val="300"/>
              </a:spcBef>
            </a:pPr>
            <a:r>
              <a:rPr sz="1300" b="0">
                <a:solidFill>
                  <a:srgbClr val="A8B4C8"/>
                </a:solidFill>
                <a:latin typeface="Calibri"/>
              </a:rPr>
              <a:t>      ◦  Edit a recalled command and re-run it instead of retyping from scratch.</a:t>
            </a:r>
          </a:p>
          <a:p>
            <a:pPr algn="l">
              <a:spcBef>
                <a:spcPts val="700"/>
              </a:spcBef>
            </a:pPr>
            <a:r>
              <a:rPr sz="1500" b="0">
                <a:solidFill>
                  <a:srgbClr val="FFFFFF"/>
                </a:solidFill>
                <a:latin typeface="Calibri"/>
              </a:rPr>
              <a:t>  ›  Never finish typing a long path by hand if tab-completion can do it.</a:t>
            </a:r>
          </a:p>
          <a:p>
            <a:pPr algn="l">
              <a:spcBef>
                <a:spcPts val="700"/>
              </a:spcBef>
            </a:pPr>
            <a:r>
              <a:rPr sz="1500" b="0">
                <a:solidFill>
                  <a:srgbClr val="FFFFFF"/>
                </a:solidFill>
                <a:latin typeface="Calibri"/>
              </a:rPr>
              <a:t>  ›  These are not tricks — they are standard operating procedure.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Why does tab-completion reduce errors in terminal commands?
You are deep in a nested folder and need to copy a file to a location three levels up.
Would you use an absolute or a relative path — and why?
What is the risk of typing a long path entirely by hand?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Paths, Tab-Completion, and the Up-Arrow</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Navigate to a folder using the full absolute path — type it by hand once to feel the length.</a:t>
            </a:r>
          </a:p>
          <a:p>
            <a:pPr algn="l">
              <a:spcBef>
                <a:spcPts val="1000"/>
              </a:spcBef>
            </a:pPr>
            <a:r>
              <a:rPr sz="1400" b="0">
                <a:solidFill>
                  <a:srgbClr val="FFFFFF"/>
                </a:solidFill>
                <a:latin typeface="Calibri"/>
              </a:rPr>
              <a:t>  2.   Navigate to the same folder using tab-completion. Press Tab after each segment of the path.</a:t>
            </a:r>
          </a:p>
          <a:p>
            <a:pPr algn="l">
              <a:spcBef>
                <a:spcPts val="1000"/>
              </a:spcBef>
            </a:pPr>
            <a:r>
              <a:rPr sz="1400" b="0">
                <a:solidFill>
                  <a:srgbClr val="FFFFFF"/>
                </a:solidFill>
                <a:latin typeface="Calibri"/>
              </a:rPr>
              <a:t>  3.   Run  ls  in a folder with several items. Start typing one item's name, press Tab, watch it complete.</a:t>
            </a:r>
          </a:p>
          <a:p>
            <a:pPr algn="l">
              <a:spcBef>
                <a:spcPts val="1000"/>
              </a:spcBef>
            </a:pPr>
            <a:r>
              <a:rPr sz="1400" b="0">
                <a:solidFill>
                  <a:srgbClr val="FFFFFF"/>
                </a:solidFill>
                <a:latin typeface="Calibri"/>
              </a:rPr>
              <a:t>  4.   Run a command. Press the up-arrow. Edit one character and re-run it.</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typing a long path with tab-completion — terminal finishing the name precisely]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Paths, Tab-Completion, and the Up-Arrow</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Absolute paths work from anywhere. Relative paths only work from the correct starting position.</a:t>
            </a:r>
          </a:p>
          <a:p>
            <a:pPr algn="l">
              <a:spcBef>
                <a:spcPts val="1400"/>
              </a:spcBef>
            </a:pPr>
            <a:r>
              <a:rPr sz="1600" b="0">
                <a:solidFill>
                  <a:srgbClr val="FFFFFF"/>
                </a:solidFill>
                <a:latin typeface="Calibri"/>
              </a:rPr>
              <a:t>  ›  A path is a grid coordinate — spaces and capitalization are load-bearing.</a:t>
            </a:r>
          </a:p>
          <a:p>
            <a:pPr algn="l">
              <a:spcBef>
                <a:spcPts val="1400"/>
              </a:spcBef>
            </a:pPr>
            <a:r>
              <a:rPr sz="1600" b="0">
                <a:solidFill>
                  <a:srgbClr val="FFFFFF"/>
                </a:solidFill>
                <a:latin typeface="Calibri"/>
              </a:rPr>
              <a:t>  ›  Tab-completion finishes names from what actually exists — the completed portion cannot contain a typo.</a:t>
            </a:r>
          </a:p>
          <a:p>
            <a:pPr algn="l">
              <a:spcBef>
                <a:spcPts val="1400"/>
              </a:spcBef>
            </a:pPr>
            <a:r>
              <a:rPr sz="1600" b="0">
                <a:solidFill>
                  <a:srgbClr val="FFFFFF"/>
                </a:solidFill>
                <a:latin typeface="Calibri"/>
              </a:rPr>
              <a:t>  ›  The up-arrow recalls previous commands. Edit and re-run instead of retyping.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05</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05</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Flags and
Knowing When to Stop</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Most commands take flags that change what they do. --help shows all options. Ctrl+C stops anything.</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Soldier reading a quick-reference card before operating equipment — checking options before acting]</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Flags Change What a Command Does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Flags are options you add to a command to modify its behavior.</a:t>
            </a:r>
          </a:p>
          <a:p>
            <a:pPr algn="l">
              <a:spcBef>
                <a:spcPts val="300"/>
              </a:spcBef>
            </a:pPr>
            <a:r>
              <a:rPr sz="1300" b="0">
                <a:solidFill>
                  <a:srgbClr val="A8B4C8"/>
                </a:solidFill>
                <a:latin typeface="Calibri"/>
              </a:rPr>
              <a:t>      ◦  Short form: -l    Long form: --long-output</a:t>
            </a:r>
          </a:p>
          <a:p>
            <a:pPr algn="l">
              <a:spcBef>
                <a:spcPts val="700"/>
              </a:spcBef>
            </a:pPr>
            <a:r>
              <a:rPr sz="1500" b="0">
                <a:solidFill>
                  <a:srgbClr val="FFFFFF"/>
                </a:solidFill>
                <a:latin typeface="Calibri"/>
              </a:rPr>
              <a:t>  ›  ls           # List files, default view</a:t>
            </a:r>
          </a:p>
          <a:p>
            <a:pPr algn="l">
              <a:spcBef>
                <a:spcPts val="300"/>
              </a:spcBef>
            </a:pPr>
            <a:r>
              <a:rPr sz="1300" b="0">
                <a:solidFill>
                  <a:srgbClr val="A8B4C8"/>
                </a:solidFill>
                <a:latin typeface="Calibri"/>
              </a:rPr>
              <a:t>      ◦  ls -l        # List files, detailed view</a:t>
            </a:r>
          </a:p>
          <a:p>
            <a:pPr algn="l">
              <a:spcBef>
                <a:spcPts val="300"/>
              </a:spcBef>
            </a:pPr>
            <a:r>
              <a:rPr sz="1300" b="0">
                <a:solidFill>
                  <a:srgbClr val="A8B4C8"/>
                </a:solidFill>
                <a:latin typeface="Calibri"/>
              </a:rPr>
              <a:t>      ◦  ls -la       # List files, detailed, including hidden files</a:t>
            </a:r>
          </a:p>
          <a:p>
            <a:pPr algn="l">
              <a:spcBef>
                <a:spcPts val="700"/>
              </a:spcBef>
            </a:pPr>
            <a:r>
              <a:rPr sz="1500" b="0">
                <a:solidFill>
                  <a:srgbClr val="FFFFFF"/>
                </a:solidFill>
                <a:latin typeface="Calibri"/>
              </a:rPr>
              <a:t>  ›  Same command. Different flags. Different output.</a:t>
            </a:r>
          </a:p>
          <a:p>
            <a:pPr algn="l">
              <a:spcBef>
                <a:spcPts val="700"/>
              </a:spcBef>
            </a:pPr>
            <a:r>
              <a:rPr sz="1500" b="0">
                <a:solidFill>
                  <a:srgbClr val="FFFFFF"/>
                </a:solidFill>
                <a:latin typeface="Calibri"/>
              </a:rPr>
              <a:t>  ›  You do not memorize flags. You look them up.</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The concept of a flag and how to look one up is the lesson. The skill is knowing flags exist and knowing how to find the one you need — not memorizing any specific flag.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Finding Flags and Stopping Commands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443484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443484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4160520"/>
          </a:xfrm>
          <a:prstGeom prst="rect">
            <a:avLst/>
          </a:prstGeom>
          <a:noFill/>
        </p:spPr>
        <p:txBody>
          <a:bodyPr wrap="square">
            <a:spAutoFit/>
          </a:bodyPr>
          <a:lstStyle/>
          <a:p>
            <a:pPr algn="l">
              <a:spcBef>
                <a:spcPts val="700"/>
              </a:spcBef>
            </a:pPr>
            <a:r>
              <a:rPr sz="1500" b="0">
                <a:solidFill>
                  <a:srgbClr val="FFFFFF"/>
                </a:solidFill>
                <a:latin typeface="Calibri"/>
              </a:rPr>
              <a:t>  ›  ls --help  (Mac/Linux)  or  Get-Help ls  (PowerShell) — shows all flags and what they do.</a:t>
            </a:r>
          </a:p>
          <a:p>
            <a:pPr algn="l">
              <a:spcBef>
                <a:spcPts val="300"/>
              </a:spcBef>
            </a:pPr>
            <a:r>
              <a:rPr sz="1300" b="0">
                <a:solidFill>
                  <a:srgbClr val="A8B4C8"/>
                </a:solidFill>
                <a:latin typeface="Calibri"/>
              </a:rPr>
              <a:t>      ◦  Read the --help output top to bottom. Find the flag you need; ignore the rest.</a:t>
            </a:r>
          </a:p>
          <a:p>
            <a:pPr algn="l">
              <a:spcBef>
                <a:spcPts val="300"/>
              </a:spcBef>
            </a:pPr>
            <a:r>
              <a:rPr sz="1300" b="0">
                <a:solidFill>
                  <a:srgbClr val="A8B4C8"/>
                </a:solidFill>
                <a:latin typeface="Calibri"/>
              </a:rPr>
              <a:t>      ◦  It looks overwhelming the first time. Find one flag. Use it. Done.</a:t>
            </a:r>
          </a:p>
          <a:p>
            <a:pPr algn="l">
              <a:spcBef>
                <a:spcPts val="700"/>
              </a:spcBef>
            </a:pPr>
            <a:r>
              <a:rPr sz="1500" b="0">
                <a:solidFill>
                  <a:srgbClr val="FFFFFF"/>
                </a:solidFill>
                <a:latin typeface="Calibri"/>
              </a:rPr>
              <a:t>  ›  The prompt is the signal: when a command finishes, the prompt returns.</a:t>
            </a:r>
          </a:p>
          <a:p>
            <a:pPr algn="l">
              <a:spcBef>
                <a:spcPts val="300"/>
              </a:spcBef>
            </a:pPr>
            <a:r>
              <a:rPr sz="1300" b="0">
                <a:solidFill>
                  <a:srgbClr val="A8B4C8"/>
                </a:solidFill>
                <a:latin typeface="Calibri"/>
              </a:rPr>
              <a:t>      ◦  If the cursor blinks with no prompt, the command is still running.</a:t>
            </a:r>
          </a:p>
          <a:p>
            <a:pPr algn="l">
              <a:spcBef>
                <a:spcPts val="700"/>
              </a:spcBef>
            </a:pPr>
            <a:r>
              <a:rPr sz="1500" b="0">
                <a:solidFill>
                  <a:srgbClr val="FFFFFF"/>
                </a:solidFill>
                <a:latin typeface="Calibri"/>
              </a:rPr>
              <a:t>  ›  Ctrl+C stops a running command and returns the prompt.</a:t>
            </a:r>
          </a:p>
          <a:p>
            <a:pPr algn="l">
              <a:spcBef>
                <a:spcPts val="300"/>
              </a:spcBef>
            </a:pPr>
            <a:r>
              <a:rPr sz="1300" b="0">
                <a:solidFill>
                  <a:srgbClr val="A8B4C8"/>
                </a:solidFill>
                <a:latin typeface="Calibri"/>
              </a:rPr>
              <a:t>      ◦  It does not delete anything — it stops execution and hands control back to you.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Stopping a Running Command</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Scenario: Demonstrate that you can stop anything you start</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6492240"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6217920" cy="4663440"/>
          </a:xfrm>
          <a:prstGeom prst="rect">
            <a:avLst/>
          </a:prstGeom>
          <a:noFill/>
        </p:spPr>
        <p:txBody>
          <a:bodyPr wrap="square">
            <a:spAutoFit/>
          </a:bodyPr>
          <a:lstStyle/>
          <a:p>
            <a:pPr algn="l">
              <a:spcBef>
                <a:spcPts val="300"/>
              </a:spcBef>
            </a:pPr>
            <a:r>
              <a:rPr sz="1200" b="0">
                <a:solidFill>
                  <a:srgbClr val="FFFFFF"/>
                </a:solidFill>
                <a:latin typeface="Calibri"/>
              </a:rPr>
              <a:t>Run:   ping google.com</a:t>
            </a:r>
          </a:p>
          <a:p>
            <a:pPr algn="l">
              <a:spcBef>
                <a:spcPts val="300"/>
              </a:spcBef>
            </a:pPr>
            <a:r>
              <a:rPr sz="1200" b="0">
                <a:solidFill>
                  <a:srgbClr val="A8B4C8"/>
                </a:solidFill>
                <a:latin typeface="Calibri"/>
              </a:rPr>
              <a:t>       (Windows: ping -t google.com)</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Watch it run indefinitely.</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Press:  Ctrl+C</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The command stops. The prompt returns.</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You just demonstrated that you can stop anything you start.</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This is not just a terminal skill — it is the same reflex</a:t>
            </a:r>
          </a:p>
          <a:p>
            <a:pPr algn="l">
              <a:spcBef>
                <a:spcPts val="300"/>
              </a:spcBef>
            </a:pPr>
            <a:r>
              <a:rPr sz="1200" b="0">
                <a:solidFill>
                  <a:srgbClr val="FFFFFF"/>
                </a:solidFill>
                <a:latin typeface="Calibri"/>
              </a:rPr>
              <a:t>you use when an agent starts doing something unexpected.</a:t>
            </a:r>
          </a:p>
        </p:txBody>
      </p:sp>
      <p:sp>
        <p:nvSpPr>
          <p:cNvPr id="10" name="Rectangle 9"/>
          <p:cNvSpPr/>
          <p:nvPr/>
        </p:nvSpPr>
        <p:spPr>
          <a:xfrm>
            <a:off x="7086600" y="1417320"/>
            <a:ext cx="4690872" cy="502920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3611880"/>
            <a:ext cx="4690872" cy="274320"/>
          </a:xfrm>
          <a:prstGeom prst="rect">
            <a:avLst/>
          </a:prstGeom>
          <a:noFill/>
        </p:spPr>
        <p:txBody>
          <a:bodyPr wrap="square">
            <a:spAutoFit/>
          </a:bodyPr>
          <a:lstStyle/>
          <a:p>
            <a:pPr algn="ctr"/>
            <a:r>
              <a:rPr sz="900" b="1" i="0">
                <a:solidFill>
                  <a:srgbClr val="00B4FF"/>
                </a:solidFill>
                <a:latin typeface="Calibri"/>
              </a:rPr>
              <a:t>◼  IMAGE</a:t>
            </a:r>
          </a:p>
        </p:txBody>
      </p:sp>
      <p:sp>
        <p:nvSpPr>
          <p:cNvPr id="12" name="TextBox 11"/>
          <p:cNvSpPr txBox="1"/>
          <p:nvPr/>
        </p:nvSpPr>
        <p:spPr>
          <a:xfrm>
            <a:off x="7269480" y="3886200"/>
            <a:ext cx="4325112" cy="914400"/>
          </a:xfrm>
          <a:prstGeom prst="rect">
            <a:avLst/>
          </a:prstGeom>
          <a:noFill/>
        </p:spPr>
        <p:txBody>
          <a:bodyPr wrap="square">
            <a:spAutoFit/>
          </a:bodyPr>
          <a:lstStyle/>
          <a:p>
            <a:pPr algn="ctr"/>
            <a:r>
              <a:rPr sz="900" b="0" i="0">
                <a:solidFill>
                  <a:srgbClr val="A8B4C8"/>
                </a:solidFill>
                <a:latin typeface="Calibri"/>
              </a:rPr>
              <a:t>[IMAGE: Soldier's hand hovering over Ctrl+C — ready to stop a process at any moment]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run a command and nothing happens for thirty seconds — the cursor just blinks.
What are the two possibilities, and how do you handle each one?
You need to run  ls  but want to see hidden files. You do not know the flag.
What do you do — and what do you NOT do?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Commands, Flags, and Knowing When to Stop</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Run  ls --help  (Mac/Linux) or  Get-Help ls  (PowerShell). Read the first ten lines without panic.</a:t>
            </a:r>
          </a:p>
          <a:p>
            <a:pPr algn="l">
              <a:spcBef>
                <a:spcPts val="1000"/>
              </a:spcBef>
            </a:pPr>
            <a:r>
              <a:rPr sz="1400" b="0">
                <a:solidFill>
                  <a:srgbClr val="FFFFFF"/>
                </a:solidFill>
                <a:latin typeface="Calibri"/>
              </a:rPr>
              <a:t>  2.   Find the flag that shows hidden files in the --help output. Run  ls  with that flag.</a:t>
            </a:r>
          </a:p>
          <a:p>
            <a:pPr algn="l">
              <a:spcBef>
                <a:spcPts val="1000"/>
              </a:spcBef>
            </a:pPr>
            <a:r>
              <a:rPr sz="1400" b="0">
                <a:solidFill>
                  <a:srgbClr val="FFFFFF"/>
                </a:solidFill>
                <a:latin typeface="Calibri"/>
              </a:rPr>
              <a:t>  3.   Run  ping google.com  (or  ping -t google.com  on Windows). Let it run for five seconds.</a:t>
            </a:r>
          </a:p>
          <a:p>
            <a:pPr algn="l">
              <a:spcBef>
                <a:spcPts val="1000"/>
              </a:spcBef>
            </a:pPr>
            <a:r>
              <a:rPr sz="1400" b="0">
                <a:solidFill>
                  <a:srgbClr val="FFFFFF"/>
                </a:solidFill>
                <a:latin typeface="Calibri"/>
              </a:rPr>
              <a:t>  4.   Press  Ctrl+C. Confirm the prompt returned.</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reading --help output — scanning for a specific flag and ignoring the rest]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Commands, Flags, and Knowing When to Stop</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Flags modify command behavior. Short form: -x    Long form: --option</a:t>
            </a:r>
          </a:p>
          <a:p>
            <a:pPr algn="l">
              <a:spcBef>
                <a:spcPts val="1400"/>
              </a:spcBef>
            </a:pPr>
            <a:r>
              <a:rPr sz="1600" b="0">
                <a:solidFill>
                  <a:srgbClr val="FFFFFF"/>
                </a:solidFill>
                <a:latin typeface="Calibri"/>
              </a:rPr>
              <a:t>  ›  Use --help (or Get-Help) to find any flag — do not memorize, look it up.</a:t>
            </a:r>
          </a:p>
          <a:p>
            <a:pPr algn="l">
              <a:spcBef>
                <a:spcPts val="1400"/>
              </a:spcBef>
            </a:pPr>
            <a:r>
              <a:rPr sz="1600" b="0">
                <a:solidFill>
                  <a:srgbClr val="FFFFFF"/>
                </a:solidFill>
                <a:latin typeface="Calibri"/>
              </a:rPr>
              <a:t>  ›  The prompt returning means the command finished. No prompt means still running.</a:t>
            </a:r>
          </a:p>
          <a:p>
            <a:pPr algn="l">
              <a:spcBef>
                <a:spcPts val="1400"/>
              </a:spcBef>
            </a:pPr>
            <a:r>
              <a:rPr sz="1600" b="0">
                <a:solidFill>
                  <a:srgbClr val="FFFFFF"/>
                </a:solidFill>
                <a:latin typeface="Calibri"/>
              </a:rPr>
              <a:t>  ›  Ctrl+C stops anything. It does not delete — it returns control to you.</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06</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06</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Why Version
Control Exists</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When an agent can change your files, you want a logbook of every change — with the ability to rewind any of them.</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NCO reviewing a detailed change log — tracking every modification made during an operation]</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Logbook Mental Model</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Every time a file changes, version control records a snapshot: what changed, when, and why.</a:t>
            </a:r>
          </a:p>
          <a:p>
            <a:pPr algn="l">
              <a:spcBef>
                <a:spcPts val="700"/>
              </a:spcBef>
            </a:pPr>
            <a:r>
              <a:rPr sz="1500" b="0">
                <a:solidFill>
                  <a:srgbClr val="FFFFFF"/>
                </a:solidFill>
                <a:latin typeface="Calibri"/>
              </a:rPr>
              <a:t>  ›  Stored locally on your machine. Every snapshot can be rewound.</a:t>
            </a:r>
          </a:p>
          <a:p>
            <a:pPr algn="l">
              <a:spcBef>
                <a:spcPts val="700"/>
              </a:spcBef>
            </a:pPr>
            <a:r>
              <a:rPr sz="1500" b="0">
                <a:solidFill>
                  <a:srgbClr val="FFFFFF"/>
                </a:solidFill>
                <a:latin typeface="Calibri"/>
              </a:rPr>
              <a:t>  ›  Two layers:</a:t>
            </a:r>
          </a:p>
          <a:p>
            <a:pPr algn="l">
              <a:spcBef>
                <a:spcPts val="300"/>
              </a:spcBef>
            </a:pPr>
            <a:r>
              <a:rPr sz="1300" b="0">
                <a:solidFill>
                  <a:srgbClr val="A8B4C8"/>
                </a:solidFill>
                <a:latin typeface="Calibri"/>
              </a:rPr>
              <a:t>      ◦  Local logbook — your machine keeps the record. Rewind to any snapshot without the internet.</a:t>
            </a:r>
          </a:p>
          <a:p>
            <a:pPr algn="l">
              <a:spcBef>
                <a:spcPts val="300"/>
              </a:spcBef>
            </a:pPr>
            <a:r>
              <a:rPr sz="1300" b="0">
                <a:solidFill>
                  <a:srgbClr val="A8B4C8"/>
                </a:solidFill>
                <a:latin typeface="Calibri"/>
              </a:rPr>
              <a:t>      ◦  Remote copy — the same history synchronized to a cloud server. Backup and collaboration.</a:t>
            </a:r>
          </a:p>
          <a:p>
            <a:pPr algn="l">
              <a:spcBef>
                <a:spcPts val="700"/>
              </a:spcBef>
            </a:pPr>
            <a:r>
              <a:rPr sz="1500" b="0">
                <a:solidFill>
                  <a:srgbClr val="FFFFFF"/>
                </a:solidFill>
                <a:latin typeface="Calibri"/>
              </a:rPr>
              <a:t>  ›  Why software people seem to remember everything: they do not. They have the log.</a:t>
            </a:r>
          </a:p>
          <a:p>
            <a:pPr algn="l">
              <a:spcBef>
                <a:spcPts val="700"/>
              </a:spcBef>
            </a:pPr>
            <a:r>
              <a:rPr sz="1500" b="0">
                <a:solidFill>
                  <a:srgbClr val="FFFFFF"/>
                </a:solidFill>
                <a:latin typeface="Calibri"/>
              </a:rPr>
              <a:t>  ›  'What did this file look like last Tuesday?' is one command — not a memory challenge.</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Resist teaching git commands here. The concept is the prerequisite. If a student asks 'how do I actually do this,' tell them: 'You will do it in the next session. Today you need to know why.'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Why This Matters Once an Agent Can Edit</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You just learned to create, move, and rename files from the command line.</a:t>
            </a:r>
          </a:p>
          <a:p>
            <a:pPr algn="l">
              <a:spcBef>
                <a:spcPts val="700"/>
              </a:spcBef>
            </a:pPr>
            <a:r>
              <a:rPr sz="1500" b="0">
                <a:solidFill>
                  <a:srgbClr val="FFFFFF"/>
                </a:solidFill>
                <a:latin typeface="Calibri"/>
              </a:rPr>
              <a:t>  ›  An agent will do those same operations — at speed, on multiple files, sometimes without asking.</a:t>
            </a:r>
          </a:p>
          <a:p>
            <a:pPr algn="l">
              <a:spcBef>
                <a:spcPts val="700"/>
              </a:spcBef>
            </a:pPr>
            <a:r>
              <a:rPr sz="1500" b="0">
                <a:solidFill>
                  <a:srgbClr val="FFFFFF"/>
                </a:solidFill>
                <a:latin typeface="Calibri"/>
              </a:rPr>
              <a:t>  ›  Version control is what lets you see every change and undo any of them.</a:t>
            </a:r>
          </a:p>
          <a:p>
            <a:pPr algn="l">
              <a:spcBef>
                <a:spcPts val="700"/>
              </a:spcBef>
            </a:pPr>
            <a:r>
              <a:rPr sz="1500" b="0">
                <a:solidFill>
                  <a:srgbClr val="FFFFFF"/>
                </a:solidFill>
                <a:latin typeface="Calibri"/>
              </a:rPr>
              <a:t>  ›  Without version control: batch edit goes wrong, you are guessing which files changed.</a:t>
            </a:r>
          </a:p>
          <a:p>
            <a:pPr algn="l">
              <a:spcBef>
                <a:spcPts val="700"/>
              </a:spcBef>
            </a:pPr>
            <a:r>
              <a:rPr sz="1500" b="0">
                <a:solidFill>
                  <a:srgbClr val="FFFFFF"/>
                </a:solidFill>
                <a:latin typeface="Calibri"/>
              </a:rPr>
              <a:t>  ›  With version control: you see exactly what changed, when, and why — and you rewind.</a:t>
            </a:r>
          </a:p>
          <a:p>
            <a:pPr algn="l">
              <a:spcBef>
                <a:spcPts val="700"/>
              </a:spcBef>
            </a:pPr>
            <a:r>
              <a:rPr sz="1500" b="0">
                <a:solidFill>
                  <a:srgbClr val="FFFFFF"/>
                </a:solidFill>
                <a:latin typeface="Calibri"/>
              </a:rPr>
              <a:t>  ›  This is not optional once you give an agent write access to your files.</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No commands today. The concept loads the reason. The commands come when you work with git directly in the next session.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An agent just ran a batch edit on 40 files.
You look at one and it is not right.
Without version control, what are your options?
With version control, what changes?
Why does version control matter specifically once an agent can edit your files?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Why Version Control Exists</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Think about a file you have edited multiple times over the past month.</a:t>
            </a:r>
          </a:p>
          <a:p>
            <a:pPr algn="l">
              <a:spcBef>
                <a:spcPts val="1000"/>
              </a:spcBef>
            </a:pPr>
            <a:r>
              <a:rPr sz="1400" b="0">
                <a:solidFill>
                  <a:srgbClr val="FFFFFF"/>
                </a:solidFill>
                <a:latin typeface="Calibri"/>
              </a:rPr>
              <a:t>  2.   Ask yourself: 'If I needed to see what it looked like three weeks ago, could I?'</a:t>
            </a:r>
          </a:p>
          <a:p>
            <a:pPr algn="l">
              <a:spcBef>
                <a:spcPts val="1000"/>
              </a:spcBef>
            </a:pPr>
            <a:r>
              <a:rPr sz="1400" b="0">
                <a:solidFill>
                  <a:srgbClr val="FFFFFF"/>
                </a:solidFill>
                <a:latin typeface="Calibri"/>
              </a:rPr>
              <a:t>  3.   Ask yourself: 'If something went wrong, what would I lose?'</a:t>
            </a:r>
          </a:p>
          <a:p>
            <a:pPr algn="l">
              <a:spcBef>
                <a:spcPts val="1000"/>
              </a:spcBef>
            </a:pPr>
            <a:r>
              <a:rPr sz="1400" b="0">
                <a:solidFill>
                  <a:srgbClr val="FFFFFF"/>
                </a:solidFill>
                <a:latin typeface="Calibri"/>
              </a:rPr>
              <a:t>  4.   That gap — between what you want to recover and what you currently can — is what version control fills.</a:t>
            </a:r>
          </a:p>
          <a:p>
            <a:pPr algn="l">
              <a:spcBef>
                <a:spcPts val="1000"/>
              </a:spcBef>
            </a:pPr>
            <a:r>
              <a:rPr sz="1400" b="0">
                <a:solidFill>
                  <a:srgbClr val="FFFFFF"/>
                </a:solidFill>
                <a:latin typeface="Calibri"/>
              </a:rPr>
              <a:t>  5.   No terminal commands today. Load the reason. The commands come next session.</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Soldier looking at a stack of handwritten drafts with no version numbers — unable to tell which is current]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Why Version Control Exists</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Version control records a snapshot of every change: what, when, and why — and lets you rewind any of them.</a:t>
            </a:r>
          </a:p>
          <a:p>
            <a:pPr algn="l">
              <a:spcBef>
                <a:spcPts val="1400"/>
              </a:spcBef>
            </a:pPr>
            <a:r>
              <a:rPr sz="1600" b="0">
                <a:solidFill>
                  <a:srgbClr val="FFFFFF"/>
                </a:solidFill>
                <a:latin typeface="Calibri"/>
              </a:rPr>
              <a:t>  ›  Two layers: local logbook (always available) and remote copy (backup + collaboration).</a:t>
            </a:r>
          </a:p>
          <a:p>
            <a:pPr algn="l">
              <a:spcBef>
                <a:spcPts val="1400"/>
              </a:spcBef>
            </a:pPr>
            <a:r>
              <a:rPr sz="1600" b="0">
                <a:solidFill>
                  <a:srgbClr val="FFFFFF"/>
                </a:solidFill>
                <a:latin typeface="Calibri"/>
              </a:rPr>
              <a:t>  ›  Once an agent has write access, version control is not optional — it is the safety net.</a:t>
            </a:r>
          </a:p>
          <a:p>
            <a:pPr algn="l">
              <a:spcBef>
                <a:spcPts val="1400"/>
              </a:spcBef>
            </a:pPr>
            <a:r>
              <a:rPr sz="1600" b="0">
                <a:solidFill>
                  <a:srgbClr val="FFFFFF"/>
                </a:solidFill>
                <a:latin typeface="Calibri"/>
              </a:rPr>
              <a:t>  ›  No git commands today. The concept is the prerequisite. Commands come next session.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READINESS CHECK</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Confirm before moving on</a:t>
            </a:r>
          </a:p>
        </p:txBody>
      </p:sp>
      <p:sp>
        <p:nvSpPr>
          <p:cNvPr id="4" name="Rectangle 3"/>
          <p:cNvSpPr/>
          <p:nvPr/>
        </p:nvSpPr>
        <p:spPr>
          <a:xfrm>
            <a:off x="411480" y="114300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FFAA00"/>
          </a:solidFill>
          <a:ln>
            <a:noFill/>
          </a:ln>
          <a:effectLst>
            <a:glow rad="38100">
              <a:srgbClr val="FFAA00">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800"/>
              </a:spcBef>
            </a:pPr>
            <a:r>
              <a:rPr sz="1300" b="0">
                <a:solidFill>
                  <a:srgbClr val="A8B4C8"/>
                </a:solidFill>
                <a:latin typeface="Calibri"/>
              </a:rPr>
              <a:t>  ☐   I can open the terminal and find the prompt line</a:t>
            </a:r>
          </a:p>
          <a:p>
            <a:pPr algn="l">
              <a:spcBef>
                <a:spcPts val="800"/>
              </a:spcBef>
            </a:pPr>
            <a:r>
              <a:rPr sz="1300" b="0">
                <a:solidFill>
                  <a:srgbClr val="A8B4C8"/>
                </a:solidFill>
                <a:latin typeface="Calibri"/>
              </a:rPr>
              <a:t>  ☐   I ran at least five commands and read each output</a:t>
            </a:r>
          </a:p>
          <a:p>
            <a:pPr algn="l">
              <a:spcBef>
                <a:spcPts val="800"/>
              </a:spcBef>
            </a:pPr>
            <a:r>
              <a:rPr sz="1300" b="0">
                <a:solidFill>
                  <a:srgbClr val="A8B4C8"/>
                </a:solidFill>
                <a:latin typeface="Calibri"/>
              </a:rPr>
              <a:t>  ☐   I can navigate the filesystem with pwd, ls, and cd without looking at a reference</a:t>
            </a:r>
          </a:p>
          <a:p>
            <a:pPr algn="l">
              <a:spcBef>
                <a:spcPts val="800"/>
              </a:spcBef>
            </a:pPr>
            <a:r>
              <a:rPr sz="1300" b="0">
                <a:solidFill>
                  <a:srgbClr val="A8B4C8"/>
                </a:solidFill>
                <a:latin typeface="Calibri"/>
              </a:rPr>
              <a:t>  ☐   I run ls after every action to verify the change happened</a:t>
            </a:r>
          </a:p>
          <a:p>
            <a:pPr algn="l">
              <a:spcBef>
                <a:spcPts val="800"/>
              </a:spcBef>
            </a:pPr>
            <a:r>
              <a:rPr sz="1300" b="0">
                <a:solidFill>
                  <a:srgbClr val="A8B4C8"/>
                </a:solidFill>
                <a:latin typeface="Calibri"/>
              </a:rPr>
              <a:t>  ☐   I can write both an absolute and a relative path to the same file</a:t>
            </a:r>
          </a:p>
          <a:p>
            <a:pPr algn="l">
              <a:spcBef>
                <a:spcPts val="800"/>
              </a:spcBef>
            </a:pPr>
            <a:r>
              <a:rPr sz="1300" b="0">
                <a:solidFill>
                  <a:srgbClr val="A8B4C8"/>
                </a:solidFill>
                <a:latin typeface="Calibri"/>
              </a:rPr>
              <a:t>  ☐   I use tab-completion on every path — it is a habit, not an option</a:t>
            </a:r>
          </a:p>
          <a:p>
            <a:pPr algn="l">
              <a:spcBef>
                <a:spcPts val="800"/>
              </a:spcBef>
            </a:pPr>
            <a:r>
              <a:rPr sz="1300" b="0">
                <a:solidFill>
                  <a:srgbClr val="A8B4C8"/>
                </a:solidFill>
                <a:latin typeface="Calibri"/>
              </a:rPr>
              <a:t>  ☐   I can use --help to find a flag I do not know</a:t>
            </a:r>
          </a:p>
          <a:p>
            <a:pPr algn="l">
              <a:spcBef>
                <a:spcPts val="800"/>
              </a:spcBef>
            </a:pPr>
            <a:r>
              <a:rPr sz="1300" b="0">
                <a:solidFill>
                  <a:srgbClr val="A8B4C8"/>
                </a:solidFill>
                <a:latin typeface="Calibri"/>
              </a:rPr>
              <a:t>  ☐   I can stop a running command with Ctrl+C without hesitation</a:t>
            </a:r>
          </a:p>
          <a:p>
            <a:pPr algn="l">
              <a:spcBef>
                <a:spcPts val="800"/>
              </a:spcBef>
            </a:pPr>
            <a:r>
              <a:rPr sz="1300" b="0">
                <a:solidFill>
                  <a:srgbClr val="A8B4C8"/>
                </a:solidFill>
                <a:latin typeface="Calibri"/>
              </a:rPr>
              <a:t>  ☐   I can explain what version control is and why it matters once an agent has write access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228600" cy="6858000"/>
          </a:xfrm>
          <a:prstGeom prst="rect">
            <a:avLst/>
          </a:prstGeom>
          <a:solidFill>
            <a:srgbClr val="00B4FF"/>
          </a:solidFill>
          <a:ln>
            <a:noFill/>
          </a:ln>
          <a:effectLst>
            <a:glow rad="635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548640"/>
            <a:ext cx="7315200" cy="347472"/>
          </a:xfrm>
          <a:prstGeom prst="rect">
            <a:avLst/>
          </a:prstGeom>
          <a:noFill/>
        </p:spPr>
        <p:txBody>
          <a:bodyPr wrap="square">
            <a:spAutoFit/>
          </a:bodyPr>
          <a:lstStyle/>
          <a:p>
            <a:pPr algn="l"/>
            <a:r>
              <a:rPr sz="1100" b="1" i="0">
                <a:solidFill>
                  <a:srgbClr val="00B4FF"/>
                </a:solidFill>
                <a:latin typeface="Calibri"/>
              </a:rPr>
              <a:t>END OF MODULE</a:t>
            </a:r>
          </a:p>
        </p:txBody>
      </p:sp>
      <p:sp>
        <p:nvSpPr>
          <p:cNvPr id="6" name="TextBox 5"/>
          <p:cNvSpPr txBox="1"/>
          <p:nvPr/>
        </p:nvSpPr>
        <p:spPr>
          <a:xfrm>
            <a:off x="411480" y="1005840"/>
            <a:ext cx="7315200" cy="1828800"/>
          </a:xfrm>
          <a:prstGeom prst="rect">
            <a:avLst/>
          </a:prstGeom>
          <a:noFill/>
        </p:spPr>
        <p:txBody>
          <a:bodyPr wrap="square">
            <a:spAutoFit/>
          </a:bodyPr>
          <a:lstStyle/>
          <a:p>
            <a:pPr algn="l"/>
            <a:r>
              <a:rPr sz="4000" b="1" i="0">
                <a:solidFill>
                  <a:srgbClr val="FFFFFF"/>
                </a:solidFill>
                <a:latin typeface="Calibri"/>
              </a:rPr>
              <a:t>Terminal Basics:
The Terminal</a:t>
            </a:r>
          </a:p>
        </p:txBody>
      </p:sp>
      <p:sp>
        <p:nvSpPr>
          <p:cNvPr id="7" name="Rectangle 6"/>
          <p:cNvSpPr/>
          <p:nvPr/>
        </p:nvSpPr>
        <p:spPr>
          <a:xfrm>
            <a:off x="411480" y="2971800"/>
            <a:ext cx="5486400" cy="254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3154680"/>
            <a:ext cx="3657600" cy="320040"/>
          </a:xfrm>
          <a:prstGeom prst="rect">
            <a:avLst/>
          </a:prstGeom>
          <a:noFill/>
        </p:spPr>
        <p:txBody>
          <a:bodyPr wrap="square">
            <a:spAutoFit/>
          </a:bodyPr>
          <a:lstStyle/>
          <a:p>
            <a:pPr algn="l"/>
            <a:r>
              <a:rPr sz="1100" b="1" i="0">
                <a:solidFill>
                  <a:srgbClr val="FFAA00"/>
                </a:solidFill>
                <a:latin typeface="Calibri"/>
              </a:rPr>
              <a:t>NEXT STEPS</a:t>
            </a:r>
          </a:p>
        </p:txBody>
      </p:sp>
      <p:sp>
        <p:nvSpPr>
          <p:cNvPr id="9" name="TextBox 8"/>
          <p:cNvSpPr txBox="1"/>
          <p:nvPr/>
        </p:nvSpPr>
        <p:spPr>
          <a:xfrm>
            <a:off x="411480" y="3566160"/>
            <a:ext cx="6858000" cy="2560320"/>
          </a:xfrm>
          <a:prstGeom prst="rect">
            <a:avLst/>
          </a:prstGeom>
          <a:noFill/>
        </p:spPr>
        <p:txBody>
          <a:bodyPr wrap="square">
            <a:spAutoFit/>
          </a:bodyPr>
          <a:lstStyle/>
          <a:p>
            <a:pPr algn="l">
              <a:spcBef>
                <a:spcPts val="1000"/>
              </a:spcBef>
            </a:pPr>
            <a:r>
              <a:rPr sz="1400" b="0">
                <a:solidFill>
                  <a:srgbClr val="A8B4C8"/>
                </a:solidFill>
                <a:latin typeface="Calibri"/>
              </a:rPr>
              <a:t>  1.   Run each hands-on exercise from memory — no peeking at the slide.</a:t>
            </a:r>
          </a:p>
          <a:p>
            <a:pPr algn="l">
              <a:spcBef>
                <a:spcPts val="1000"/>
              </a:spcBef>
            </a:pPr>
            <a:r>
              <a:rPr sz="1400" b="0">
                <a:solidFill>
                  <a:srgbClr val="A8B4C8"/>
                </a:solidFill>
                <a:latin typeface="Calibri"/>
              </a:rPr>
              <a:t>  2.   Walk the file tree by clicking (The Machine) and then by typing — compare the experience.</a:t>
            </a:r>
          </a:p>
          <a:p>
            <a:pPr algn="l">
              <a:spcBef>
                <a:spcPts val="1000"/>
              </a:spcBef>
            </a:pPr>
            <a:r>
              <a:rPr sz="1400" b="0">
                <a:solidFill>
                  <a:srgbClr val="A8B4C8"/>
                </a:solidFill>
                <a:latin typeface="Calibri"/>
              </a:rPr>
              <a:t>  3.   In your next Claude Code session, read the terminal output the agent generates and narrate what it is doing.</a:t>
            </a:r>
          </a:p>
          <a:p>
            <a:pPr algn="l">
              <a:spcBef>
                <a:spcPts val="1000"/>
              </a:spcBef>
            </a:pPr>
            <a:r>
              <a:rPr sz="1400" b="0">
                <a:solidFill>
                  <a:srgbClr val="A8B4C8"/>
                </a:solidFill>
                <a:latin typeface="Calibri"/>
              </a:rPr>
              <a:t>  4.   Move to the next module: Terminal Basics — Git and Version Control.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