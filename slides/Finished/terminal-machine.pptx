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0"/>
            <a:ext cx="1270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5486400" cy="320040"/>
          </a:xfrm>
          <a:prstGeom prst="rect">
            <a:avLst/>
          </a:prstGeom>
          <a:noFill/>
        </p:spPr>
        <p:txBody>
          <a:bodyPr wrap="square">
            <a:spAutoFit/>
          </a:bodyPr>
          <a:lstStyle/>
          <a:p>
            <a:pPr algn="l"/>
            <a:r>
              <a:rPr sz="1000" b="1" i="0">
                <a:solidFill>
                  <a:srgbClr val="00B4FF"/>
                </a:solidFill>
                <a:latin typeface="Calibri"/>
              </a:rPr>
              <a:t>AGENTIC COMMANDERS COURSE</a:t>
            </a:r>
          </a:p>
        </p:txBody>
      </p:sp>
      <p:sp>
        <p:nvSpPr>
          <p:cNvPr id="4" name="TextBox 3"/>
          <p:cNvSpPr txBox="1"/>
          <p:nvPr/>
        </p:nvSpPr>
        <p:spPr>
          <a:xfrm>
            <a:off x="274320" y="914400"/>
            <a:ext cx="5943600" cy="2560320"/>
          </a:xfrm>
          <a:prstGeom prst="rect">
            <a:avLst/>
          </a:prstGeom>
          <a:noFill/>
        </p:spPr>
        <p:txBody>
          <a:bodyPr wrap="square">
            <a:spAutoFit/>
          </a:bodyPr>
          <a:lstStyle/>
          <a:p>
            <a:pPr algn="l"/>
            <a:r>
              <a:rPr sz="4000" b="1" i="0">
                <a:solidFill>
                  <a:srgbClr val="FFFFFF"/>
                </a:solidFill>
                <a:latin typeface="Calibri"/>
              </a:rPr>
              <a:t>Terminal Basics:
The Machine</a:t>
            </a:r>
          </a:p>
        </p:txBody>
      </p:sp>
      <p:sp>
        <p:nvSpPr>
          <p:cNvPr id="5" name="Rectangle 4"/>
          <p:cNvSpPr/>
          <p:nvPr/>
        </p:nvSpPr>
        <p:spPr>
          <a:xfrm>
            <a:off x="274320" y="3657600"/>
            <a:ext cx="530352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794760"/>
            <a:ext cx="5486400" cy="457200"/>
          </a:xfrm>
          <a:prstGeom prst="rect">
            <a:avLst/>
          </a:prstGeom>
          <a:noFill/>
        </p:spPr>
        <p:txBody>
          <a:bodyPr wrap="square">
            <a:spAutoFit/>
          </a:bodyPr>
          <a:lstStyle/>
          <a:p>
            <a:pPr algn="l"/>
            <a:r>
              <a:rPr sz="1300" b="0" i="0">
                <a:solidFill>
                  <a:srgbClr val="A8B4C8"/>
                </a:solidFill>
                <a:latin typeface="Calibri"/>
              </a:rPr>
              <a:t>PREREQUISITE MODULE  |  TERMINAL BASICS</a:t>
            </a:r>
          </a:p>
        </p:txBody>
      </p:sp>
      <p:sp>
        <p:nvSpPr>
          <p:cNvPr id="7" name="Rectangle 6"/>
          <p:cNvSpPr/>
          <p:nvPr/>
        </p:nvSpPr>
        <p:spPr>
          <a:xfrm>
            <a:off x="6492240" y="320040"/>
            <a:ext cx="5394960" cy="60807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040380"/>
            <a:ext cx="5394960" cy="274320"/>
          </a:xfrm>
          <a:prstGeom prst="rect">
            <a:avLst/>
          </a:prstGeom>
          <a:noFill/>
        </p:spPr>
        <p:txBody>
          <a:bodyPr wrap="square">
            <a:spAutoFit/>
          </a:bodyPr>
          <a:lstStyle/>
          <a:p>
            <a:pPr algn="ctr"/>
            <a:r>
              <a:rPr sz="900" b="1" i="0">
                <a:solidFill>
                  <a:srgbClr val="00B4FF"/>
                </a:solidFill>
                <a:latin typeface="Calibri"/>
              </a:rPr>
              <a:t>◼  IMAGE</a:t>
            </a:r>
          </a:p>
        </p:txBody>
      </p:sp>
      <p:sp>
        <p:nvSpPr>
          <p:cNvPr id="9" name="TextBox 8"/>
          <p:cNvSpPr txBox="1"/>
          <p:nvPr/>
        </p:nvSpPr>
        <p:spPr>
          <a:xfrm>
            <a:off x="6675120" y="3314700"/>
            <a:ext cx="5029200" cy="914400"/>
          </a:xfrm>
          <a:prstGeom prst="rect">
            <a:avLst/>
          </a:prstGeom>
          <a:noFill/>
        </p:spPr>
        <p:txBody>
          <a:bodyPr wrap="square">
            <a:spAutoFit/>
          </a:bodyPr>
          <a:lstStyle/>
          <a:p>
            <a:pPr algn="ctr"/>
            <a:r>
              <a:rPr sz="900" b="0" i="0">
                <a:solidFill>
                  <a:srgbClr val="A8B4C8"/>
                </a:solidFill>
                <a:latin typeface="Calibri"/>
              </a:rPr>
              <a:t>[IMAGE: Soldier at a command post terminal reviewing folder structures on dual monitors]</a:t>
            </a:r>
          </a:p>
        </p:txBody>
      </p:sp>
      <p:sp>
        <p:nvSpPr>
          <p:cNvPr id="10" name="Rectangle 9"/>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OVERVIEW</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Situation Brief</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25880"/>
            <a:ext cx="11365992" cy="96012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25880"/>
            <a:ext cx="50800" cy="96012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914400" cy="256032"/>
          </a:xfrm>
          <a:prstGeom prst="rect">
            <a:avLst/>
          </a:prstGeom>
          <a:noFill/>
        </p:spPr>
        <p:txBody>
          <a:bodyPr wrap="square">
            <a:spAutoFit/>
          </a:bodyPr>
          <a:lstStyle/>
          <a:p>
            <a:pPr algn="l"/>
            <a:r>
              <a:rPr sz="900" b="1" i="0">
                <a:solidFill>
                  <a:srgbClr val="FFAA00"/>
                </a:solidFill>
                <a:latin typeface="Calibri"/>
              </a:rPr>
              <a:t>BLUF</a:t>
            </a:r>
          </a:p>
        </p:txBody>
      </p:sp>
      <p:sp>
        <p:nvSpPr>
          <p:cNvPr id="10" name="TextBox 9"/>
          <p:cNvSpPr txBox="1"/>
          <p:nvPr/>
        </p:nvSpPr>
        <p:spPr>
          <a:xfrm>
            <a:off x="594360" y="1618488"/>
            <a:ext cx="11000232" cy="594360"/>
          </a:xfrm>
          <a:prstGeom prst="rect">
            <a:avLst/>
          </a:prstGeom>
          <a:noFill/>
        </p:spPr>
        <p:txBody>
          <a:bodyPr wrap="square">
            <a:spAutoFit/>
          </a:bodyPr>
          <a:lstStyle/>
          <a:p>
            <a:pPr algn="l"/>
            <a:r>
              <a:rPr sz="1400" b="0" i="0">
                <a:solidFill>
                  <a:srgbClr val="FFFFFF"/>
                </a:solidFill>
                <a:latin typeface="Calibri"/>
              </a:rPr>
              <a:t>Everything on a computer lives in a file, files live in folders, and understanding that structure — plus the difference between plaintext and rich text — is the ground everything else stands on.</a:t>
            </a:r>
          </a:p>
        </p:txBody>
      </p:sp>
      <p:sp>
        <p:nvSpPr>
          <p:cNvPr id="11" name="TextBox 10"/>
          <p:cNvSpPr txBox="1"/>
          <p:nvPr/>
        </p:nvSpPr>
        <p:spPr>
          <a:xfrm>
            <a:off x="411480" y="2377440"/>
            <a:ext cx="4572000" cy="320040"/>
          </a:xfrm>
          <a:prstGeom prst="rect">
            <a:avLst/>
          </a:prstGeom>
          <a:noFill/>
        </p:spPr>
        <p:txBody>
          <a:bodyPr wrap="square">
            <a:spAutoFit/>
          </a:bodyPr>
          <a:lstStyle/>
          <a:p>
            <a:pPr algn="l"/>
            <a:r>
              <a:rPr sz="1200" b="1" i="0">
                <a:solidFill>
                  <a:srgbClr val="FFAA00"/>
                </a:solidFill>
                <a:latin typeface="Calibri"/>
              </a:rPr>
              <a:t>⏱  Self-paced (approximately 45 minutes)</a:t>
            </a:r>
          </a:p>
        </p:txBody>
      </p:sp>
      <p:sp>
        <p:nvSpPr>
          <p:cNvPr id="12" name="Rectangle 11"/>
          <p:cNvSpPr/>
          <p:nvPr/>
        </p:nvSpPr>
        <p:spPr>
          <a:xfrm>
            <a:off x="411480" y="2788920"/>
            <a:ext cx="11365992" cy="36118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788920"/>
            <a:ext cx="50800" cy="36118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52928"/>
            <a:ext cx="5486400" cy="256032"/>
          </a:xfrm>
          <a:prstGeom prst="rect">
            <a:avLst/>
          </a:prstGeom>
          <a:noFill/>
        </p:spPr>
        <p:txBody>
          <a:bodyPr wrap="square">
            <a:spAutoFit/>
          </a:bodyPr>
          <a:lstStyle/>
          <a:p>
            <a:pPr algn="l"/>
            <a:r>
              <a:rPr sz="900" b="1" i="0">
                <a:solidFill>
                  <a:srgbClr val="00B4FF"/>
                </a:solidFill>
                <a:latin typeface="Calibri"/>
              </a:rPr>
              <a:t>LEARNING OBJECTIVES</a:t>
            </a:r>
          </a:p>
        </p:txBody>
      </p:sp>
      <p:sp>
        <p:nvSpPr>
          <p:cNvPr id="15" name="TextBox 14"/>
          <p:cNvSpPr txBox="1"/>
          <p:nvPr/>
        </p:nvSpPr>
        <p:spPr>
          <a:xfrm>
            <a:off x="594360" y="3154680"/>
            <a:ext cx="11000232" cy="3108960"/>
          </a:xfrm>
          <a:prstGeom prst="rect">
            <a:avLst/>
          </a:prstGeom>
          <a:noFill/>
        </p:spPr>
        <p:txBody>
          <a:bodyPr wrap="square">
            <a:spAutoFit/>
          </a:bodyPr>
          <a:lstStyle/>
          <a:p>
            <a:pPr algn="l">
              <a:spcBef>
                <a:spcPts val="400"/>
              </a:spcBef>
            </a:pPr>
            <a:r>
              <a:rPr sz="1300" b="0">
                <a:solidFill>
                  <a:srgbClr val="A8B4C8"/>
                </a:solidFill>
                <a:latin typeface="Calibri"/>
              </a:rPr>
              <a:t>  ›  Navigate the filesystem without using search</a:t>
            </a:r>
          </a:p>
          <a:p>
            <a:pPr algn="l">
              <a:spcBef>
                <a:spcPts val="400"/>
              </a:spcBef>
            </a:pPr>
            <a:r>
              <a:rPr sz="1300" b="0">
                <a:solidFill>
                  <a:srgbClr val="A8B4C8"/>
                </a:solidFill>
                <a:latin typeface="Calibri"/>
              </a:rPr>
              <a:t>  ›  Read a file path as a route through the folder tree</a:t>
            </a:r>
          </a:p>
          <a:p>
            <a:pPr algn="l">
              <a:spcBef>
                <a:spcPts val="400"/>
              </a:spcBef>
            </a:pPr>
            <a:r>
              <a:rPr sz="1300" b="0">
                <a:solidFill>
                  <a:srgbClr val="A8B4C8"/>
                </a:solidFill>
                <a:latin typeface="Calibri"/>
              </a:rPr>
              <a:t>  ›  Explain the difference between plaintext and rich text and why it matters</a:t>
            </a:r>
          </a:p>
          <a:p>
            <a:pPr algn="l">
              <a:spcBef>
                <a:spcPts val="400"/>
              </a:spcBef>
            </a:pPr>
            <a:r>
              <a:rPr sz="1300" b="0">
                <a:solidFill>
                  <a:srgbClr val="A8B4C8"/>
                </a:solidFill>
                <a:latin typeface="Calibri"/>
              </a:rPr>
              <a:t>  ›  Open and view files in a code editor without changing anything</a:t>
            </a:r>
          </a:p>
          <a:p>
            <a:pPr algn="l">
              <a:spcBef>
                <a:spcPts val="400"/>
              </a:spcBef>
            </a:pPr>
            <a:r>
              <a:rPr sz="1300" b="0">
                <a:solidFill>
                  <a:srgbClr val="A8B4C8"/>
                </a:solidFill>
                <a:latin typeface="Calibri"/>
              </a:rPr>
              <a:t>  ›  Enable file extensions and understand why they are critical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01</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01</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Files, Folders,
and the Tree</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Every file has exactly one location in the tree. A path is the route to reach it — apps have been hiding this from you.</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reading a detailed map of an area of operations — every grid square has an address]</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Structure Under the Apps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 file holds data: a document, an image, a script.</a:t>
            </a:r>
          </a:p>
          <a:p>
            <a:pPr algn="l">
              <a:spcBef>
                <a:spcPts val="700"/>
              </a:spcBef>
            </a:pPr>
            <a:r>
              <a:rPr sz="1500" b="0">
                <a:solidFill>
                  <a:srgbClr val="FFFFFF"/>
                </a:solidFill>
                <a:latin typeface="Calibri"/>
              </a:rPr>
              <a:t>  ›  A folder (directory) holds files and other folders.</a:t>
            </a:r>
          </a:p>
          <a:p>
            <a:pPr algn="l">
              <a:spcBef>
                <a:spcPts val="700"/>
              </a:spcBef>
            </a:pPr>
            <a:r>
              <a:rPr sz="1500" b="0">
                <a:solidFill>
                  <a:srgbClr val="FFFFFF"/>
                </a:solidFill>
                <a:latin typeface="Calibri"/>
              </a:rPr>
              <a:t>  ›  Folders nest inside folders, forming a tree.</a:t>
            </a:r>
          </a:p>
          <a:p>
            <a:pPr algn="l">
              <a:spcBef>
                <a:spcPts val="700"/>
              </a:spcBef>
            </a:pPr>
            <a:r>
              <a:rPr sz="1500" b="0">
                <a:solidFill>
                  <a:srgbClr val="FFFFFF"/>
                </a:solidFill>
                <a:latin typeface="Calibri"/>
              </a:rPr>
              <a:t>  ›  Every file on the machine has exactly one location in that tree.</a:t>
            </a:r>
          </a:p>
          <a:p>
            <a:pPr algn="l">
              <a:spcBef>
                <a:spcPts val="700"/>
              </a:spcBef>
            </a:pPr>
            <a:r>
              <a:rPr sz="1500" b="0">
                <a:solidFill>
                  <a:srgbClr val="FFFFFF"/>
                </a:solidFill>
                <a:latin typeface="Calibri"/>
              </a:rPr>
              <a:t>  ›  Most apps hide this — when you save in Word, Word decides where it goes.</a:t>
            </a:r>
          </a:p>
          <a:p>
            <a:pPr algn="l">
              <a:spcBef>
                <a:spcPts val="700"/>
              </a:spcBef>
            </a:pPr>
            <a:r>
              <a:rPr sz="1500" b="0">
                <a:solidFill>
                  <a:srgbClr val="FFFFFF"/>
                </a:solidFill>
                <a:latin typeface="Calibri"/>
              </a:rPr>
              <a:t>  ›  The tree exists whether you see it or not.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terminal modules all depend on being able to think about where things are. A student who cannot read a path gets lost the moment they type their first command.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Is a Path?</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path is the route through the tree to reach a file.</a:t>
            </a:r>
          </a:p>
          <a:p>
            <a:pPr algn="l">
              <a:spcBef>
                <a:spcPts val="700"/>
              </a:spcBef>
            </a:pPr>
            <a:r>
              <a:rPr sz="1500" b="0">
                <a:solidFill>
                  <a:srgbClr val="FFFFFF"/>
                </a:solidFill>
                <a:latin typeface="Calibri"/>
              </a:rPr>
              <a:t>  ›  Windows example: C:\Users\YourName\Documents\report.txt</a:t>
            </a:r>
          </a:p>
          <a:p>
            <a:pPr algn="l">
              <a:spcBef>
                <a:spcPts val="700"/>
              </a:spcBef>
            </a:pPr>
            <a:r>
              <a:rPr sz="1500" b="0">
                <a:solidFill>
                  <a:srgbClr val="FFFFFF"/>
                </a:solidFill>
                <a:latin typeface="Calibri"/>
              </a:rPr>
              <a:t>  ›  Mac/Linux example: /home/yourname/documents/report.txt</a:t>
            </a:r>
          </a:p>
          <a:p>
            <a:pPr algn="l">
              <a:spcBef>
                <a:spcPts val="700"/>
              </a:spcBef>
            </a:pPr>
            <a:r>
              <a:rPr sz="1500" b="0">
                <a:solidFill>
                  <a:srgbClr val="FFFFFF"/>
                </a:solidFill>
                <a:latin typeface="Calibri"/>
              </a:rPr>
              <a:t>  ›  Read it left to right — each backslash or forward slash is one step down the tree.</a:t>
            </a:r>
          </a:p>
          <a:p>
            <a:pPr algn="l">
              <a:spcBef>
                <a:spcPts val="700"/>
              </a:spcBef>
            </a:pPr>
            <a:r>
              <a:rPr sz="1500" b="0">
                <a:solidFill>
                  <a:srgbClr val="FFFFFF"/>
                </a:solidFill>
                <a:latin typeface="Calibri"/>
              </a:rPr>
              <a:t>  ›  The address bar in File Explorer or Finder shows the path — read it.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Walking a path by clicking in File Explorer is the same moves you will type in the terminal. This is not a new concept — it is the same concept made visible.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Example: Finding a File You Saved Last Week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Navigating to a downloaded file without using search</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Open File Explorer (Windows) or Finder (Mac).</a:t>
            </a:r>
          </a:p>
          <a:p>
            <a:pPr algn="l">
              <a:spcBef>
                <a:spcPts val="300"/>
              </a:spcBef>
            </a:pPr>
            <a:r>
              <a:rPr sz="1200" b="0">
                <a:solidFill>
                  <a:srgbClr val="FFFFFF"/>
                </a:solidFill>
                <a:latin typeface="Calibri"/>
              </a:rPr>
              <a:t>Navigate to your Downloads folder — click, do not search.</a:t>
            </a:r>
          </a:p>
          <a:p>
            <a:pPr algn="l">
              <a:spcBef>
                <a:spcPts val="300"/>
              </a:spcBef>
            </a:pPr>
            <a:r>
              <a:rPr sz="1200" b="0">
                <a:solidFill>
                  <a:srgbClr val="FFFFFF"/>
                </a:solidFill>
                <a:latin typeface="Calibri"/>
              </a:rPr>
              <a:t>Find a file you downloaded recently.</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Look at the address bar at the top.</a:t>
            </a:r>
          </a:p>
          <a:p>
            <a:pPr algn="l">
              <a:spcBef>
                <a:spcPts val="300"/>
              </a:spcBef>
            </a:pPr>
            <a:r>
              <a:rPr sz="1200" b="0">
                <a:solidFill>
                  <a:srgbClr val="A8B4C8"/>
                </a:solidFill>
                <a:latin typeface="Calibri"/>
              </a:rPr>
              <a:t>  That string of words separated by slashes is the path.</a:t>
            </a:r>
          </a:p>
          <a:p>
            <a:pPr algn="l">
              <a:spcBef>
                <a:spcPts val="300"/>
              </a:spcBef>
            </a:pPr>
            <a:r>
              <a:rPr sz="1200" b="0">
                <a:solidFill>
                  <a:srgbClr val="A8B4C8"/>
                </a:solidFill>
                <a:latin typeface="Calibri"/>
              </a:rPr>
              <a:t>  It is the route through the tree to reach that exact file.</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You have been walking this tree every time you opened a folder.</a:t>
            </a:r>
          </a:p>
          <a:p>
            <a:pPr algn="l">
              <a:spcBef>
                <a:spcPts val="300"/>
              </a:spcBef>
            </a:pPr>
            <a:r>
              <a:rPr sz="1200" b="0">
                <a:solidFill>
                  <a:srgbClr val="A8B4C8"/>
                </a:solidFill>
                <a:latin typeface="Calibri"/>
              </a:rPr>
              <a:t>  The terminal is the same moves — typed instead of clicked.</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Soldier navigating a grid map by coordinates — each step a deliberate move through known terrain]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Turn On File Extensions Now</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By default, Windows hides file extensions (.docx, .txt, .pdf after the name).</a:t>
            </a:r>
          </a:p>
          <a:p>
            <a:pPr algn="l">
              <a:spcBef>
                <a:spcPts val="700"/>
              </a:spcBef>
            </a:pPr>
            <a:r>
              <a:rPr sz="1500" b="0">
                <a:solidFill>
                  <a:srgbClr val="FFFFFF"/>
                </a:solidFill>
                <a:latin typeface="Calibri"/>
              </a:rPr>
              <a:t>  ›  You need to see extensions throughout this course.</a:t>
            </a:r>
          </a:p>
          <a:p>
            <a:pPr algn="l">
              <a:spcBef>
                <a:spcPts val="700"/>
              </a:spcBef>
            </a:pPr>
            <a:r>
              <a:rPr sz="1500" b="0">
                <a:solidFill>
                  <a:srgbClr val="FFFFFF"/>
                </a:solidFill>
                <a:latin typeface="Calibri"/>
              </a:rPr>
              <a:t>  ›  Turn them on: File Explorer → View → Show → File name extensions.</a:t>
            </a:r>
          </a:p>
          <a:p>
            <a:pPr algn="l">
              <a:spcBef>
                <a:spcPts val="700"/>
              </a:spcBef>
            </a:pPr>
            <a:r>
              <a:rPr sz="1500" b="0">
                <a:solidFill>
                  <a:srgbClr val="FFFFFF"/>
                </a:solidFill>
                <a:latin typeface="Calibri"/>
              </a:rPr>
              <a:t>  ›  Why it matters — the extension tells you what the file is:</a:t>
            </a:r>
          </a:p>
          <a:p>
            <a:pPr algn="l">
              <a:spcBef>
                <a:spcPts val="300"/>
              </a:spcBef>
            </a:pPr>
            <a:r>
              <a:rPr sz="1300" b="0">
                <a:solidFill>
                  <a:srgbClr val="A8B4C8"/>
                </a:solidFill>
                <a:latin typeface="Calibri"/>
              </a:rPr>
              <a:t>      ◦  report.txt — plaintext. report.docx — rich text. script.py — Python.</a:t>
            </a:r>
          </a:p>
          <a:p>
            <a:pPr algn="l">
              <a:spcBef>
                <a:spcPts val="300"/>
              </a:spcBef>
            </a:pPr>
            <a:r>
              <a:rPr sz="1300" b="0">
                <a:solidFill>
                  <a:srgbClr val="A8B4C8"/>
                </a:solidFill>
                <a:latin typeface="Calibri"/>
              </a:rPr>
              <a:t>      ◦  Two files named report with different extensions are fundamentally different things.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Turning extensions on here prevents confusion in the next section where the difference between .txt and .docx is the whole lesson. Do not skip this step.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Files, Folders, and the Tree</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File Explorer (Windows) or Finder (Mac).</a:t>
            </a:r>
          </a:p>
          <a:p>
            <a:pPr algn="l">
              <a:spcBef>
                <a:spcPts val="1000"/>
              </a:spcBef>
            </a:pPr>
            <a:r>
              <a:rPr sz="1400" b="0">
                <a:solidFill>
                  <a:srgbClr val="FFFFFF"/>
                </a:solidFill>
                <a:latin typeface="Calibri"/>
              </a:rPr>
              <a:t>  2.   Navigate from your home folder down to Downloads by clicking — do not use search.</a:t>
            </a:r>
          </a:p>
          <a:p>
            <a:pPr algn="l">
              <a:spcBef>
                <a:spcPts val="1000"/>
              </a:spcBef>
            </a:pPr>
            <a:r>
              <a:rPr sz="1400" b="0">
                <a:solidFill>
                  <a:srgbClr val="FFFFFF"/>
                </a:solidFill>
                <a:latin typeface="Calibri"/>
              </a:rPr>
              <a:t>  3.   Find a file. Read its full path in the address bar.</a:t>
            </a:r>
          </a:p>
          <a:p>
            <a:pPr algn="l">
              <a:spcBef>
                <a:spcPts val="1000"/>
              </a:spcBef>
            </a:pPr>
            <a:r>
              <a:rPr sz="1400" b="0">
                <a:solidFill>
                  <a:srgbClr val="FFFFFF"/>
                </a:solidFill>
                <a:latin typeface="Calibri"/>
              </a:rPr>
              <a:t>  4.   Create a new folder on your Desktop. Name it 'practice'.</a:t>
            </a:r>
          </a:p>
          <a:p>
            <a:pPr algn="l">
              <a:spcBef>
                <a:spcPts val="1000"/>
              </a:spcBef>
            </a:pPr>
            <a:r>
              <a:rPr sz="1400" b="0">
                <a:solidFill>
                  <a:srgbClr val="FFFFFF"/>
                </a:solidFill>
                <a:latin typeface="Calibri"/>
              </a:rPr>
              <a:t>  5.   Move any file into that folder by dragging.</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navigating a tactical map to a specific grid — deliberate movement, no shortcuts]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just moved a file by dragging it into the 'practice' folder on your Desktop.
Write out the full path to where it now lives.
Could you give someone else those directions — as a path string — and have them find it without opening File Explorer? If not, what part of the path are you missing?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Files, Folders, and the Tree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Every file lives in exactly one location in the folder tree.</a:t>
            </a:r>
          </a:p>
          <a:p>
            <a:pPr algn="l">
              <a:spcBef>
                <a:spcPts val="1400"/>
              </a:spcBef>
            </a:pPr>
            <a:r>
              <a:rPr sz="1600" b="0">
                <a:solidFill>
                  <a:srgbClr val="FFFFFF"/>
                </a:solidFill>
                <a:latin typeface="Calibri"/>
              </a:rPr>
              <a:t>  ›  A path is the route through that tree — read it left to right, one slash at a time.</a:t>
            </a:r>
          </a:p>
          <a:p>
            <a:pPr algn="l">
              <a:spcBef>
                <a:spcPts val="1400"/>
              </a:spcBef>
            </a:pPr>
            <a:r>
              <a:rPr sz="1600" b="0">
                <a:solidFill>
                  <a:srgbClr val="FFFFFF"/>
                </a:solidFill>
                <a:latin typeface="Calibri"/>
              </a:rPr>
              <a:t>  ›  Apps hide the tree. The terminal exposes it. Both move through the same structure.</a:t>
            </a:r>
          </a:p>
          <a:p>
            <a:pPr algn="l">
              <a:spcBef>
                <a:spcPts val="1400"/>
              </a:spcBef>
            </a:pPr>
            <a:r>
              <a:rPr sz="1600" b="0">
                <a:solidFill>
                  <a:srgbClr val="FFFFFF"/>
                </a:solidFill>
                <a:latin typeface="Calibri"/>
              </a:rPr>
              <a:t>  ›  File extensions must be visible. Enable them now — every module depends on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I can describe a file, a folder, and how they nest into a tree</a:t>
            </a:r>
          </a:p>
          <a:p>
            <a:pPr algn="l">
              <a:spcBef>
                <a:spcPts val="800"/>
              </a:spcBef>
            </a:pPr>
            <a:r>
              <a:rPr sz="1300" b="0">
                <a:solidFill>
                  <a:srgbClr val="A8B4C8"/>
                </a:solidFill>
                <a:latin typeface="Calibri"/>
              </a:rPr>
              <a:t>  ☐   I can read a path as a route through that tree</a:t>
            </a:r>
          </a:p>
          <a:p>
            <a:pPr algn="l">
              <a:spcBef>
                <a:spcPts val="800"/>
              </a:spcBef>
            </a:pPr>
            <a:r>
              <a:rPr sz="1300" b="0">
                <a:solidFill>
                  <a:srgbClr val="A8B4C8"/>
                </a:solidFill>
                <a:latin typeface="Calibri"/>
              </a:rPr>
              <a:t>  ☐   I have navigated to a specific file without using search</a:t>
            </a:r>
          </a:p>
          <a:p>
            <a:pPr algn="l">
              <a:spcBef>
                <a:spcPts val="800"/>
              </a:spcBef>
            </a:pPr>
            <a:r>
              <a:rPr sz="1300" b="0">
                <a:solidFill>
                  <a:srgbClr val="A8B4C8"/>
                </a:solidFill>
                <a:latin typeface="Calibri"/>
              </a:rPr>
              <a:t>  ☐   File extensions are now visible on my machine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02</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02</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Plaintext vs
Rich Text</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 plaintext file is just characters — no hidden formatting. That is exactly what models and tools want.</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comparing a clean printed report to a marked-up draft with sticky notes and margin edits]</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Is Plaintext?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Plaintext is exactly what it says: text, nothing else.</a:t>
            </a:r>
          </a:p>
          <a:p>
            <a:pPr algn="l">
              <a:spcBef>
                <a:spcPts val="700"/>
              </a:spcBef>
            </a:pPr>
            <a:r>
              <a:rPr sz="1500" b="0">
                <a:solidFill>
                  <a:srgbClr val="FFFFFF"/>
                </a:solidFill>
                <a:latin typeface="Calibri"/>
              </a:rPr>
              <a:t>  ›  Open a .txt file in any program on any machine — you see every character it contains.</a:t>
            </a:r>
          </a:p>
          <a:p>
            <a:pPr algn="l">
              <a:spcBef>
                <a:spcPts val="700"/>
              </a:spcBef>
            </a:pPr>
            <a:r>
              <a:rPr sz="1500" b="0">
                <a:solidFill>
                  <a:srgbClr val="FFFFFF"/>
                </a:solidFill>
                <a:latin typeface="Calibri"/>
              </a:rPr>
              <a:t>  ›  No hidden formatting. No metadata. What you see is what the machine reads.</a:t>
            </a:r>
          </a:p>
          <a:p>
            <a:pPr algn="l">
              <a:spcBef>
                <a:spcPts val="700"/>
              </a:spcBef>
            </a:pPr>
            <a:r>
              <a:rPr sz="1500" b="0">
                <a:solidFill>
                  <a:srgbClr val="FFFFFF"/>
                </a:solidFill>
                <a:latin typeface="Calibri"/>
              </a:rPr>
              <a:t>  ›  Common plaintext extensions: .txt, .md, .csv, .json, .py</a:t>
            </a:r>
          </a:p>
          <a:p>
            <a:pPr algn="l">
              <a:spcBef>
                <a:spcPts val="700"/>
              </a:spcBef>
            </a:pPr>
            <a:r>
              <a:rPr sz="1500" b="0">
                <a:solidFill>
                  <a:srgbClr val="FFFFFF"/>
                </a:solidFill>
                <a:latin typeface="Calibri"/>
              </a:rPr>
              <a:t>  ›  The terminal, AI tools, and version control all work natively with plaintext.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Plaintext is honest — there are no hidden characters. Rich text hides things. That is the entire lesson at this level.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Is Rich Text?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Rich text files store formatting instructions alongside the actual text.</a:t>
            </a:r>
          </a:p>
          <a:p>
            <a:pPr algn="l">
              <a:spcBef>
                <a:spcPts val="700"/>
              </a:spcBef>
            </a:pPr>
            <a:r>
              <a:rPr sz="1500" b="0">
                <a:solidFill>
                  <a:srgbClr val="FFFFFF"/>
                </a:solidFill>
                <a:latin typeface="Calibri"/>
              </a:rPr>
              <a:t>  ›  Bold, font size, margins, revision history — all packed in alongside the words.</a:t>
            </a:r>
          </a:p>
          <a:p>
            <a:pPr algn="l">
              <a:spcBef>
                <a:spcPts val="700"/>
              </a:spcBef>
            </a:pPr>
            <a:r>
              <a:rPr sz="1500" b="0">
                <a:solidFill>
                  <a:srgbClr val="FFFFFF"/>
                </a:solidFill>
                <a:latin typeface="Calibri"/>
              </a:rPr>
              <a:t>  ›  Common rich text extensions: .docx, .xlsx, .pdf</a:t>
            </a:r>
          </a:p>
          <a:p>
            <a:pPr algn="l">
              <a:spcBef>
                <a:spcPts val="700"/>
              </a:spcBef>
            </a:pPr>
            <a:r>
              <a:rPr sz="1500" b="0">
                <a:solidFill>
                  <a:srgbClr val="FFFFFF"/>
                </a:solidFill>
                <a:latin typeface="Calibri"/>
              </a:rPr>
              <a:t>  ›  When you paste from Word into a terminal or markdown document:</a:t>
            </a:r>
          </a:p>
          <a:p>
            <a:pPr algn="l">
              <a:spcBef>
                <a:spcPts val="300"/>
              </a:spcBef>
            </a:pPr>
            <a:r>
              <a:rPr sz="1300" b="0">
                <a:solidFill>
                  <a:srgbClr val="A8B4C8"/>
                </a:solidFill>
                <a:latin typeface="Calibri"/>
              </a:rPr>
              <a:t>      ◦  Smart quotes, em-dashes, and non-breaking spaces travel with the content.</a:t>
            </a:r>
          </a:p>
          <a:p>
            <a:pPr algn="l">
              <a:spcBef>
                <a:spcPts val="300"/>
              </a:spcBef>
            </a:pPr>
            <a:r>
              <a:rPr sz="1300" b="0">
                <a:solidFill>
                  <a:srgbClr val="A8B4C8"/>
                </a:solidFill>
                <a:latin typeface="Calibri"/>
              </a:rPr>
              <a:t>      ◦  Those hidden characters come along silently — the file looks fine but behaves wrong.</a:t>
            </a:r>
          </a:p>
          <a:p>
            <a:pPr algn="l">
              <a:spcBef>
                <a:spcPts val="700"/>
              </a:spcBef>
            </a:pPr>
            <a:r>
              <a:rPr sz="1500" b="0">
                <a:solidFill>
                  <a:srgbClr val="FFFFFF"/>
                </a:solidFill>
                <a:latin typeface="Calibri"/>
              </a:rPr>
              <a:t>  ›  Hidden characters are the first thing to check when output looks correct but breaks.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Do not go into encodings (UTF-8, ASCII) at this level. 'Plaintext is honest, rich text hides things' is the entire lesson.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Example: The Word-to-Markdown Trap</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Pasting formatted content from Word into a Markdown file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Type a bullet point in Word using a hyphen.</a:t>
            </a:r>
          </a:p>
          <a:p>
            <a:pPr algn="l">
              <a:spcBef>
                <a:spcPts val="300"/>
              </a:spcBef>
            </a:pPr>
            <a:r>
              <a:rPr sz="1200" b="0">
                <a:solidFill>
                  <a:srgbClr val="A8B4C8"/>
                </a:solidFill>
                <a:latin typeface="Calibri"/>
              </a:rPr>
              <a:t>  Word automatically converts your straight quote to a 'smart quote'.</a:t>
            </a:r>
          </a:p>
          <a:p>
            <a:pPr algn="l">
              <a:spcBef>
                <a:spcPts val="300"/>
              </a:spcBef>
            </a:pPr>
            <a:r>
              <a:rPr sz="1200" b="0">
                <a:solidFill>
                  <a:srgbClr val="A8B4C8"/>
                </a:solidFill>
                <a:latin typeface="Calibri"/>
              </a:rPr>
              <a:t>  Word converts your double hyphen to an em-dash.</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Paste that into a Markdown file.</a:t>
            </a:r>
          </a:p>
          <a:p>
            <a:pPr algn="l">
              <a:spcBef>
                <a:spcPts val="300"/>
              </a:spcBef>
            </a:pPr>
            <a:r>
              <a:rPr sz="1200" b="0">
                <a:solidFill>
                  <a:srgbClr val="A8B4C8"/>
                </a:solidFill>
                <a:latin typeface="Calibri"/>
              </a:rPr>
              <a:t>  The Markdown parser reads the curly apostrophe as a plain character.</a:t>
            </a:r>
          </a:p>
          <a:p>
            <a:pPr algn="l">
              <a:spcBef>
                <a:spcPts val="300"/>
              </a:spcBef>
            </a:pPr>
            <a:r>
              <a:rPr sz="1200" b="0">
                <a:solidFill>
                  <a:srgbClr val="A8B4C8"/>
                </a:solidFill>
                <a:latin typeface="Calibri"/>
              </a:rPr>
              <a:t>  The em-dash breaks the bullet.</a:t>
            </a:r>
          </a:p>
          <a:p>
            <a:pPr algn="l">
              <a:spcBef>
                <a:spcPts val="300"/>
              </a:spcBef>
            </a:pPr>
            <a:r>
              <a:rPr sz="1200" b="0">
                <a:solidFill>
                  <a:srgbClr val="A8B4C8"/>
                </a:solidFill>
                <a:latin typeface="Calibri"/>
              </a:rPr>
              <a:t>  What looked fine in Word is broken in plaintext.</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The fix: write Markdown in a code editor, not Word.</a:t>
            </a:r>
          </a:p>
          <a:p>
            <a:pPr algn="l">
              <a:spcBef>
                <a:spcPts val="300"/>
              </a:spcBef>
            </a:pPr>
            <a:r>
              <a:rPr sz="1200" b="0">
                <a:solidFill>
                  <a:srgbClr val="A8B4C8"/>
                </a:solidFill>
                <a:latin typeface="Calibri"/>
              </a:rPr>
              <a:t>  Code editors work in plaintext — no automatic formatting changes.</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Soldier comparing two versions of the same report — clean original vs. garbled retransmission]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Plaintext vs Rich Text</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Notepad (Windows) and type a few sentences. Save as 'test.txt'.</a:t>
            </a:r>
          </a:p>
          <a:p>
            <a:pPr algn="l">
              <a:spcBef>
                <a:spcPts val="1000"/>
              </a:spcBef>
            </a:pPr>
            <a:r>
              <a:rPr sz="1400" b="0">
                <a:solidFill>
                  <a:srgbClr val="FFFFFF"/>
                </a:solidFill>
                <a:latin typeface="Calibri"/>
              </a:rPr>
              <a:t>  2.   Open the same file in VS Code. Compare how it looks.</a:t>
            </a:r>
          </a:p>
          <a:p>
            <a:pPr algn="l">
              <a:spcBef>
                <a:spcPts val="1000"/>
              </a:spcBef>
            </a:pPr>
            <a:r>
              <a:rPr sz="1400" b="0">
                <a:solidFill>
                  <a:srgbClr val="FFFFFF"/>
                </a:solidFill>
                <a:latin typeface="Calibri"/>
              </a:rPr>
              <a:t>  3.   Now open any .docx file in VS Code (not Word). Look at what is actually inside it.</a:t>
            </a:r>
          </a:p>
          <a:p>
            <a:pPr algn="l">
              <a:spcBef>
                <a:spcPts val="1000"/>
              </a:spcBef>
            </a:pPr>
            <a:r>
              <a:rPr sz="1400" b="0">
                <a:solidFill>
                  <a:srgbClr val="FFFFFF"/>
                </a:solidFill>
                <a:latin typeface="Calibri"/>
              </a:rPr>
              <a:t>  4.   You are seeing the difference between 'what a human reads' and 'what a machine reads.'</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reading a signals intercept — what the radio received vs. what was intended]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paste a block of text from a Word document into your AI chatbot and the formatting looks off.
The text appears correct on your screen, but the model is misreading parts of it.
What is the most likely cause?
What would you do instead of pasting from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Plaintext vs Rich Text</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Plaintext: just characters — no hidden formatting. What you see is what the machine reads.</a:t>
            </a:r>
          </a:p>
          <a:p>
            <a:pPr algn="l">
              <a:spcBef>
                <a:spcPts val="1400"/>
              </a:spcBef>
            </a:pPr>
            <a:r>
              <a:rPr sz="1600" b="0">
                <a:solidFill>
                  <a:srgbClr val="FFFFFF"/>
                </a:solidFill>
                <a:latin typeface="Calibri"/>
              </a:rPr>
              <a:t>  ›  Rich text: formatting instructions packed alongside the words. Hidden characters travel on paste.</a:t>
            </a:r>
          </a:p>
          <a:p>
            <a:pPr algn="l">
              <a:spcBef>
                <a:spcPts val="1400"/>
              </a:spcBef>
            </a:pPr>
            <a:r>
              <a:rPr sz="1600" b="0">
                <a:solidFill>
                  <a:srgbClr val="FFFFFF"/>
                </a:solidFill>
                <a:latin typeface="Calibri"/>
              </a:rPr>
              <a:t>  ›  Models, terminals, and version control all expect plaintext.</a:t>
            </a:r>
          </a:p>
          <a:p>
            <a:pPr algn="l">
              <a:spcBef>
                <a:spcPts val="1400"/>
              </a:spcBef>
            </a:pPr>
            <a:r>
              <a:rPr sz="1600" b="0">
                <a:solidFill>
                  <a:srgbClr val="FFFFFF"/>
                </a:solidFill>
                <a:latin typeface="Calibri"/>
              </a:rPr>
              <a:t>  ›  If something looks correct but behaves wrong — hidden characters are the first thing to check.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I can distinguish plaintext from rich text and give an example of each</a:t>
            </a:r>
          </a:p>
          <a:p>
            <a:pPr algn="l">
              <a:spcBef>
                <a:spcPts val="800"/>
              </a:spcBef>
            </a:pPr>
            <a:r>
              <a:rPr sz="1300" b="0">
                <a:solidFill>
                  <a:srgbClr val="A8B4C8"/>
                </a:solidFill>
                <a:latin typeface="Calibri"/>
              </a:rPr>
              <a:t>  ☐   I understand why pasting from Word can silently break things</a:t>
            </a:r>
          </a:p>
          <a:p>
            <a:pPr algn="l">
              <a:spcBef>
                <a:spcPts val="800"/>
              </a:spcBef>
            </a:pPr>
            <a:r>
              <a:rPr sz="1300" b="0">
                <a:solidFill>
                  <a:srgbClr val="A8B4C8"/>
                </a:solidFill>
                <a:latin typeface="Calibri"/>
              </a:rPr>
              <a:t>  ☐   I know the common plaintext extensions (.txt, .md, .csv, .json, .py)</a:t>
            </a:r>
          </a:p>
          <a:p>
            <a:pPr algn="l">
              <a:spcBef>
                <a:spcPts val="800"/>
              </a:spcBef>
            </a:pPr>
            <a:r>
              <a:rPr sz="1300" b="0">
                <a:solidFill>
                  <a:srgbClr val="A8B4C8"/>
                </a:solidFill>
                <a:latin typeface="Calibri"/>
              </a:rPr>
              <a:t>  ☐   I have seen what a .docx file actually looks like underneath in VS Code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03</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03</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Looking at Files
in a Real Editor</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Install a code editor, open a folder, read a file, close it without fear. That is the whole job today.</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setting up a field workstation — equipment staged, ready for the mission, nothing extra]</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Is a Code Editor?</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 code editor is not an IDE — it is a text viewer with good defaults.</a:t>
            </a:r>
          </a:p>
          <a:p>
            <a:pPr algn="l">
              <a:spcBef>
                <a:spcPts val="700"/>
              </a:spcBef>
            </a:pPr>
            <a:r>
              <a:rPr sz="1500" b="0">
                <a:solidFill>
                  <a:srgbClr val="FFFFFF"/>
                </a:solidFill>
                <a:latin typeface="Calibri"/>
              </a:rPr>
              <a:t>  ›  Syntax highlighting, a visible file tree, and preview mode for formatted files.</a:t>
            </a:r>
          </a:p>
          <a:p>
            <a:pPr algn="l">
              <a:spcBef>
                <a:spcPts val="700"/>
              </a:spcBef>
            </a:pPr>
            <a:r>
              <a:rPr sz="1500" b="0">
                <a:solidFill>
                  <a:srgbClr val="FFFFFF"/>
                </a:solidFill>
                <a:latin typeface="Calibri"/>
              </a:rPr>
              <a:t>  ›  VS Code is the standard choice: free, runs on Windows and Mac, handles every file type in this course.</a:t>
            </a:r>
          </a:p>
          <a:p>
            <a:pPr algn="l">
              <a:spcBef>
                <a:spcPts val="700"/>
              </a:spcBef>
            </a:pPr>
            <a:r>
              <a:rPr sz="1500" b="0">
                <a:solidFill>
                  <a:srgbClr val="FFFFFF"/>
                </a:solidFill>
                <a:latin typeface="Calibri"/>
              </a:rPr>
              <a:t>  ›  Three things to know today:</a:t>
            </a:r>
          </a:p>
          <a:p>
            <a:pPr algn="l">
              <a:spcBef>
                <a:spcPts val="300"/>
              </a:spcBef>
            </a:pPr>
            <a:r>
              <a:rPr sz="1300" b="0">
                <a:solidFill>
                  <a:srgbClr val="A8B4C8"/>
                </a:solidFill>
                <a:latin typeface="Calibri"/>
              </a:rPr>
              <a:t>      ◦  File tree panel (left side) — shows the folder structure, the same tree now labeled.</a:t>
            </a:r>
          </a:p>
          <a:p>
            <a:pPr algn="l">
              <a:spcBef>
                <a:spcPts val="300"/>
              </a:spcBef>
            </a:pPr>
            <a:r>
              <a:rPr sz="1300" b="0">
                <a:solidFill>
                  <a:srgbClr val="A8B4C8"/>
                </a:solidFill>
                <a:latin typeface="Calibri"/>
              </a:rPr>
              <a:t>      ◦  Editor panel (right side) — shows file content.</a:t>
            </a:r>
          </a:p>
          <a:p>
            <a:pPr algn="l">
              <a:spcBef>
                <a:spcPts val="300"/>
              </a:spcBef>
            </a:pPr>
            <a:r>
              <a:rPr sz="1300" b="0">
                <a:solidFill>
                  <a:srgbClr val="A8B4C8"/>
                </a:solidFill>
                <a:latin typeface="Calibri"/>
              </a:rPr>
              <a:t>      ◦  Markdown preview — click the split-square icon to render a .md file's formatting.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Today's scope: open, view, close. Do not install extensions, change settings, or start editing files. The goal is comfort at the front door, not a full tour.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Why Use a Code Editor?</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Code editors work in plaintext — no automatic formatting changes.</a:t>
            </a:r>
          </a:p>
          <a:p>
            <a:pPr algn="l">
              <a:spcBef>
                <a:spcPts val="700"/>
              </a:spcBef>
            </a:pPr>
            <a:r>
              <a:rPr sz="1500" b="0">
                <a:solidFill>
                  <a:srgbClr val="FFFFFF"/>
                </a:solidFill>
                <a:latin typeface="Calibri"/>
              </a:rPr>
              <a:t>  ›  No smart quotes, no em-dashes, no hidden characters added on save.</a:t>
            </a:r>
          </a:p>
          <a:p>
            <a:pPr algn="l">
              <a:spcBef>
                <a:spcPts val="700"/>
              </a:spcBef>
            </a:pPr>
            <a:r>
              <a:rPr sz="1500" b="0">
                <a:solidFill>
                  <a:srgbClr val="FFFFFF"/>
                </a:solidFill>
                <a:latin typeface="Calibri"/>
              </a:rPr>
              <a:t>  ›  The file tree panel gives you a visual map of the same folder structure the terminal navigates.</a:t>
            </a:r>
          </a:p>
          <a:p>
            <a:pPr algn="l">
              <a:spcBef>
                <a:spcPts val="700"/>
              </a:spcBef>
            </a:pPr>
            <a:r>
              <a:rPr sz="1500" b="0">
                <a:solidFill>
                  <a:srgbClr val="FFFFFF"/>
                </a:solidFill>
                <a:latin typeface="Calibri"/>
              </a:rPr>
              <a:t>  ›  Markdown preview lets you see both the raw plaintext and the rendered output side by side.</a:t>
            </a:r>
          </a:p>
          <a:p>
            <a:pPr algn="l">
              <a:spcBef>
                <a:spcPts val="700"/>
              </a:spcBef>
            </a:pPr>
            <a:r>
              <a:rPr sz="1500" b="0">
                <a:solidFill>
                  <a:srgbClr val="FFFFFF"/>
                </a:solidFill>
                <a:latin typeface="Calibri"/>
              </a:rPr>
              <a:t>  ›  The editor and the terminal are looking at the same files.</a:t>
            </a:r>
          </a:p>
          <a:p>
            <a:pPr algn="l">
              <a:spcBef>
                <a:spcPts val="700"/>
              </a:spcBef>
            </a:pPr>
            <a:r>
              <a:rPr sz="1500" b="0">
                <a:solidFill>
                  <a:srgbClr val="FFFFFF"/>
                </a:solidFill>
                <a:latin typeface="Calibri"/>
              </a:rPr>
              <a:t>  ›  Learning to read files here makes every terminal command less abstract.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Example: Rendering a Markdown File</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Seeing plaintext and rendered output side by side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Open a .md file in VS Code.</a:t>
            </a:r>
          </a:p>
          <a:p>
            <a:pPr algn="l">
              <a:spcBef>
                <a:spcPts val="300"/>
              </a:spcBef>
            </a:pPr>
            <a:r>
              <a:rPr sz="1200" b="0">
                <a:solidFill>
                  <a:srgbClr val="FFFFFF"/>
                </a:solidFill>
                <a:latin typeface="Calibri"/>
              </a:rPr>
              <a:t>In the top-right corner, click the preview icon (or press Ctrl+Shift+V).</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Left pane: raw Markdown — exactly what the machine reads.</a:t>
            </a:r>
          </a:p>
          <a:p>
            <a:pPr algn="l">
              <a:spcBef>
                <a:spcPts val="300"/>
              </a:spcBef>
            </a:pPr>
            <a:r>
              <a:rPr sz="1200" b="0">
                <a:solidFill>
                  <a:srgbClr val="A8B4C8"/>
                </a:solidFill>
                <a:latin typeface="Calibri"/>
              </a:rPr>
              <a:t>  # Header becomes text with a pound sign.</a:t>
            </a:r>
          </a:p>
          <a:p>
            <a:pPr algn="l">
              <a:spcBef>
                <a:spcPts val="300"/>
              </a:spcBef>
            </a:pPr>
            <a:r>
              <a:rPr sz="1200" b="0">
                <a:solidFill>
                  <a:srgbClr val="A8B4C8"/>
                </a:solidFill>
                <a:latin typeface="Calibri"/>
              </a:rPr>
              <a:t>  **bold** appears as asterisks around a word.</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Right pane: rendered output — what a human reads.</a:t>
            </a:r>
          </a:p>
          <a:p>
            <a:pPr algn="l">
              <a:spcBef>
                <a:spcPts val="300"/>
              </a:spcBef>
            </a:pPr>
            <a:r>
              <a:rPr sz="1200" b="0">
                <a:solidFill>
                  <a:srgbClr val="A8B4C8"/>
                </a:solidFill>
                <a:latin typeface="Calibri"/>
              </a:rPr>
              <a:t>  The pound sign becomes a large heading.</a:t>
            </a:r>
          </a:p>
          <a:p>
            <a:pPr algn="l">
              <a:spcBef>
                <a:spcPts val="300"/>
              </a:spcBef>
            </a:pPr>
            <a:r>
              <a:rPr sz="1200" b="0">
                <a:solidFill>
                  <a:srgbClr val="A8B4C8"/>
                </a:solidFill>
                <a:latin typeface="Calibri"/>
              </a:rPr>
              <a:t>  The asterisks disappear and the word appears bold.</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Both panes are the same file. One view is for the machine. One is for you.</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Soldier viewing the same intelligence product in two formats — raw signal and decoded message]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Looking at Files in a Real Editor</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Download and install VS Code if you have not already.</a:t>
            </a:r>
          </a:p>
          <a:p>
            <a:pPr algn="l">
              <a:spcBef>
                <a:spcPts val="1000"/>
              </a:spcBef>
            </a:pPr>
            <a:r>
              <a:rPr sz="1400" b="0">
                <a:solidFill>
                  <a:srgbClr val="FFFFFF"/>
                </a:solidFill>
                <a:latin typeface="Calibri"/>
              </a:rPr>
              <a:t>  2.   Go to File → Open Folder. Open the 'practice' folder from Section 01.</a:t>
            </a:r>
          </a:p>
          <a:p>
            <a:pPr algn="l">
              <a:spcBef>
                <a:spcPts val="1000"/>
              </a:spcBef>
            </a:pPr>
            <a:r>
              <a:rPr sz="1400" b="0">
                <a:solidFill>
                  <a:srgbClr val="FFFFFF"/>
                </a:solidFill>
                <a:latin typeface="Calibri"/>
              </a:rPr>
              <a:t>  3.   Click the .txt file you created. Read it in the editor panel.</a:t>
            </a:r>
          </a:p>
          <a:p>
            <a:pPr algn="l">
              <a:spcBef>
                <a:spcPts val="1000"/>
              </a:spcBef>
            </a:pPr>
            <a:r>
              <a:rPr sz="1400" b="0">
                <a:solidFill>
                  <a:srgbClr val="FFFFFF"/>
                </a:solidFill>
                <a:latin typeface="Calibri"/>
              </a:rPr>
              <a:t>  4.   Find a .md file anywhere on your machine. Open it. Toggle the preview with Ctrl+Shift+V.</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at a workstation opening a field report — reading it, not editing, just oriented]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are looking at the same Markdown file in two panes — raw on the left, rendered on the right.
Which version does the machine work with?
Which version does the human read?
When you paste content from the rendered view into a terminal command — what are you actually sending?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Looking at Files in a Real Editor</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 code editor is a plaintext viewer — no hidden formatting changes on save or paste.</a:t>
            </a:r>
          </a:p>
          <a:p>
            <a:pPr algn="l">
              <a:spcBef>
                <a:spcPts val="1400"/>
              </a:spcBef>
            </a:pPr>
            <a:r>
              <a:rPr sz="1600" b="0">
                <a:solidFill>
                  <a:srgbClr val="FFFFFF"/>
                </a:solidFill>
                <a:latin typeface="Calibri"/>
              </a:rPr>
              <a:t>  ›  The file tree panel shows the same folder structure you will navigate in the terminal.</a:t>
            </a:r>
          </a:p>
          <a:p>
            <a:pPr algn="l">
              <a:spcBef>
                <a:spcPts val="1400"/>
              </a:spcBef>
            </a:pPr>
            <a:r>
              <a:rPr sz="1600" b="0">
                <a:solidFill>
                  <a:srgbClr val="FFFFFF"/>
                </a:solidFill>
                <a:latin typeface="Calibri"/>
              </a:rPr>
              <a:t>  ›  Markdown preview: raw plaintext on the left, rendered output on the right — same file.</a:t>
            </a:r>
          </a:p>
          <a:p>
            <a:pPr algn="l">
              <a:spcBef>
                <a:spcPts val="1400"/>
              </a:spcBef>
            </a:pPr>
            <a:r>
              <a:rPr sz="1600" b="0">
                <a:solidFill>
                  <a:srgbClr val="FFFFFF"/>
                </a:solidFill>
                <a:latin typeface="Calibri"/>
              </a:rPr>
              <a:t>  ›  Today's scope: open, view, close. Nothing more.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VS Code (or equivalent) is installed and opens without errors</a:t>
            </a:r>
          </a:p>
          <a:p>
            <a:pPr algn="l">
              <a:spcBef>
                <a:spcPts val="800"/>
              </a:spcBef>
            </a:pPr>
            <a:r>
              <a:rPr sz="1300" b="0">
                <a:solidFill>
                  <a:srgbClr val="A8B4C8"/>
                </a:solidFill>
                <a:latin typeface="Calibri"/>
              </a:rPr>
              <a:t>  ☐   I can open a folder and navigate its file tree in the editor panel</a:t>
            </a:r>
          </a:p>
          <a:p>
            <a:pPr algn="l">
              <a:spcBef>
                <a:spcPts val="800"/>
              </a:spcBef>
            </a:pPr>
            <a:r>
              <a:rPr sz="1300" b="0">
                <a:solidFill>
                  <a:srgbClr val="A8B4C8"/>
                </a:solidFill>
                <a:latin typeface="Calibri"/>
              </a:rPr>
              <a:t>  ☐   I have opened a Markdown file and toggled the rendered preview</a:t>
            </a:r>
          </a:p>
          <a:p>
            <a:pPr algn="l">
              <a:spcBef>
                <a:spcPts val="800"/>
              </a:spcBef>
            </a:pPr>
            <a:r>
              <a:rPr sz="1300" b="0">
                <a:solidFill>
                  <a:srgbClr val="A8B4C8"/>
                </a:solidFill>
                <a:latin typeface="Calibri"/>
              </a:rPr>
              <a:t>  ☐   I did not change any settings or install any extensions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Terminal Basics — The Machine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89888"/>
            <a:ext cx="11365992" cy="384048"/>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44752"/>
            <a:ext cx="2651760" cy="384048"/>
          </a:xfrm>
          <a:prstGeom prst="rect">
            <a:avLst/>
          </a:prstGeom>
          <a:noFill/>
        </p:spPr>
        <p:txBody>
          <a:bodyPr wrap="square">
            <a:spAutoFit/>
          </a:bodyPr>
          <a:lstStyle/>
          <a:p>
            <a:pPr algn="l"/>
            <a:r>
              <a:rPr sz="1100" b="1" i="0">
                <a:solidFill>
                  <a:srgbClr val="0A0C14"/>
                </a:solidFill>
                <a:latin typeface="Calibri"/>
              </a:rPr>
              <a:t>CONCEPT</a:t>
            </a:r>
          </a:p>
        </p:txBody>
      </p:sp>
      <p:sp>
        <p:nvSpPr>
          <p:cNvPr id="9" name="TextBox 8"/>
          <p:cNvSpPr txBox="1"/>
          <p:nvPr/>
        </p:nvSpPr>
        <p:spPr>
          <a:xfrm>
            <a:off x="3291840" y="1444752"/>
            <a:ext cx="4023360" cy="384048"/>
          </a:xfrm>
          <a:prstGeom prst="rect">
            <a:avLst/>
          </a:prstGeom>
          <a:noFill/>
        </p:spPr>
        <p:txBody>
          <a:bodyPr wrap="square">
            <a:spAutoFit/>
          </a:bodyPr>
          <a:lstStyle/>
          <a:p>
            <a:pPr algn="l"/>
            <a:r>
              <a:rPr sz="1100" b="1" i="0">
                <a:solidFill>
                  <a:srgbClr val="0A0C14"/>
                </a:solidFill>
                <a:latin typeface="Calibri"/>
              </a:rPr>
              <a:t>CORE IDEA</a:t>
            </a:r>
          </a:p>
        </p:txBody>
      </p:sp>
      <p:sp>
        <p:nvSpPr>
          <p:cNvPr id="10" name="TextBox 9"/>
          <p:cNvSpPr txBox="1"/>
          <p:nvPr/>
        </p:nvSpPr>
        <p:spPr>
          <a:xfrm>
            <a:off x="7498080" y="1444752"/>
            <a:ext cx="4572000" cy="384048"/>
          </a:xfrm>
          <a:prstGeom prst="rect">
            <a:avLst/>
          </a:prstGeom>
          <a:noFill/>
        </p:spPr>
        <p:txBody>
          <a:bodyPr wrap="square">
            <a:spAutoFit/>
          </a:bodyPr>
          <a:lstStyle/>
          <a:p>
            <a:pPr algn="l"/>
            <a:r>
              <a:rPr sz="1100" b="1" i="0">
                <a:solidFill>
                  <a:srgbClr val="0A0C14"/>
                </a:solidFill>
                <a:latin typeface="Calibri"/>
              </a:rPr>
              <a:t>WHY IT MATTERS</a:t>
            </a:r>
          </a:p>
        </p:txBody>
      </p:sp>
      <p:sp>
        <p:nvSpPr>
          <p:cNvPr id="11" name="Rectangle 10"/>
          <p:cNvSpPr/>
          <p:nvPr/>
        </p:nvSpPr>
        <p:spPr>
          <a:xfrm>
            <a:off x="411480" y="1773936"/>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7393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847088"/>
            <a:ext cx="2514600" cy="731520"/>
          </a:xfrm>
          <a:prstGeom prst="rect">
            <a:avLst/>
          </a:prstGeom>
          <a:noFill/>
        </p:spPr>
        <p:txBody>
          <a:bodyPr wrap="square">
            <a:spAutoFit/>
          </a:bodyPr>
          <a:lstStyle/>
          <a:p>
            <a:pPr algn="l"/>
            <a:r>
              <a:rPr sz="1100" b="1" i="0">
                <a:solidFill>
                  <a:srgbClr val="00B4FF"/>
                </a:solidFill>
                <a:latin typeface="Calibri"/>
              </a:rPr>
              <a:t>Files and Folders</a:t>
            </a:r>
          </a:p>
        </p:txBody>
      </p:sp>
      <p:sp>
        <p:nvSpPr>
          <p:cNvPr id="14" name="TextBox 13"/>
          <p:cNvSpPr txBox="1"/>
          <p:nvPr/>
        </p:nvSpPr>
        <p:spPr>
          <a:xfrm>
            <a:off x="3310128" y="1847088"/>
            <a:ext cx="3886200" cy="731520"/>
          </a:xfrm>
          <a:prstGeom prst="rect">
            <a:avLst/>
          </a:prstGeom>
          <a:noFill/>
        </p:spPr>
        <p:txBody>
          <a:bodyPr wrap="square">
            <a:spAutoFit/>
          </a:bodyPr>
          <a:lstStyle/>
          <a:p>
            <a:pPr algn="l"/>
            <a:r>
              <a:rPr sz="1100" b="0" i="0">
                <a:solidFill>
                  <a:srgbClr val="FFFFFF"/>
                </a:solidFill>
                <a:latin typeface="Calibri"/>
              </a:rPr>
              <a:t>Tree structure with paths</a:t>
            </a:r>
          </a:p>
        </p:txBody>
      </p:sp>
      <p:sp>
        <p:nvSpPr>
          <p:cNvPr id="15" name="TextBox 14"/>
          <p:cNvSpPr txBox="1"/>
          <p:nvPr/>
        </p:nvSpPr>
        <p:spPr>
          <a:xfrm>
            <a:off x="7516368" y="1847088"/>
            <a:ext cx="4434840" cy="731520"/>
          </a:xfrm>
          <a:prstGeom prst="rect">
            <a:avLst/>
          </a:prstGeom>
          <a:noFill/>
        </p:spPr>
        <p:txBody>
          <a:bodyPr wrap="square">
            <a:spAutoFit/>
          </a:bodyPr>
          <a:lstStyle/>
          <a:p>
            <a:pPr algn="l"/>
            <a:r>
              <a:rPr sz="1100" b="0" i="0">
                <a:solidFill>
                  <a:srgbClr val="A8B4C8"/>
                </a:solidFill>
                <a:latin typeface="Calibri"/>
              </a:rPr>
              <a:t>Every file has one address. A path is the route to reach it.</a:t>
            </a:r>
          </a:p>
        </p:txBody>
      </p:sp>
      <p:sp>
        <p:nvSpPr>
          <p:cNvPr id="16" name="Rectangle 15"/>
          <p:cNvSpPr/>
          <p:nvPr/>
        </p:nvSpPr>
        <p:spPr>
          <a:xfrm>
            <a:off x="411480" y="2532888"/>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53288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606040"/>
            <a:ext cx="2514600" cy="731520"/>
          </a:xfrm>
          <a:prstGeom prst="rect">
            <a:avLst/>
          </a:prstGeom>
          <a:noFill/>
        </p:spPr>
        <p:txBody>
          <a:bodyPr wrap="square">
            <a:spAutoFit/>
          </a:bodyPr>
          <a:lstStyle/>
          <a:p>
            <a:pPr algn="l"/>
            <a:r>
              <a:rPr sz="1100" b="1" i="0">
                <a:solidFill>
                  <a:srgbClr val="00B4FF"/>
                </a:solidFill>
                <a:latin typeface="Calibri"/>
              </a:rPr>
              <a:t>File Extensions</a:t>
            </a:r>
          </a:p>
        </p:txBody>
      </p:sp>
      <p:sp>
        <p:nvSpPr>
          <p:cNvPr id="19" name="TextBox 18"/>
          <p:cNvSpPr txBox="1"/>
          <p:nvPr/>
        </p:nvSpPr>
        <p:spPr>
          <a:xfrm>
            <a:off x="3310128" y="2606040"/>
            <a:ext cx="3886200" cy="731520"/>
          </a:xfrm>
          <a:prstGeom prst="rect">
            <a:avLst/>
          </a:prstGeom>
          <a:noFill/>
        </p:spPr>
        <p:txBody>
          <a:bodyPr wrap="square">
            <a:spAutoFit/>
          </a:bodyPr>
          <a:lstStyle/>
          <a:p>
            <a:pPr algn="l"/>
            <a:r>
              <a:rPr sz="1100" b="0" i="0">
                <a:solidFill>
                  <a:srgbClr val="FFFFFF"/>
                </a:solidFill>
                <a:latin typeface="Calibri"/>
              </a:rPr>
              <a:t>Type identifier after the dot</a:t>
            </a:r>
          </a:p>
        </p:txBody>
      </p:sp>
      <p:sp>
        <p:nvSpPr>
          <p:cNvPr id="20" name="TextBox 19"/>
          <p:cNvSpPr txBox="1"/>
          <p:nvPr/>
        </p:nvSpPr>
        <p:spPr>
          <a:xfrm>
            <a:off x="7516368" y="2606040"/>
            <a:ext cx="4434840" cy="731520"/>
          </a:xfrm>
          <a:prstGeom prst="rect">
            <a:avLst/>
          </a:prstGeom>
          <a:noFill/>
        </p:spPr>
        <p:txBody>
          <a:bodyPr wrap="square">
            <a:spAutoFit/>
          </a:bodyPr>
          <a:lstStyle/>
          <a:p>
            <a:pPr algn="l"/>
            <a:r>
              <a:rPr sz="1100" b="0" i="0">
                <a:solidFill>
                  <a:srgbClr val="A8B4C8"/>
                </a:solidFill>
                <a:latin typeface="Calibri"/>
              </a:rPr>
              <a:t>Must be visible. The extension tells you what the file is.</a:t>
            </a:r>
          </a:p>
        </p:txBody>
      </p:sp>
      <p:sp>
        <p:nvSpPr>
          <p:cNvPr id="21" name="Rectangle 20"/>
          <p:cNvSpPr/>
          <p:nvPr/>
        </p:nvSpPr>
        <p:spPr>
          <a:xfrm>
            <a:off x="411480" y="3291840"/>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291840"/>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364992"/>
            <a:ext cx="2514600" cy="731520"/>
          </a:xfrm>
          <a:prstGeom prst="rect">
            <a:avLst/>
          </a:prstGeom>
          <a:noFill/>
        </p:spPr>
        <p:txBody>
          <a:bodyPr wrap="square">
            <a:spAutoFit/>
          </a:bodyPr>
          <a:lstStyle/>
          <a:p>
            <a:pPr algn="l"/>
            <a:r>
              <a:rPr sz="1100" b="1" i="0">
                <a:solidFill>
                  <a:srgbClr val="00B4FF"/>
                </a:solidFill>
                <a:latin typeface="Calibri"/>
              </a:rPr>
              <a:t>Plaintext</a:t>
            </a:r>
          </a:p>
        </p:txBody>
      </p:sp>
      <p:sp>
        <p:nvSpPr>
          <p:cNvPr id="24" name="TextBox 23"/>
          <p:cNvSpPr txBox="1"/>
          <p:nvPr/>
        </p:nvSpPr>
        <p:spPr>
          <a:xfrm>
            <a:off x="3310128" y="3364992"/>
            <a:ext cx="3886200" cy="731520"/>
          </a:xfrm>
          <a:prstGeom prst="rect">
            <a:avLst/>
          </a:prstGeom>
          <a:noFill/>
        </p:spPr>
        <p:txBody>
          <a:bodyPr wrap="square">
            <a:spAutoFit/>
          </a:bodyPr>
          <a:lstStyle/>
          <a:p>
            <a:pPr algn="l"/>
            <a:r>
              <a:rPr sz="1100" b="0" i="0">
                <a:solidFill>
                  <a:srgbClr val="FFFFFF"/>
                </a:solidFill>
                <a:latin typeface="Calibri"/>
              </a:rPr>
              <a:t>Characters only — no hidden formatting</a:t>
            </a:r>
          </a:p>
        </p:txBody>
      </p:sp>
      <p:sp>
        <p:nvSpPr>
          <p:cNvPr id="25" name="TextBox 24"/>
          <p:cNvSpPr txBox="1"/>
          <p:nvPr/>
        </p:nvSpPr>
        <p:spPr>
          <a:xfrm>
            <a:off x="7516368" y="3364992"/>
            <a:ext cx="4434840" cy="731520"/>
          </a:xfrm>
          <a:prstGeom prst="rect">
            <a:avLst/>
          </a:prstGeom>
          <a:noFill/>
        </p:spPr>
        <p:txBody>
          <a:bodyPr wrap="square">
            <a:spAutoFit/>
          </a:bodyPr>
          <a:lstStyle/>
          <a:p>
            <a:pPr algn="l"/>
            <a:r>
              <a:rPr sz="1100" b="0" i="0">
                <a:solidFill>
                  <a:srgbClr val="A8B4C8"/>
                </a:solidFill>
                <a:latin typeface="Calibri"/>
              </a:rPr>
              <a:t>What you see is what the machine reads. Tools expect this.</a:t>
            </a:r>
          </a:p>
        </p:txBody>
      </p:sp>
      <p:sp>
        <p:nvSpPr>
          <p:cNvPr id="26" name="Rectangle 25"/>
          <p:cNvSpPr/>
          <p:nvPr/>
        </p:nvSpPr>
        <p:spPr>
          <a:xfrm>
            <a:off x="411480" y="4050792"/>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050792"/>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 y="4123944"/>
            <a:ext cx="2514600" cy="731520"/>
          </a:xfrm>
          <a:prstGeom prst="rect">
            <a:avLst/>
          </a:prstGeom>
          <a:noFill/>
        </p:spPr>
        <p:txBody>
          <a:bodyPr wrap="square">
            <a:spAutoFit/>
          </a:bodyPr>
          <a:lstStyle/>
          <a:p>
            <a:pPr algn="l"/>
            <a:r>
              <a:rPr sz="1100" b="1" i="0">
                <a:solidFill>
                  <a:srgbClr val="00B4FF"/>
                </a:solidFill>
                <a:latin typeface="Calibri"/>
              </a:rPr>
              <a:t>Rich Text</a:t>
            </a:r>
          </a:p>
        </p:txBody>
      </p:sp>
      <p:sp>
        <p:nvSpPr>
          <p:cNvPr id="29" name="TextBox 28"/>
          <p:cNvSpPr txBox="1"/>
          <p:nvPr/>
        </p:nvSpPr>
        <p:spPr>
          <a:xfrm>
            <a:off x="3310128" y="4123944"/>
            <a:ext cx="3886200" cy="731520"/>
          </a:xfrm>
          <a:prstGeom prst="rect">
            <a:avLst/>
          </a:prstGeom>
          <a:noFill/>
        </p:spPr>
        <p:txBody>
          <a:bodyPr wrap="square">
            <a:spAutoFit/>
          </a:bodyPr>
          <a:lstStyle/>
          <a:p>
            <a:pPr algn="l"/>
            <a:r>
              <a:rPr sz="1100" b="0" i="0">
                <a:solidFill>
                  <a:srgbClr val="FFFFFF"/>
                </a:solidFill>
                <a:latin typeface="Calibri"/>
              </a:rPr>
              <a:t>Formatting packed alongside content</a:t>
            </a:r>
          </a:p>
        </p:txBody>
      </p:sp>
      <p:sp>
        <p:nvSpPr>
          <p:cNvPr id="30" name="TextBox 29"/>
          <p:cNvSpPr txBox="1"/>
          <p:nvPr/>
        </p:nvSpPr>
        <p:spPr>
          <a:xfrm>
            <a:off x="7516368" y="4123944"/>
            <a:ext cx="4434840" cy="731520"/>
          </a:xfrm>
          <a:prstGeom prst="rect">
            <a:avLst/>
          </a:prstGeom>
          <a:noFill/>
        </p:spPr>
        <p:txBody>
          <a:bodyPr wrap="square">
            <a:spAutoFit/>
          </a:bodyPr>
          <a:lstStyle/>
          <a:p>
            <a:pPr algn="l"/>
            <a:r>
              <a:rPr sz="1100" b="0" i="0">
                <a:solidFill>
                  <a:srgbClr val="A8B4C8"/>
                </a:solidFill>
                <a:latin typeface="Calibri"/>
              </a:rPr>
              <a:t>Pasting from Word brings hidden characters. Use a code editor.</a:t>
            </a:r>
          </a:p>
        </p:txBody>
      </p:sp>
      <p:sp>
        <p:nvSpPr>
          <p:cNvPr id="31" name="Rectangle 30"/>
          <p:cNvSpPr/>
          <p:nvPr/>
        </p:nvSpPr>
        <p:spPr>
          <a:xfrm>
            <a:off x="411480" y="4809744"/>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809744"/>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882896"/>
            <a:ext cx="2514600" cy="731520"/>
          </a:xfrm>
          <a:prstGeom prst="rect">
            <a:avLst/>
          </a:prstGeom>
          <a:noFill/>
        </p:spPr>
        <p:txBody>
          <a:bodyPr wrap="square">
            <a:spAutoFit/>
          </a:bodyPr>
          <a:lstStyle/>
          <a:p>
            <a:pPr algn="l"/>
            <a:r>
              <a:rPr sz="1100" b="1" i="0">
                <a:solidFill>
                  <a:srgbClr val="00B4FF"/>
                </a:solidFill>
                <a:latin typeface="Calibri"/>
              </a:rPr>
              <a:t>Code Editor</a:t>
            </a:r>
          </a:p>
        </p:txBody>
      </p:sp>
      <p:sp>
        <p:nvSpPr>
          <p:cNvPr id="34" name="TextBox 33"/>
          <p:cNvSpPr txBox="1"/>
          <p:nvPr/>
        </p:nvSpPr>
        <p:spPr>
          <a:xfrm>
            <a:off x="3310128" y="4882896"/>
            <a:ext cx="3886200" cy="731520"/>
          </a:xfrm>
          <a:prstGeom prst="rect">
            <a:avLst/>
          </a:prstGeom>
          <a:noFill/>
        </p:spPr>
        <p:txBody>
          <a:bodyPr wrap="square">
            <a:spAutoFit/>
          </a:bodyPr>
          <a:lstStyle/>
          <a:p>
            <a:pPr algn="l"/>
            <a:r>
              <a:rPr sz="1100" b="0" i="0">
                <a:solidFill>
                  <a:srgbClr val="FFFFFF"/>
                </a:solidFill>
                <a:latin typeface="Calibri"/>
              </a:rPr>
              <a:t>Plaintext viewer with good defaults</a:t>
            </a:r>
          </a:p>
        </p:txBody>
      </p:sp>
      <p:sp>
        <p:nvSpPr>
          <p:cNvPr id="35" name="TextBox 34"/>
          <p:cNvSpPr txBox="1"/>
          <p:nvPr/>
        </p:nvSpPr>
        <p:spPr>
          <a:xfrm>
            <a:off x="7516368" y="4882896"/>
            <a:ext cx="4434840" cy="731520"/>
          </a:xfrm>
          <a:prstGeom prst="rect">
            <a:avLst/>
          </a:prstGeom>
          <a:noFill/>
        </p:spPr>
        <p:txBody>
          <a:bodyPr wrap="square">
            <a:spAutoFit/>
          </a:bodyPr>
          <a:lstStyle/>
          <a:p>
            <a:pPr algn="l"/>
            <a:r>
              <a:rPr sz="1100" b="0" i="0">
                <a:solidFill>
                  <a:srgbClr val="A8B4C8"/>
                </a:solidFill>
                <a:latin typeface="Calibri"/>
              </a:rPr>
              <a:t>File tree + editor + preview. Open, view, close — nothing more.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I can describe a file, a folder, and the folder tree</a:t>
            </a:r>
          </a:p>
          <a:p>
            <a:pPr algn="l">
              <a:spcBef>
                <a:spcPts val="800"/>
              </a:spcBef>
            </a:pPr>
            <a:r>
              <a:rPr sz="1300" b="0">
                <a:solidFill>
                  <a:srgbClr val="A8B4C8"/>
                </a:solidFill>
                <a:latin typeface="Calibri"/>
              </a:rPr>
              <a:t>  ☐   I can read a file path as a route through the tree</a:t>
            </a:r>
          </a:p>
          <a:p>
            <a:pPr algn="l">
              <a:spcBef>
                <a:spcPts val="800"/>
              </a:spcBef>
            </a:pPr>
            <a:r>
              <a:rPr sz="1300" b="0">
                <a:solidFill>
                  <a:srgbClr val="A8B4C8"/>
                </a:solidFill>
                <a:latin typeface="Calibri"/>
              </a:rPr>
              <a:t>  ☐   I have navigated to a file without using search</a:t>
            </a:r>
          </a:p>
          <a:p>
            <a:pPr algn="l">
              <a:spcBef>
                <a:spcPts val="800"/>
              </a:spcBef>
            </a:pPr>
            <a:r>
              <a:rPr sz="1300" b="0">
                <a:solidFill>
                  <a:srgbClr val="A8B4C8"/>
                </a:solidFill>
                <a:latin typeface="Calibri"/>
              </a:rPr>
              <a:t>  ☐   File extensions are visible on my machine</a:t>
            </a:r>
          </a:p>
          <a:p>
            <a:pPr algn="l">
              <a:spcBef>
                <a:spcPts val="800"/>
              </a:spcBef>
            </a:pPr>
            <a:r>
              <a:rPr sz="1300" b="0">
                <a:solidFill>
                  <a:srgbClr val="A8B4C8"/>
                </a:solidFill>
                <a:latin typeface="Calibri"/>
              </a:rPr>
              <a:t>  ☐   I can explain the difference between plaintext and rich text</a:t>
            </a:r>
          </a:p>
          <a:p>
            <a:pPr algn="l">
              <a:spcBef>
                <a:spcPts val="800"/>
              </a:spcBef>
            </a:pPr>
            <a:r>
              <a:rPr sz="1300" b="0">
                <a:solidFill>
                  <a:srgbClr val="A8B4C8"/>
                </a:solidFill>
                <a:latin typeface="Calibri"/>
              </a:rPr>
              <a:t>  ☐   I know which file types are plaintext and which are rich text</a:t>
            </a:r>
          </a:p>
          <a:p>
            <a:pPr algn="l">
              <a:spcBef>
                <a:spcPts val="800"/>
              </a:spcBef>
            </a:pPr>
            <a:r>
              <a:rPr sz="1300" b="0">
                <a:solidFill>
                  <a:srgbClr val="A8B4C8"/>
                </a:solidFill>
                <a:latin typeface="Calibri"/>
              </a:rPr>
              <a:t>  ☐   VS Code is installed and I have opened a file and toggled Markdown preview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2286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548640"/>
            <a:ext cx="7315200" cy="347472"/>
          </a:xfrm>
          <a:prstGeom prst="rect">
            <a:avLst/>
          </a:prstGeom>
          <a:noFill/>
        </p:spPr>
        <p:txBody>
          <a:bodyPr wrap="square">
            <a:spAutoFit/>
          </a:bodyPr>
          <a:lstStyle/>
          <a:p>
            <a:pPr algn="l"/>
            <a:r>
              <a:rPr sz="1100" b="1" i="0">
                <a:solidFill>
                  <a:srgbClr val="00B4FF"/>
                </a:solidFill>
                <a:latin typeface="Calibri"/>
              </a:rPr>
              <a:t>END OF MODULE</a:t>
            </a:r>
          </a:p>
        </p:txBody>
      </p:sp>
      <p:sp>
        <p:nvSpPr>
          <p:cNvPr id="6" name="TextBox 5"/>
          <p:cNvSpPr txBox="1"/>
          <p:nvPr/>
        </p:nvSpPr>
        <p:spPr>
          <a:xfrm>
            <a:off x="411480" y="1005840"/>
            <a:ext cx="7315200" cy="1828800"/>
          </a:xfrm>
          <a:prstGeom prst="rect">
            <a:avLst/>
          </a:prstGeom>
          <a:noFill/>
        </p:spPr>
        <p:txBody>
          <a:bodyPr wrap="square">
            <a:spAutoFit/>
          </a:bodyPr>
          <a:lstStyle/>
          <a:p>
            <a:pPr algn="l"/>
            <a:r>
              <a:rPr sz="4000" b="1" i="0">
                <a:solidFill>
                  <a:srgbClr val="FFFFFF"/>
                </a:solidFill>
                <a:latin typeface="Calibri"/>
              </a:rPr>
              <a:t>Terminal Basics:
The Machine</a:t>
            </a:r>
          </a:p>
        </p:txBody>
      </p:sp>
      <p:sp>
        <p:nvSpPr>
          <p:cNvPr id="7" name="Rectangle 6"/>
          <p:cNvSpPr/>
          <p:nvPr/>
        </p:nvSpPr>
        <p:spPr>
          <a:xfrm>
            <a:off x="411480" y="2971800"/>
            <a:ext cx="548640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54680"/>
            <a:ext cx="3657600" cy="320040"/>
          </a:xfrm>
          <a:prstGeom prst="rect">
            <a:avLst/>
          </a:prstGeom>
          <a:noFill/>
        </p:spPr>
        <p:txBody>
          <a:bodyPr wrap="square">
            <a:spAutoFit/>
          </a:bodyPr>
          <a:lstStyle/>
          <a:p>
            <a:pPr algn="l"/>
            <a:r>
              <a:rPr sz="1100" b="1" i="0">
                <a:solidFill>
                  <a:srgbClr val="FFAA00"/>
                </a:solidFill>
                <a:latin typeface="Calibri"/>
              </a:rPr>
              <a:t>NEXT STEPS</a:t>
            </a:r>
          </a:p>
        </p:txBody>
      </p:sp>
      <p:sp>
        <p:nvSpPr>
          <p:cNvPr id="9" name="TextBox 8"/>
          <p:cNvSpPr txBox="1"/>
          <p:nvPr/>
        </p:nvSpPr>
        <p:spPr>
          <a:xfrm>
            <a:off x="411480" y="3566160"/>
            <a:ext cx="6858000" cy="2560320"/>
          </a:xfrm>
          <a:prstGeom prst="rect">
            <a:avLst/>
          </a:prstGeom>
          <a:noFill/>
        </p:spPr>
        <p:txBody>
          <a:bodyPr wrap="square">
            <a:spAutoFit/>
          </a:bodyPr>
          <a:lstStyle/>
          <a:p>
            <a:pPr algn="l">
              <a:spcBef>
                <a:spcPts val="1000"/>
              </a:spcBef>
            </a:pPr>
            <a:r>
              <a:rPr sz="1400" b="0">
                <a:solidFill>
                  <a:srgbClr val="A8B4C8"/>
                </a:solidFill>
                <a:latin typeface="Calibri"/>
              </a:rPr>
              <a:t>  1.   Navigate your filesystem by path — not by search — for one full week.</a:t>
            </a:r>
          </a:p>
          <a:p>
            <a:pPr algn="l">
              <a:spcBef>
                <a:spcPts val="1000"/>
              </a:spcBef>
            </a:pPr>
            <a:r>
              <a:rPr sz="1400" b="0">
                <a:solidFill>
                  <a:srgbClr val="A8B4C8"/>
                </a:solidFill>
                <a:latin typeface="Calibri"/>
              </a:rPr>
              <a:t>  2.   Save every file you create in this course as plaintext (.txt, .md, .py) not .docx.</a:t>
            </a:r>
          </a:p>
          <a:p>
            <a:pPr algn="l">
              <a:spcBef>
                <a:spcPts val="1000"/>
              </a:spcBef>
            </a:pPr>
            <a:r>
              <a:rPr sz="1400" b="0">
                <a:solidFill>
                  <a:srgbClr val="A8B4C8"/>
                </a:solidFill>
                <a:latin typeface="Calibri"/>
              </a:rPr>
              <a:t>  3.   When something looks right but behaves wrong — check for hidden characters first.</a:t>
            </a:r>
          </a:p>
          <a:p>
            <a:pPr algn="l">
              <a:spcBef>
                <a:spcPts val="1000"/>
              </a:spcBef>
            </a:pPr>
            <a:r>
              <a:rPr sz="1400" b="0">
                <a:solidFill>
                  <a:srgbClr val="A8B4C8"/>
                </a:solidFill>
                <a:latin typeface="Calibri"/>
              </a:rPr>
              <a:t>  4.   Next module: The Terminal — same tree, typed instead of clicked.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