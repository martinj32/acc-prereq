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From Advisor
to Operator:
Commanding
an Agent</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SELF-PACED</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at a command post terminal in a supervisory posture, overseeing an automated system working on screen]</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A chatbot gives advice; an agent takes action. This module gives you the harness (what turns an engine into an agent), the operator posture agentic work depends on, and the delegate-verify-own loop you will run on every task.</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module (prerequisites: Terminal, Version Control)</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Explain the harness and name the engine-harness-operator stack</a:t>
            </a:r>
          </a:p>
          <a:p>
            <a:pPr algn="l">
              <a:spcBef>
                <a:spcPts val="400"/>
              </a:spcBef>
            </a:pPr>
            <a:r>
              <a:rPr sz="1300" b="0">
                <a:solidFill>
                  <a:srgbClr val="A8B4C8"/>
                </a:solidFill>
                <a:latin typeface="Calibri"/>
              </a:rPr>
              <a:t>  ›  State the one-line difference between a chatbot and an agent</a:t>
            </a:r>
          </a:p>
          <a:p>
            <a:pPr algn="l">
              <a:spcBef>
                <a:spcPts val="400"/>
              </a:spcBef>
            </a:pPr>
            <a:r>
              <a:rPr sz="1300" b="0">
                <a:solidFill>
                  <a:srgbClr val="A8B4C8"/>
                </a:solidFill>
                <a:latin typeface="Calibri"/>
              </a:rPr>
              <a:t>  ›  Describe what read, write, and execute access means in practice</a:t>
            </a:r>
          </a:p>
          <a:p>
            <a:pPr algn="l">
              <a:spcBef>
                <a:spcPts val="400"/>
              </a:spcBef>
            </a:pPr>
            <a:r>
              <a:rPr sz="1300" b="0">
                <a:solidFill>
                  <a:srgbClr val="A8B4C8"/>
                </a:solidFill>
                <a:latin typeface="Calibri"/>
              </a:rPr>
              <a:t>  ›  Explain how tool calls let you verify instead of trust</a:t>
            </a:r>
          </a:p>
          <a:p>
            <a:pPr algn="l">
              <a:spcBef>
                <a:spcPts val="400"/>
              </a:spcBef>
            </a:pPr>
            <a:r>
              <a:rPr sz="1300" b="0">
                <a:solidFill>
                  <a:srgbClr val="A8B4C8"/>
                </a:solidFill>
                <a:latin typeface="Calibri"/>
              </a:rPr>
              <a:t>  ›  State the three duties of the operator: delegate, verify, own</a:t>
            </a:r>
          </a:p>
          <a:p>
            <a:pPr algn="l">
              <a:spcBef>
                <a:spcPts val="400"/>
              </a:spcBef>
            </a:pPr>
            <a:r>
              <a:rPr sz="1300" b="0">
                <a:solidFill>
                  <a:srgbClr val="A8B4C8"/>
                </a:solidFill>
                <a:latin typeface="Calibri"/>
              </a:rPr>
              <a:t>  ›  Run the delegate-verify-own loop on a real task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Harness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chatbot gives advice. An agent takes action. The harness is the tool layer that gives a text-only engine eyes, hands, and a body on your real machine.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asking for directions versus a soldier leading the patrol — advisor vs. actor]</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Turns an Engine Into an Agent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Ask a chatbot to rename a folder — it tells you the command.</a:t>
            </a:r>
          </a:p>
          <a:p>
            <a:pPr algn="l">
              <a:spcBef>
                <a:spcPts val="700"/>
              </a:spcBef>
            </a:pPr>
            <a:r>
              <a:rPr sz="1500" b="0">
                <a:solidFill>
                  <a:srgbClr val="FFFFFF"/>
                </a:solidFill>
                <a:latin typeface="Calibri"/>
              </a:rPr>
              <a:t>  ›  Ask an agent — it renames the folder. That is the entire difference.</a:t>
            </a:r>
          </a:p>
          <a:p>
            <a:pPr algn="l">
              <a:spcBef>
                <a:spcPts val="700"/>
              </a:spcBef>
            </a:pPr>
            <a:r>
              <a:rPr sz="1500" b="0">
                <a:solidFill>
                  <a:srgbClr val="FFFFFF"/>
                </a:solidFill>
                <a:latin typeface="Calibri"/>
              </a:rPr>
              <a:t>  ›  The engine (Module 1) is a brain in a jar: it reads text and writes text.</a:t>
            </a:r>
          </a:p>
          <a:p>
            <a:pPr algn="l">
              <a:spcBef>
                <a:spcPts val="700"/>
              </a:spcBef>
            </a:pPr>
            <a:r>
              <a:rPr sz="1500" b="0">
                <a:solidFill>
                  <a:srgbClr val="FFFFFF"/>
                </a:solidFill>
                <a:latin typeface="Calibri"/>
              </a:rPr>
              <a:t>  ›  The harness gives that engine three things:</a:t>
            </a:r>
          </a:p>
          <a:p>
            <a:pPr algn="l">
              <a:spcBef>
                <a:spcPts val="300"/>
              </a:spcBef>
            </a:pPr>
            <a:r>
              <a:rPr sz="1300" b="0">
                <a:solidFill>
                  <a:srgbClr val="A8B4C8"/>
                </a:solidFill>
                <a:latin typeface="Calibri"/>
              </a:rPr>
              <a:t>      ◦  Eyes — tools to read files, list directories, check git, fetch URLs</a:t>
            </a:r>
          </a:p>
          <a:p>
            <a:pPr algn="l">
              <a:spcBef>
                <a:spcPts val="300"/>
              </a:spcBef>
            </a:pPr>
            <a:r>
              <a:rPr sz="1300" b="0">
                <a:solidFill>
                  <a:srgbClr val="A8B4C8"/>
                </a:solidFill>
                <a:latin typeface="Calibri"/>
              </a:rPr>
              <a:t>      ◦  Hands — tools to write files, create directories, modify code</a:t>
            </a:r>
          </a:p>
          <a:p>
            <a:pPr algn="l">
              <a:spcBef>
                <a:spcPts val="300"/>
              </a:spcBef>
            </a:pPr>
            <a:r>
              <a:rPr sz="1300" b="0">
                <a:solidFill>
                  <a:srgbClr val="A8B4C8"/>
                </a:solidFill>
                <a:latin typeface="Calibri"/>
              </a:rPr>
              <a:t>      ◦  A body — tools to execute commands, run tests, move files</a:t>
            </a:r>
          </a:p>
          <a:p>
            <a:pPr algn="l">
              <a:spcBef>
                <a:spcPts val="700"/>
              </a:spcBef>
            </a:pPr>
            <a:r>
              <a:rPr sz="1500" b="0">
                <a:solidFill>
                  <a:srgbClr val="FFFFFF"/>
                </a:solidFill>
                <a:latin typeface="Calibri"/>
              </a:rPr>
              <a:t>  ›  Engine + Harness (sensors and actuators) = Agency.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three levels of access you grant: READ (look at files), WRITE (create and modify files), EXECUTE (run commands in your terminal).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Engine-Harness-Operator Stack</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Engine — the LLM: reasons, generates, plans.</a:t>
            </a:r>
          </a:p>
          <a:p>
            <a:pPr algn="l">
              <a:spcBef>
                <a:spcPts val="700"/>
              </a:spcBef>
            </a:pPr>
            <a:r>
              <a:rPr sz="1500" b="0">
                <a:solidFill>
                  <a:srgbClr val="FFFFFF"/>
                </a:solidFill>
                <a:latin typeface="Calibri"/>
              </a:rPr>
              <a:t>  ›  Harness — the tool layer: gives the engine reach into files, commands, and external systems.</a:t>
            </a:r>
          </a:p>
          <a:p>
            <a:pPr algn="l">
              <a:spcBef>
                <a:spcPts val="700"/>
              </a:spcBef>
            </a:pPr>
            <a:r>
              <a:rPr sz="1500" b="0">
                <a:solidFill>
                  <a:srgbClr val="FFFFFF"/>
                </a:solidFill>
                <a:latin typeface="Calibri"/>
              </a:rPr>
              <a:t>  ›  Operator — you: direct the mission, approve consequential actions, own the result.</a:t>
            </a:r>
          </a:p>
          <a:p>
            <a:pPr algn="l">
              <a:spcBef>
                <a:spcPts val="300"/>
              </a:spcBef>
            </a:pPr>
            <a:r>
              <a:rPr sz="1300" b="0">
                <a:solidFill>
                  <a:srgbClr val="A8B4C8"/>
                </a:solidFill>
                <a:latin typeface="Calibri"/>
              </a:rPr>
              <a:t>      ◦  The engine cannot act without a harness.</a:t>
            </a:r>
          </a:p>
          <a:p>
            <a:pPr algn="l">
              <a:spcBef>
                <a:spcPts val="300"/>
              </a:spcBef>
            </a:pPr>
            <a:r>
              <a:rPr sz="1300" b="0">
                <a:solidFill>
                  <a:srgbClr val="A8B4C8"/>
                </a:solidFill>
                <a:latin typeface="Calibri"/>
              </a:rPr>
              <a:t>      ◦  The harness cannot direct without an operator.</a:t>
            </a:r>
          </a:p>
          <a:p>
            <a:pPr algn="l">
              <a:spcBef>
                <a:spcPts val="300"/>
              </a:spcBef>
            </a:pPr>
            <a:r>
              <a:rPr sz="1300" b="0">
                <a:solidFill>
                  <a:srgbClr val="A8B4C8"/>
                </a:solidFill>
                <a:latin typeface="Calibri"/>
              </a:rPr>
              <a:t>      ◦  All three are required. Everything in advanced agentic work stacks on this primitive.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is the payoff for Terminal Basics. Every command students learned — pwd, ls, cd, mkdir, mv — is what the agent runs in their filesystem. Vocabulary drifts in the wild (Anthropic says 'model + tools + orchestration layer'); same 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give the engine a mission: search 200 field reports for grid 38SMB4521 and return every matching excerpt.
Without a harness, it can only generate plausible-sounding excerpts from memory — and you cannot tell which it did.
With a harness, it calls tools against the actual files and returns real, traceable results.
What does that difference mean for how you verify the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Chatbot vs Agent (do this ONCE)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your AI chatbot (Claude web, ChatGPT, or equivalent).</a:t>
            </a:r>
          </a:p>
          <a:p>
            <a:pPr algn="l">
              <a:spcBef>
                <a:spcPts val="1000"/>
              </a:spcBef>
            </a:pPr>
            <a:r>
              <a:rPr sz="1400" b="0">
                <a:solidFill>
                  <a:srgbClr val="FFFFFF"/>
                </a:solidFill>
                <a:latin typeface="Calibri"/>
              </a:rPr>
              <a:t>  2.   Ask it: 'Rename the folder project to project-v1.' Read the response — did it rename anything or tell you how?</a:t>
            </a:r>
          </a:p>
          <a:p>
            <a:pPr algn="l">
              <a:spcBef>
                <a:spcPts val="1000"/>
              </a:spcBef>
            </a:pPr>
            <a:r>
              <a:rPr sz="1400" b="0">
                <a:solidFill>
                  <a:srgbClr val="FFFFFF"/>
                </a:solidFill>
                <a:latin typeface="Calibri"/>
              </a:rPr>
              <a:t>  3.   If Claude Code is available, open it in a project folder and ask the same thing.</a:t>
            </a:r>
          </a:p>
          <a:p>
            <a:pPr algn="l">
              <a:spcBef>
                <a:spcPts val="1000"/>
              </a:spcBef>
            </a:pPr>
            <a:r>
              <a:rPr sz="1400" b="0">
                <a:solidFill>
                  <a:srgbClr val="FFFFFF"/>
                </a:solidFill>
                <a:latin typeface="Calibri"/>
              </a:rPr>
              <a:t>  4.   Watch: does it call a tool? Ask for confirmation? Does the folder change on disk?</a:t>
            </a:r>
          </a:p>
          <a:p>
            <a:pPr algn="l">
              <a:spcBef>
                <a:spcPts val="1000"/>
              </a:spcBef>
            </a:pPr>
            <a:r>
              <a:rPr sz="1400" b="0">
                <a:solidFill>
                  <a:srgbClr val="FFFFFF"/>
                </a:solidFill>
                <a:latin typeface="Calibri"/>
              </a:rPr>
              <a:t>  5.   Write one sentence: what was different? Which response DID the work?</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comparing two radio responses — one with instructions, one with a completed action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Harness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chatbot gives advice. An agent takes action — that is the entire difference.</a:t>
            </a:r>
          </a:p>
          <a:p>
            <a:pPr algn="l">
              <a:spcBef>
                <a:spcPts val="1400"/>
              </a:spcBef>
            </a:pPr>
            <a:r>
              <a:rPr sz="1600" b="0">
                <a:solidFill>
                  <a:srgbClr val="FFFFFF"/>
                </a:solidFill>
                <a:latin typeface="Calibri"/>
              </a:rPr>
              <a:t>  ›  The harness gives a text-only engine eyes, hands, and a body: read, write, execute.</a:t>
            </a:r>
          </a:p>
          <a:p>
            <a:pPr algn="l">
              <a:spcBef>
                <a:spcPts val="1400"/>
              </a:spcBef>
            </a:pPr>
            <a:r>
              <a:rPr sz="1600" b="0">
                <a:solidFill>
                  <a:srgbClr val="FFFFFF"/>
                </a:solidFill>
                <a:latin typeface="Calibri"/>
              </a:rPr>
              <a:t>  ›  Engine + harness + operator = the complete agentic system; all three required.</a:t>
            </a:r>
          </a:p>
          <a:p>
            <a:pPr algn="l">
              <a:spcBef>
                <a:spcPts val="1400"/>
              </a:spcBef>
            </a:pPr>
            <a:r>
              <a:rPr sz="1600" b="0">
                <a:solidFill>
                  <a:srgbClr val="FFFFFF"/>
                </a:solidFill>
                <a:latin typeface="Calibri"/>
              </a:rPr>
              <a:t>  ›  You are extending real trust. The operator posture is what keeps it responsible.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Tool Calls:
Verify, Don't
Trust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tool call is a structured request to an external system. It turns 'trust me' into 'here is the file I read and the test I ran.'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verifying a report against the actual source documents on a command-post desk]</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a Tool Call Is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'Execute this specific action and return the result.'</a:t>
            </a:r>
          </a:p>
          <a:p>
            <a:pPr algn="l">
              <a:spcBef>
                <a:spcPts val="700"/>
              </a:spcBef>
            </a:pPr>
            <a:r>
              <a:rPr sz="1500" b="0">
                <a:solidFill>
                  <a:srgbClr val="FFFFFF"/>
                </a:solidFill>
                <a:latin typeface="Calibri"/>
              </a:rPr>
              <a:t>  ›  The engine does not run the action — it requests it, then reasons about what comes back.</a:t>
            </a:r>
          </a:p>
          <a:p>
            <a:pPr algn="l">
              <a:spcBef>
                <a:spcPts val="700"/>
              </a:spcBef>
            </a:pPr>
            <a:r>
              <a:rPr sz="1500" b="0">
                <a:solidFill>
                  <a:srgbClr val="FFFFFF"/>
                </a:solidFill>
                <a:latin typeface="Calibri"/>
              </a:rPr>
              <a:t>  ›  Four families of tool calls:</a:t>
            </a:r>
          </a:p>
          <a:p>
            <a:pPr algn="l">
              <a:spcBef>
                <a:spcPts val="300"/>
              </a:spcBef>
            </a:pPr>
            <a:r>
              <a:rPr sz="1300" b="0">
                <a:solidFill>
                  <a:srgbClr val="A8B4C8"/>
                </a:solidFill>
                <a:latin typeface="Calibri"/>
              </a:rPr>
              <a:t>      ◦  Reading (eyes) — read files, list dirs, check git, fetch URLs</a:t>
            </a:r>
          </a:p>
          <a:p>
            <a:pPr algn="l">
              <a:spcBef>
                <a:spcPts val="300"/>
              </a:spcBef>
            </a:pPr>
            <a:r>
              <a:rPr sz="1300" b="0">
                <a:solidFill>
                  <a:srgbClr val="A8B4C8"/>
                </a:solidFill>
                <a:latin typeface="Calibri"/>
              </a:rPr>
              <a:t>      ◦  Writing (hands) — create, edit, move, copy files</a:t>
            </a:r>
          </a:p>
          <a:p>
            <a:pPr algn="l">
              <a:spcBef>
                <a:spcPts val="300"/>
              </a:spcBef>
            </a:pPr>
            <a:r>
              <a:rPr sz="1300" b="0">
                <a:solidFill>
                  <a:srgbClr val="A8B4C8"/>
                </a:solidFill>
                <a:latin typeface="Calibri"/>
              </a:rPr>
              <a:t>      ◦  Executing (body) — run commands, run tests, call APIs</a:t>
            </a:r>
          </a:p>
          <a:p>
            <a:pPr algn="l">
              <a:spcBef>
                <a:spcPts val="300"/>
              </a:spcBef>
            </a:pPr>
            <a:r>
              <a:rPr sz="1300" b="0">
                <a:solidFill>
                  <a:srgbClr val="A8B4C8"/>
                </a:solidFill>
                <a:latin typeface="Calibri"/>
              </a:rPr>
              <a:t>      ◦  Thinking — extended reasoning and multi-step planning</a:t>
            </a:r>
          </a:p>
          <a:p>
            <a:pPr algn="l">
              <a:spcBef>
                <a:spcPts val="700"/>
              </a:spcBef>
            </a:pPr>
            <a:r>
              <a:rPr sz="1500" b="0">
                <a:solidFill>
                  <a:srgbClr val="FFFFFF"/>
                </a:solidFill>
                <a:latin typeface="Calibri"/>
              </a:rPr>
              <a:t>  ›  The loop: reason, act, observe, adjust, repeat.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Example tool calls: read('/project/app.js') returns file contents; run('npm test') returns test output; write('/project/config.json', ...) confirms the write. Each produces a real artifact, not a guess.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Why Tool Calls Enable Verification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Without tools, the engine generates text — you cannot tell if it is hallucinating, using stale data, or reasoning from bad assumptions.</a:t>
            </a:r>
          </a:p>
          <a:p>
            <a:pPr algn="l">
              <a:spcBef>
                <a:spcPts val="700"/>
              </a:spcBef>
            </a:pPr>
            <a:r>
              <a:rPr sz="1500" b="0">
                <a:solidFill>
                  <a:srgbClr val="FFFFFF"/>
                </a:solidFill>
                <a:latin typeface="Calibri"/>
              </a:rPr>
              <a:t>  ›  With tools, it reads the actual file, makes the change, runs the actual test, and reports a result you can trace.</a:t>
            </a:r>
          </a:p>
          <a:p>
            <a:pPr algn="l">
              <a:spcBef>
                <a:spcPts val="300"/>
              </a:spcBef>
            </a:pPr>
            <a:r>
              <a:rPr sz="1300" b="0">
                <a:solidFill>
                  <a:srgbClr val="A8B4C8"/>
                </a:solidFill>
                <a:latin typeface="Calibri"/>
              </a:rPr>
              <a:t>      ◦  Every failure mode from Module 1 still applies to ACTIONS:</a:t>
            </a:r>
          </a:p>
          <a:p>
            <a:pPr algn="l">
              <a:spcBef>
                <a:spcPts val="300"/>
              </a:spcBef>
            </a:pPr>
            <a:r>
              <a:rPr sz="1300" b="0">
                <a:solidFill>
                  <a:srgbClr val="A8B4C8"/>
                </a:solidFill>
                <a:latin typeface="Calibri"/>
              </a:rPr>
              <a:t>      ◦  It can hallucinate a file path, confidently run the wrong command, produce a different plan on a second run.</a:t>
            </a:r>
          </a:p>
          <a:p>
            <a:pPr algn="l">
              <a:spcBef>
                <a:spcPts val="300"/>
              </a:spcBef>
            </a:pPr>
            <a:r>
              <a:rPr sz="1300" b="0">
                <a:solidFill>
                  <a:srgbClr val="A8B4C8"/>
                </a:solidFill>
                <a:latin typeface="Calibri"/>
              </a:rPr>
              <a:t>      ◦  Tool calls are how the operator catches all three before damage.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Tools are your audit trail. The agent read THAT file, ran THAT test, wrote THAT content. You can trace every step — impossible with pure text generation. That is what makes an agent's product defensible.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An agent tells you it verified that your export script produces correctly formatted output.
Scenario one: it reviewed a description you pasted and said it looks correct.
Scenario two: it called a read tool on the actual output file and checked it against the template.
Which scenario gives you a defensible product? Why?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Trace the Tool-Call Loop</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In Claude Code, ask: 'What is in my current directory?' Watch it call the list tool and return real results — not a guess.</a:t>
            </a:r>
          </a:p>
          <a:p>
            <a:pPr algn="l">
              <a:spcBef>
                <a:spcPts val="1000"/>
              </a:spcBef>
            </a:pPr>
            <a:r>
              <a:rPr sz="1400" b="0">
                <a:solidFill>
                  <a:srgbClr val="FFFFFF"/>
                </a:solidFill>
                <a:latin typeface="Calibri"/>
              </a:rPr>
              <a:t>  2.   Ask: 'Read [a specific file in your project].' Watch it read the actual file.</a:t>
            </a:r>
          </a:p>
          <a:p>
            <a:pPr algn="l">
              <a:spcBef>
                <a:spcPts val="1000"/>
              </a:spcBef>
            </a:pPr>
            <a:r>
              <a:rPr sz="1400" b="0">
                <a:solidFill>
                  <a:srgbClr val="FFFFFF"/>
                </a:solidFill>
                <a:latin typeface="Calibri"/>
              </a:rPr>
              <a:t>  3.   Ask it to make a small edit. Before it writes, ask: 'What exactly are you going to change, and why?'</a:t>
            </a:r>
          </a:p>
          <a:p>
            <a:pPr algn="l">
              <a:spcBef>
                <a:spcPts val="1000"/>
              </a:spcBef>
            </a:pPr>
            <a:r>
              <a:rPr sz="1400" b="0">
                <a:solidFill>
                  <a:srgbClr val="FFFFFF"/>
                </a:solidFill>
                <a:latin typeface="Calibri"/>
              </a:rPr>
              <a:t>  4.   Verify before you approve. Every action is visible — that is the audit trail.</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tracing each line of a completed action report against a live system readout]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Tool Calls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tool call is a structured request: execute this action, return the result.</a:t>
            </a:r>
          </a:p>
          <a:p>
            <a:pPr algn="l">
              <a:spcBef>
                <a:spcPts val="1400"/>
              </a:spcBef>
            </a:pPr>
            <a:r>
              <a:rPr sz="1600" b="0">
                <a:solidFill>
                  <a:srgbClr val="FFFFFF"/>
                </a:solidFill>
                <a:latin typeface="Calibri"/>
              </a:rPr>
              <a:t>  ›  Four families: reading, writing, executing, thinking.</a:t>
            </a:r>
          </a:p>
          <a:p>
            <a:pPr algn="l">
              <a:spcBef>
                <a:spcPts val="1400"/>
              </a:spcBef>
            </a:pPr>
            <a:r>
              <a:rPr sz="1600" b="0">
                <a:solidFill>
                  <a:srgbClr val="FFFFFF"/>
                </a:solidFill>
                <a:latin typeface="Calibri"/>
              </a:rPr>
              <a:t>  ›  Tools let the agent verify against reality instead of generating from memory.</a:t>
            </a:r>
          </a:p>
          <a:p>
            <a:pPr algn="l">
              <a:spcBef>
                <a:spcPts val="1400"/>
              </a:spcBef>
            </a:pPr>
            <a:r>
              <a:rPr sz="1600" b="0">
                <a:solidFill>
                  <a:srgbClr val="FFFFFF"/>
                </a:solidFill>
                <a:latin typeface="Calibri"/>
              </a:rPr>
              <a:t>  ›  Every tool call is a traceable action — your audit trail and your defense.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Operator
Posture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Delegate clearly, verify the work, own the outcome. The agent is a motivated junior who will confidently fill any gap you leave.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NCO supervising a junior soldier completing a task — reviewing the work before signing off]</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Motivated-Junior Model</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agent is a junior teammate with filesystem access — a motivated PFC handed a mission.</a:t>
            </a:r>
          </a:p>
          <a:p>
            <a:pPr algn="l">
              <a:spcBef>
                <a:spcPts val="700"/>
              </a:spcBef>
            </a:pPr>
            <a:r>
              <a:rPr sz="1500" b="0">
                <a:solidFill>
                  <a:srgbClr val="FFFFFF"/>
                </a:solidFill>
                <a:latin typeface="Calibri"/>
              </a:rPr>
              <a:t>  ›  Capable. Fast. Eager. Executes confidently on an ambiguous brief rather than stopping to ask.</a:t>
            </a:r>
          </a:p>
          <a:p>
            <a:pPr algn="l">
              <a:spcBef>
                <a:spcPts val="700"/>
              </a:spcBef>
            </a:pPr>
            <a:r>
              <a:rPr sz="1500" b="0">
                <a:solidFill>
                  <a:srgbClr val="FFFFFF"/>
                </a:solidFill>
                <a:latin typeface="Calibri"/>
              </a:rPr>
              <a:t>  ›  It executes your intent — including the parts you left implicit.</a:t>
            </a:r>
          </a:p>
          <a:p>
            <a:pPr algn="l">
              <a:spcBef>
                <a:spcPts val="700"/>
              </a:spcBef>
            </a:pPr>
            <a:r>
              <a:rPr sz="1500" b="0">
                <a:solidFill>
                  <a:srgbClr val="FFFFFF"/>
                </a:solidFill>
                <a:latin typeface="Calibri"/>
              </a:rPr>
              <a:t>  ›  Three duties of the operator:</a:t>
            </a:r>
          </a:p>
          <a:p>
            <a:pPr algn="l">
              <a:spcBef>
                <a:spcPts val="300"/>
              </a:spcBef>
            </a:pPr>
            <a:r>
              <a:rPr sz="1300" b="0">
                <a:solidFill>
                  <a:srgbClr val="A8B4C8"/>
                </a:solidFill>
                <a:latin typeface="Calibri"/>
              </a:rPr>
              <a:t>      ◦  Delegate clearly — vague intent produces confident but wrong execution</a:t>
            </a:r>
          </a:p>
          <a:p>
            <a:pPr algn="l">
              <a:spcBef>
                <a:spcPts val="300"/>
              </a:spcBef>
            </a:pPr>
            <a:r>
              <a:rPr sz="1300" b="0">
                <a:solidFill>
                  <a:srgbClr val="A8B4C8"/>
                </a:solidFill>
                <a:latin typeface="Calibri"/>
              </a:rPr>
              <a:t>      ◦  Verify the work — check what it DID, not what it SAID it did</a:t>
            </a:r>
          </a:p>
          <a:p>
            <a:pPr algn="l">
              <a:spcBef>
                <a:spcPts val="300"/>
              </a:spcBef>
            </a:pPr>
            <a:r>
              <a:rPr sz="1300" b="0">
                <a:solidFill>
                  <a:srgbClr val="A8B4C8"/>
                </a:solidFill>
                <a:latin typeface="Calibri"/>
              </a:rPr>
              <a:t>      ◦  Own the outcome — capability does not transfer accountability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Human in the loop means you are positioned to review and approve consequential actions BEFORE they execute. You are the decision point, not a passive observer. Active supervision is the correct posture.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How Supervision Breaks Down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Blind trust — 'It sounds right.' Confident output is not verified output.</a:t>
            </a:r>
          </a:p>
          <a:p>
            <a:pPr algn="l">
              <a:spcBef>
                <a:spcPts val="700"/>
              </a:spcBef>
            </a:pPr>
            <a:r>
              <a:rPr sz="1500" b="0">
                <a:solidFill>
                  <a:srgbClr val="FFFFFF"/>
                </a:solidFill>
                <a:latin typeface="Calibri"/>
              </a:rPr>
              <a:t>  ›  Learned helplessness — 'I can't check this, it's too technical.' You don't replicate the work; you check whether it makes sense.</a:t>
            </a:r>
          </a:p>
          <a:p>
            <a:pPr algn="l">
              <a:spcBef>
                <a:spcPts val="700"/>
              </a:spcBef>
            </a:pPr>
            <a:r>
              <a:rPr sz="1500" b="0">
                <a:solidFill>
                  <a:srgbClr val="FFFFFF"/>
                </a:solidFill>
                <a:latin typeface="Calibri"/>
              </a:rPr>
              <a:t>  ›  Three recognizable failure modes:</a:t>
            </a:r>
          </a:p>
          <a:p>
            <a:pPr algn="l">
              <a:spcBef>
                <a:spcPts val="300"/>
              </a:spcBef>
            </a:pPr>
            <a:r>
              <a:rPr sz="1300" b="0">
                <a:solidFill>
                  <a:srgbClr val="A8B4C8"/>
                </a:solidFill>
                <a:latin typeface="Calibri"/>
              </a:rPr>
              <a:t>      ◦  Over-trust — sweeping change, no review for hours, 20 surprises</a:t>
            </a:r>
          </a:p>
          <a:p>
            <a:pPr algn="l">
              <a:spcBef>
                <a:spcPts val="300"/>
              </a:spcBef>
            </a:pPr>
            <a:r>
              <a:rPr sz="1300" b="0">
                <a:solidFill>
                  <a:srgbClr val="A8B4C8"/>
                </a:solidFill>
                <a:latin typeface="Calibri"/>
              </a:rPr>
              <a:t>      ◦  Under-involvement — vague ask, agent guesses, 10 wasted iterations</a:t>
            </a:r>
          </a:p>
          <a:p>
            <a:pPr algn="l">
              <a:spcBef>
                <a:spcPts val="300"/>
              </a:spcBef>
            </a:pPr>
            <a:r>
              <a:rPr sz="1300" b="0">
                <a:solidFill>
                  <a:srgbClr val="A8B4C8"/>
                </a:solidFill>
                <a:latin typeface="Calibri"/>
              </a:rPr>
              <a:t>      ◦  Automation fallacy — chained steps, one fails silently, broken code ships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DANGER — If you don't understand it, don't approve it. If the agent says 'I'll refactor the schema' and you don't understand the change, ask it to explain first. You are the operator. You are responsible.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Delegate-Verify-Own Loop</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Delegate — write a clear brief: who you are, what you need, what good looks like, what is off-limits.</a:t>
            </a:r>
          </a:p>
          <a:p>
            <a:pPr algn="l">
              <a:spcBef>
                <a:spcPts val="700"/>
              </a:spcBef>
            </a:pPr>
            <a:r>
              <a:rPr sz="1500" b="0">
                <a:solidFill>
                  <a:srgbClr val="FFFFFF"/>
                </a:solidFill>
                <a:latin typeface="Calibri"/>
              </a:rPr>
              <a:t>  ›  Verify — check the actual output, not the narration.</a:t>
            </a:r>
          </a:p>
          <a:p>
            <a:pPr algn="l">
              <a:spcBef>
                <a:spcPts val="700"/>
              </a:spcBef>
            </a:pPr>
            <a:r>
              <a:rPr sz="1500" b="0">
                <a:solidFill>
                  <a:srgbClr val="FFFFFF"/>
                </a:solidFill>
                <a:latin typeface="Calibri"/>
              </a:rPr>
              <a:t>  ›  Own — if something is wrong, catch it, fix it, note what to specify more precisely next time.</a:t>
            </a:r>
          </a:p>
          <a:p>
            <a:pPr algn="l">
              <a:spcBef>
                <a:spcPts val="300"/>
              </a:spcBef>
            </a:pPr>
            <a:r>
              <a:rPr sz="1300" b="0">
                <a:solidFill>
                  <a:srgbClr val="A8B4C8"/>
                </a:solidFill>
                <a:latin typeface="Calibri"/>
              </a:rPr>
              <a:t>      ◦  The primary lever for steering an agent is a context file:</a:t>
            </a:r>
          </a:p>
          <a:p>
            <a:pPr algn="l">
              <a:spcBef>
                <a:spcPts val="300"/>
              </a:spcBef>
            </a:pPr>
            <a:r>
              <a:rPr sz="1300" b="0">
                <a:solidFill>
                  <a:srgbClr val="A8B4C8"/>
                </a:solidFill>
                <a:latin typeface="Calibri"/>
              </a:rPr>
              <a:t>      ◦  CLAUDE.md / me.md bake in 'do not delete anything', 'show the plan first', and your unit's conventions — full treatment in Module 10.</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'verify after acting' reflex is the one habit allowed to spiral: introduced in Terminal, reinforced here, graded in the capstone. Optimize for the loop, not the polish.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An agent has been running a long session and proposes to 'clean up the database by removing duplicate records.' It sounds reasonable.
What do you ask before approving?
What could go wrong if you approve without reviewing?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Run the Loop Once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Give the agent (or chatbot) a small, real task.</a:t>
            </a:r>
          </a:p>
          <a:p>
            <a:pPr algn="l">
              <a:spcBef>
                <a:spcPts val="1000"/>
              </a:spcBef>
            </a:pPr>
            <a:r>
              <a:rPr sz="1400" b="0">
                <a:solidFill>
                  <a:srgbClr val="FFFFFF"/>
                </a:solidFill>
                <a:latin typeface="Calibri"/>
              </a:rPr>
              <a:t>  2.   Delegate: write a clear brief — who you are, what you need, what good output looks like, what is off-limits.</a:t>
            </a:r>
          </a:p>
          <a:p>
            <a:pPr algn="l">
              <a:spcBef>
                <a:spcPts val="1000"/>
              </a:spcBef>
            </a:pPr>
            <a:r>
              <a:rPr sz="1400" b="0">
                <a:solidFill>
                  <a:srgbClr val="FFFFFF"/>
                </a:solidFill>
                <a:latin typeface="Calibri"/>
              </a:rPr>
              <a:t>  3.   Submit it. Read the output.</a:t>
            </a:r>
          </a:p>
          <a:p>
            <a:pPr algn="l">
              <a:spcBef>
                <a:spcPts val="1000"/>
              </a:spcBef>
            </a:pPr>
            <a:r>
              <a:rPr sz="1400" b="0">
                <a:solidFill>
                  <a:srgbClr val="FFFFFF"/>
                </a:solidFill>
                <a:latin typeface="Calibri"/>
              </a:rPr>
              <a:t>  4.   Verify: does it do what you asked? Any assumption you didn't authorize? Anything wrong?</a:t>
            </a:r>
          </a:p>
          <a:p>
            <a:pPr algn="l">
              <a:spcBef>
                <a:spcPts val="1000"/>
              </a:spcBef>
            </a:pPr>
            <a:r>
              <a:rPr sz="1400" b="0">
                <a:solidFill>
                  <a:srgbClr val="FFFFFF"/>
                </a:solidFill>
                <a:latin typeface="Calibri"/>
              </a:rPr>
              <a:t>  5.   Own: correct it, and identify what you should have specified more precisely.</a:t>
            </a:r>
          </a:p>
          <a:p>
            <a:pPr algn="l">
              <a:spcBef>
                <a:spcPts val="1000"/>
              </a:spcBef>
            </a:pPr>
            <a:r>
              <a:rPr sz="1400" b="0">
                <a:solidFill>
                  <a:srgbClr val="FFFFFF"/>
                </a:solidFill>
                <a:latin typeface="Calibri"/>
              </a:rPr>
              <a:t>  6.   Label your first brief: over-trust, under-involvement, or automation fallacy?</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NCO with a clipboard reviewing a junior soldier's completed work before signing off at a command post]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Operator Posture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agent is a motivated junior — capable, fast, and assumption-prone.</a:t>
            </a:r>
          </a:p>
          <a:p>
            <a:pPr algn="l">
              <a:spcBef>
                <a:spcPts val="1400"/>
              </a:spcBef>
            </a:pPr>
            <a:r>
              <a:rPr sz="1600" b="0">
                <a:solidFill>
                  <a:srgbClr val="FFFFFF"/>
                </a:solidFill>
                <a:latin typeface="Calibri"/>
              </a:rPr>
              <a:t>  ›  Three duties: delegate clearly, verify the work, own the outcome.</a:t>
            </a:r>
          </a:p>
          <a:p>
            <a:pPr algn="l">
              <a:spcBef>
                <a:spcPts val="1400"/>
              </a:spcBef>
            </a:pPr>
            <a:r>
              <a:rPr sz="1600" b="0">
                <a:solidFill>
                  <a:srgbClr val="FFFFFF"/>
                </a:solidFill>
                <a:latin typeface="Calibri"/>
              </a:rPr>
              <a:t>  ›  Blind trust and learned helplessness are both failure modes — check the work.</a:t>
            </a:r>
          </a:p>
          <a:p>
            <a:pPr algn="l">
              <a:spcBef>
                <a:spcPts val="1400"/>
              </a:spcBef>
            </a:pPr>
            <a:r>
              <a:rPr sz="1600" b="0">
                <a:solidFill>
                  <a:srgbClr val="FFFFFF"/>
                </a:solidFill>
                <a:latin typeface="Calibri"/>
              </a:rPr>
              <a:t>  ›  Context files (CLAUDE.md / me.md) are your primary steering lever — see Module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Worked
Examples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Harness, tool calls, and operator posture fire together on every real task. These intel-shop scenarios show defensible vs. pulled products.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After-action review board with soldiers analyzing an operation log at a conference table]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1 — The Harness Makes Output Traceable</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Build an intelligence summary from a folder of raw sources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WITHOUT THE HARNESS:</a:t>
            </a:r>
          </a:p>
          <a:p>
            <a:pPr algn="l">
              <a:spcBef>
                <a:spcPts val="300"/>
              </a:spcBef>
            </a:pPr>
            <a:r>
              <a:rPr sz="1200" b="0">
                <a:solidFill>
                  <a:srgbClr val="A8B4C8"/>
                </a:solidFill>
                <a:latin typeface="Calibri"/>
              </a:rPr>
              <a:t>  'Write a summary of adversary logistics activity.'</a:t>
            </a:r>
          </a:p>
          <a:p>
            <a:pPr algn="l">
              <a:spcBef>
                <a:spcPts val="300"/>
              </a:spcBef>
            </a:pPr>
            <a:r>
              <a:rPr sz="1200" b="0">
                <a:solidFill>
                  <a:srgbClr val="A8B4C8"/>
                </a:solidFill>
                <a:latin typeface="Calibri"/>
              </a:rPr>
              <a:t>  Engine generates from training data. A reviewer flags two claims</a:t>
            </a:r>
          </a:p>
          <a:p>
            <a:pPr algn="l">
              <a:spcBef>
                <a:spcPts val="300"/>
              </a:spcBef>
            </a:pPr>
            <a:r>
              <a:rPr sz="1200" b="0">
                <a:solidFill>
                  <a:srgbClr val="A8B4C8"/>
                </a:solidFill>
                <a:latin typeface="Calibri"/>
              </a:rPr>
              <a:t>  not in your sources. You cannot trace them. The brief is pulled.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WITH THE HARNESS:</a:t>
            </a:r>
          </a:p>
          <a:p>
            <a:pPr algn="l">
              <a:spcBef>
                <a:spcPts val="300"/>
              </a:spcBef>
            </a:pPr>
            <a:r>
              <a:rPr sz="1200" b="0">
                <a:solidFill>
                  <a:srgbClr val="A8B4C8"/>
                </a:solidFill>
                <a:latin typeface="Calibri"/>
              </a:rPr>
              <a:t>  'Read /reports/AO-North/ and base the summary only on those files.'</a:t>
            </a:r>
          </a:p>
          <a:p>
            <a:pPr algn="l">
              <a:spcBef>
                <a:spcPts val="300"/>
              </a:spcBef>
            </a:pPr>
            <a:r>
              <a:rPr sz="1200" b="0">
                <a:solidFill>
                  <a:srgbClr val="A8B4C8"/>
                </a:solidFill>
                <a:latin typeface="Calibri"/>
              </a:rPr>
              <a:t>  Agent lists 14 files, reads each, excludes 3 with no logistics</a:t>
            </a:r>
          </a:p>
          <a:p>
            <a:pPr algn="l">
              <a:spcBef>
                <a:spcPts val="300"/>
              </a:spcBef>
            </a:pPr>
            <a:r>
              <a:rPr sz="1200" b="0">
                <a:solidFill>
                  <a:srgbClr val="A8B4C8"/>
                </a:solidFill>
                <a:latin typeface="Calibri"/>
              </a:rPr>
              <a:t>  content, returns a summary with source citations by filename.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WHY IT MATTERS:</a:t>
            </a:r>
          </a:p>
          <a:p>
            <a:pPr algn="l">
              <a:spcBef>
                <a:spcPts val="300"/>
              </a:spcBef>
            </a:pPr>
            <a:r>
              <a:rPr sz="1200" b="0">
                <a:solidFill>
                  <a:srgbClr val="A8B4C8"/>
                </a:solidFill>
                <a:latin typeface="Calibri"/>
              </a:rPr>
              <a:t>  First output may be accurate or hallucinated — you can't tell.</a:t>
            </a:r>
          </a:p>
          <a:p>
            <a:pPr algn="l">
              <a:spcBef>
                <a:spcPts val="300"/>
              </a:spcBef>
            </a:pPr>
            <a:r>
              <a:rPr sz="1200" b="0">
                <a:solidFill>
                  <a:srgbClr val="A8B4C8"/>
                </a:solidFill>
                <a:latin typeface="Calibri"/>
              </a:rPr>
              <a:t>  Second is traceable to actual sources. Every claim defensible.</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Analyst cross-checking a finished summary against a stack of source documents, each claim tagged to a filename]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2 — Smart Sampling Beats a Data Dump</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500 field reports; find every mention of grid 38SMB4521</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BAD APPROACH:</a:t>
            </a:r>
          </a:p>
          <a:p>
            <a:pPr algn="l">
              <a:spcBef>
                <a:spcPts val="300"/>
              </a:spcBef>
            </a:pPr>
            <a:r>
              <a:rPr sz="1200" b="0">
                <a:solidFill>
                  <a:srgbClr val="A8B4C8"/>
                </a:solidFill>
                <a:latin typeface="Calibri"/>
              </a:rPr>
              <a:t>  Paste all 500 reports (100,000 tokens) and ask it to find every mention.</a:t>
            </a:r>
          </a:p>
          <a:p>
            <a:pPr algn="l">
              <a:spcBef>
                <a:spcPts val="300"/>
              </a:spcBef>
            </a:pPr>
            <a:r>
              <a:rPr sz="1200" b="0">
                <a:solidFill>
                  <a:srgbClr val="A8B4C8"/>
                </a:solidFill>
                <a:latin typeface="Calibri"/>
              </a:rPr>
              <a:t>  Agent is overwhelmed, loses track, returns incomplete, unverifiable results.</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GOOD APPROACH:</a:t>
            </a:r>
          </a:p>
          <a:p>
            <a:pPr algn="l">
              <a:spcBef>
                <a:spcPts val="300"/>
              </a:spcBef>
            </a:pPr>
            <a:r>
              <a:rPr sz="1200" b="0">
                <a:solidFill>
                  <a:srgbClr val="A8B4C8"/>
                </a:solidFill>
                <a:latin typeface="Calibri"/>
              </a:rPr>
              <a:t>  'Search /reports/field/ and return every mention with source filenames.'</a:t>
            </a:r>
          </a:p>
          <a:p>
            <a:pPr algn="l">
              <a:spcBef>
                <a:spcPts val="300"/>
              </a:spcBef>
            </a:pPr>
            <a:r>
              <a:rPr sz="1200" b="0">
                <a:solidFill>
                  <a:srgbClr val="A8B4C8"/>
                </a:solidFill>
                <a:latin typeface="Calibri"/>
              </a:rPr>
              <a:t>  Agent runs find, then grep (7 matching files), reads only those:</a:t>
            </a:r>
          </a:p>
          <a:p>
            <a:pPr algn="l">
              <a:spcBef>
                <a:spcPts val="300"/>
              </a:spcBef>
            </a:pPr>
            <a:r>
              <a:rPr sz="1200" b="0">
                <a:solidFill>
                  <a:srgbClr val="A8B4C8"/>
                </a:solidFill>
                <a:latin typeface="Calibri"/>
              </a:rPr>
              <a:t>  '9 mentions across 7 reports. Three are the same 72-hour window from</a:t>
            </a:r>
          </a:p>
          <a:p>
            <a:pPr algn="l">
              <a:spcBef>
                <a:spcPts val="300"/>
              </a:spcBef>
            </a:pPr>
            <a:r>
              <a:rPr sz="1200" b="0">
                <a:solidFill>
                  <a:srgbClr val="A8B4C8"/>
                </a:solidFill>
                <a:latin typeface="Calibri"/>
              </a:rPr>
              <a:t>   different collection sources.'</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WHY IT MATTERS:</a:t>
            </a:r>
          </a:p>
          <a:p>
            <a:pPr algn="l">
              <a:spcBef>
                <a:spcPts val="300"/>
              </a:spcBef>
            </a:pPr>
            <a:r>
              <a:rPr sz="1200" b="0">
                <a:solidFill>
                  <a:srgbClr val="A8B4C8"/>
                </a:solidFill>
                <a:latin typeface="Calibri"/>
              </a:rPr>
              <a:t>  Bad: 100,000 tokens, unverifiable coverage.</a:t>
            </a:r>
          </a:p>
          <a:p>
            <a:pPr algn="l">
              <a:spcBef>
                <a:spcPts val="300"/>
              </a:spcBef>
            </a:pPr>
            <a:r>
              <a:rPr sz="1200" b="0">
                <a:solidFill>
                  <a:srgbClr val="A8B4C8"/>
                </a:solidFill>
                <a:latin typeface="Calibri"/>
              </a:rPr>
              <a:t>  Good: ~10,000 tokens, complete and traceable coverage.</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 running a targeted search across a digital report archive, seven files highlighted out of hundreds]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3 — Supervision Prevents a Bad Product</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Draft and format a SITREP from unstructured notes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WITHOUT SUPERVISION (over-trust):</a:t>
            </a:r>
          </a:p>
          <a:p>
            <a:pPr algn="l">
              <a:spcBef>
                <a:spcPts val="300"/>
              </a:spcBef>
            </a:pPr>
            <a:r>
              <a:rPr sz="1200" b="0">
                <a:solidFill>
                  <a:srgbClr val="A8B4C8"/>
                </a:solidFill>
                <a:latin typeface="Calibri"/>
              </a:rPr>
              <a:t>  'Draft a SITREP from my notes.'</a:t>
            </a:r>
          </a:p>
          <a:p>
            <a:pPr algn="l">
              <a:spcBef>
                <a:spcPts val="300"/>
              </a:spcBef>
            </a:pPr>
            <a:r>
              <a:rPr sz="1200" b="0">
                <a:solidFill>
                  <a:srgbClr val="A8B4C8"/>
                </a:solidFill>
                <a:latin typeface="Calibri"/>
              </a:rPr>
              <a:t>  Agent infers details not in the notes. You submit. It includes a</a:t>
            </a:r>
          </a:p>
          <a:p>
            <a:pPr algn="l">
              <a:spcBef>
                <a:spcPts val="300"/>
              </a:spcBef>
            </a:pPr>
            <a:r>
              <a:rPr sz="1200" b="0">
                <a:solidFill>
                  <a:srgbClr val="A8B4C8"/>
                </a:solidFill>
                <a:latin typeface="Calibri"/>
              </a:rPr>
              <a:t>  casualty figure it inferred — not in your notes, not accurate.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WITH SUPERVISION:</a:t>
            </a:r>
          </a:p>
          <a:p>
            <a:pPr algn="l">
              <a:spcBef>
                <a:spcPts val="300"/>
              </a:spcBef>
            </a:pPr>
            <a:r>
              <a:rPr sz="1200" b="0">
                <a:solidFill>
                  <a:srgbClr val="A8B4C8"/>
                </a:solidFill>
                <a:latin typeface="Calibri"/>
              </a:rPr>
              <a:t>  'Draft from /notes/0600-update.txt. Use only that file. Flag any</a:t>
            </a:r>
          </a:p>
          <a:p>
            <a:pPr algn="l">
              <a:spcBef>
                <a:spcPts val="300"/>
              </a:spcBef>
            </a:pPr>
            <a:r>
              <a:rPr sz="1200" b="0">
                <a:solidFill>
                  <a:srgbClr val="A8B4C8"/>
                </a:solidFill>
                <a:latin typeface="Calibri"/>
              </a:rPr>
              <a:t>   required field you cannot fill from the source.'</a:t>
            </a:r>
          </a:p>
          <a:p>
            <a:pPr algn="l">
              <a:spcBef>
                <a:spcPts val="300"/>
              </a:spcBef>
            </a:pPr>
            <a:r>
              <a:rPr sz="1200" b="0">
                <a:solidFill>
                  <a:srgbClr val="A8B4C8"/>
                </a:solidFill>
                <a:latin typeface="Calibri"/>
              </a:rPr>
              <a:t>  Agent: 'Could not fill friendly count (Sect 3), next report period</a:t>
            </a:r>
          </a:p>
          <a:p>
            <a:pPr algn="l">
              <a:spcBef>
                <a:spcPts val="300"/>
              </a:spcBef>
            </a:pPr>
            <a:r>
              <a:rPr sz="1200" b="0">
                <a:solidFill>
                  <a:srgbClr val="A8B4C8"/>
                </a:solidFill>
                <a:latin typeface="Calibri"/>
              </a:rPr>
              <a:t>  (Sect 6) — flagged [REQUIRED - NOT IN SOURCE]. Do not submit yet.'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WHY IT MATTERS:</a:t>
            </a:r>
          </a:p>
          <a:p>
            <a:pPr algn="l">
              <a:spcBef>
                <a:spcPts val="300"/>
              </a:spcBef>
            </a:pPr>
            <a:r>
              <a:rPr sz="1200" b="0">
                <a:solidFill>
                  <a:srgbClr val="A8B4C8"/>
                </a:solidFill>
                <a:latin typeface="Calibri"/>
              </a:rPr>
              <a:t>  Supervision keeps YOU in control of what enters the product.</a:t>
            </a:r>
          </a:p>
          <a:p>
            <a:pPr algn="l">
              <a:spcBef>
                <a:spcPts val="300"/>
              </a:spcBef>
            </a:pPr>
            <a:r>
              <a:rPr sz="1200" b="0">
                <a:solidFill>
                  <a:srgbClr val="A8B4C8"/>
                </a:solidFill>
                <a:latin typeface="Calibri"/>
              </a:rPr>
              <a:t>  The agent flags gaps instead of inventing answers.</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NCO reviewing a draft SITREP with two fields visibly flagged 'REQUIRED - NOT IN SOURCE' before release]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receive an intelligence summary from an agent with three confident claims about adversary activity. You cannot tell whether they came from source documents it read or from training-data pattern-matching.
What do you do before including the summary in a product — and which of the three examples is the template for doing it right?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Worked Examples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tool-grounded summary is defensible; a generated one is not.</a:t>
            </a:r>
          </a:p>
          <a:p>
            <a:pPr algn="l">
              <a:spcBef>
                <a:spcPts val="1400"/>
              </a:spcBef>
            </a:pPr>
            <a:r>
              <a:rPr sz="1600" b="0">
                <a:solidFill>
                  <a:srgbClr val="FFFFFF"/>
                </a:solidFill>
                <a:latin typeface="Calibri"/>
              </a:rPr>
              <a:t>  ›  Searching beats pasting for a large collection of files.</a:t>
            </a:r>
          </a:p>
          <a:p>
            <a:pPr algn="l">
              <a:spcBef>
                <a:spcPts val="1400"/>
              </a:spcBef>
            </a:pPr>
            <a:r>
              <a:rPr sz="1600" b="0">
                <a:solidFill>
                  <a:srgbClr val="FFFFFF"/>
                </a:solidFill>
                <a:latin typeface="Calibri"/>
              </a:rPr>
              <a:t>  ›  Supervision stops an agent from inventing content in a product.</a:t>
            </a:r>
          </a:p>
          <a:p>
            <a:pPr algn="l">
              <a:spcBef>
                <a:spcPts val="1400"/>
              </a:spcBef>
            </a:pPr>
            <a:r>
              <a:rPr sz="1600" b="0">
                <a:solidFill>
                  <a:srgbClr val="FFFFFF"/>
                </a:solidFill>
                <a:latin typeface="Calibri"/>
              </a:rPr>
              <a:t>  ›  Shared pattern: ground in real files, verify with tools, keep the operator deciding.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Identify the
Mental Models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Read a real transcript and name which models are in play — harness, tool calls, operator posture. That proves the concepts are habits, not vocabulary.</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Instructor and students reviewing a printed terminal transcript, annotating it section by section]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Transcript</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Identify the model(s) in play in each section before checking answers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[SECTION A]</a:t>
            </a:r>
          </a:p>
          <a:p>
            <a:pPr algn="l">
              <a:spcBef>
                <a:spcPts val="300"/>
              </a:spcBef>
            </a:pPr>
            <a:r>
              <a:rPr sz="1200" b="0">
                <a:solidFill>
                  <a:srgbClr val="A8B4C8"/>
                </a:solidFill>
                <a:latin typeface="Calibri"/>
              </a:rPr>
              <a:t>  Dev pastes 2,000 tokens of payment code: 'What's wrong?'</a:t>
            </a:r>
          </a:p>
          <a:p>
            <a:pPr algn="l">
              <a:spcBef>
                <a:spcPts val="300"/>
              </a:spcBef>
            </a:pPr>
            <a:r>
              <a:rPr sz="1200" b="0">
                <a:solidFill>
                  <a:srgbClr val="A8B4C8"/>
                </a:solidFill>
                <a:latin typeface="Calibri"/>
              </a:rPr>
              <a:t>  Agent proposes a try-catch fix. Dev: 'Thanks, I'll test it later.'</a:t>
            </a:r>
          </a:p>
          <a:p>
            <a:pPr algn="l">
              <a:spcBef>
                <a:spcPts val="300"/>
              </a:spcBef>
            </a:pPr>
            <a:r>
              <a:rPr sz="1200" b="0">
                <a:solidFill>
                  <a:srgbClr val="A8B4C8"/>
                </a:solidFill>
                <a:latin typeface="Calibri"/>
              </a:rPr>
              <a:t>  [Leaves. The fix doesn't handle all edge cases.]</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[SECTION B]</a:t>
            </a:r>
          </a:p>
          <a:p>
            <a:pPr algn="l">
              <a:spcBef>
                <a:spcPts val="300"/>
              </a:spcBef>
            </a:pPr>
            <a:r>
              <a:rPr sz="1200" b="0">
                <a:solidFill>
                  <a:srgbClr val="A8B4C8"/>
                </a:solidFill>
                <a:latin typeface="Calibri"/>
              </a:rPr>
              <a:t>  Dev: 'Read /src/payment.js and identify the silent-timeout bug.'</a:t>
            </a:r>
          </a:p>
          <a:p>
            <a:pPr algn="l">
              <a:spcBef>
                <a:spcPts val="300"/>
              </a:spcBef>
            </a:pPr>
            <a:r>
              <a:rPr sz="1200" b="0">
                <a:solidFill>
                  <a:srgbClr val="A8B4C8"/>
                </a:solidFill>
                <a:latin typeface="Calibri"/>
              </a:rPr>
              <a:t>  Agent reads the file, writes the fix, runs npm test: all pass.</a:t>
            </a:r>
          </a:p>
          <a:p>
            <a:pPr algn="l">
              <a:spcBef>
                <a:spcPts val="300"/>
              </a:spcBef>
            </a:pPr>
            <a:r>
              <a:rPr sz="1200" b="0">
                <a:solidFill>
                  <a:srgbClr val="A8B4C8"/>
                </a:solidFill>
                <a:latin typeface="Calibri"/>
              </a:rPr>
              <a:t>  Dev: 'Great. Merge it.'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[SECTION C]</a:t>
            </a:r>
          </a:p>
          <a:p>
            <a:pPr algn="l">
              <a:spcBef>
                <a:spcPts val="300"/>
              </a:spcBef>
            </a:pPr>
            <a:r>
              <a:rPr sz="1200" b="0">
                <a:solidFill>
                  <a:srgbClr val="A8B4C8"/>
                </a:solidFill>
                <a:latin typeface="Calibri"/>
              </a:rPr>
              <a:t>  Dev shares schema + slow query. Agent finds a missing index,</a:t>
            </a:r>
          </a:p>
          <a:p>
            <a:pPr algn="l">
              <a:spcBef>
                <a:spcPts val="300"/>
              </a:spcBef>
            </a:pPr>
            <a:r>
              <a:rPr sz="1200" b="0">
                <a:solidFill>
                  <a:srgbClr val="A8B4C8"/>
                </a:solidFill>
                <a:latin typeface="Calibri"/>
              </a:rPr>
              <a:t>  writes a migration, runs it, benchmarks: 5000ms -&gt; 200ms.</a:t>
            </a:r>
          </a:p>
          <a:p>
            <a:pPr algn="l">
              <a:spcBef>
                <a:spcPts val="300"/>
              </a:spcBef>
            </a:pPr>
            <a:r>
              <a:rPr sz="1200" b="0">
                <a:solidFill>
                  <a:srgbClr val="A8B4C8"/>
                </a:solidFill>
                <a:latin typeface="Calibri"/>
              </a:rPr>
              <a:t>  Dev asks production impact first, THEN: 'Approved. Ship it.'</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Three-panel terminal transcript pinned to a board, each panel tagged A, B, and 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Model Answers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Section A — VIOLATIONS:</a:t>
            </a:r>
          </a:p>
          <a:p>
            <a:pPr algn="l">
              <a:spcBef>
                <a:spcPts val="300"/>
              </a:spcBef>
            </a:pPr>
            <a:r>
              <a:rPr sz="1300" b="0">
                <a:solidFill>
                  <a:srgbClr val="A8B4C8"/>
                </a:solidFill>
                <a:latin typeface="Calibri"/>
              </a:rPr>
              <a:t>      ◦  Harness unused; no tool calls means no verification (a guess); operator under-involved; pasting beats reading the file</a:t>
            </a:r>
          </a:p>
          <a:p>
            <a:pPr algn="l">
              <a:spcBef>
                <a:spcPts val="700"/>
              </a:spcBef>
            </a:pPr>
            <a:r>
              <a:rPr sz="1500" b="0">
                <a:solidFill>
                  <a:srgbClr val="FFFFFF"/>
                </a:solidFill>
                <a:latin typeface="Calibri"/>
              </a:rPr>
              <a:t>  ›  Section B — CORRECT USE:</a:t>
            </a:r>
          </a:p>
          <a:p>
            <a:pPr algn="l">
              <a:spcBef>
                <a:spcPts val="300"/>
              </a:spcBef>
            </a:pPr>
            <a:r>
              <a:rPr sz="1300" b="0">
                <a:solidFill>
                  <a:srgbClr val="A8B4C8"/>
                </a:solidFill>
                <a:latin typeface="Calibri"/>
              </a:rPr>
              <a:t>      ◦  Harness works (read, write, test); tool calls verify; operator supervised and approved after a real result</a:t>
            </a:r>
          </a:p>
          <a:p>
            <a:pPr algn="l">
              <a:spcBef>
                <a:spcPts val="700"/>
              </a:spcBef>
            </a:pPr>
            <a:r>
              <a:rPr sz="1500" b="0">
                <a:solidFill>
                  <a:srgbClr val="FFFFFF"/>
                </a:solidFill>
                <a:latin typeface="Calibri"/>
              </a:rPr>
              <a:t>  ›  Section C — FULL STACK:</a:t>
            </a:r>
          </a:p>
          <a:p>
            <a:pPr algn="l">
              <a:spcBef>
                <a:spcPts val="300"/>
              </a:spcBef>
            </a:pPr>
            <a:r>
              <a:rPr sz="1300" b="0">
                <a:solidFill>
                  <a:srgbClr val="A8B4C8"/>
                </a:solidFill>
                <a:latin typeface="Calibri"/>
              </a:rPr>
              <a:t>      ◦  Smart sampling (schema + query, not whole DB); supervision (asks before approving); tool-call verification; cost-conscious iteration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win is naming the models on demand — the bridge from 'I read about this' to 'I do this.' Get comfortable saying them out loud in a session.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In Section A, the agent proposes a fix without reading the file or running tests.
Which model is most directly violated — and in one sentence, what single change in Section B turned the outcome around?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Name the Models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Re-read Sections A, B, and C in the markdown.</a:t>
            </a:r>
          </a:p>
          <a:p>
            <a:pPr algn="l">
              <a:spcBef>
                <a:spcPts val="1000"/>
              </a:spcBef>
            </a:pPr>
            <a:r>
              <a:rPr sz="1400" b="0">
                <a:solidFill>
                  <a:srgbClr val="FFFFFF"/>
                </a:solidFill>
                <a:latin typeface="Calibri"/>
              </a:rPr>
              <a:t>  2.   For each, write down which model(s) are in play and what was done right or wrong.</a:t>
            </a:r>
          </a:p>
          <a:p>
            <a:pPr algn="l">
              <a:spcBef>
                <a:spcPts val="1000"/>
              </a:spcBef>
            </a:pPr>
            <a:r>
              <a:rPr sz="1400" b="0">
                <a:solidFill>
                  <a:srgbClr val="FFFFFF"/>
                </a:solidFill>
                <a:latin typeface="Calibri"/>
              </a:rPr>
              <a:t>  3.   Open the model answers and compare against your own.</a:t>
            </a:r>
          </a:p>
          <a:p>
            <a:pPr algn="l">
              <a:spcBef>
                <a:spcPts val="1000"/>
              </a:spcBef>
            </a:pPr>
            <a:r>
              <a:rPr sz="1400" b="0">
                <a:solidFill>
                  <a:srgbClr val="FFFFFF"/>
                </a:solidFill>
                <a:latin typeface="Calibri"/>
              </a:rPr>
              <a:t>  4.   In your next real session, name a model out loud as you use it: 'I'm using the harness now'; 'I'm supervising now.'</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annotating a transcript with model names in the margin]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Identify the Mental Models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You can read a transcript and name which models are in play.</a:t>
            </a:r>
          </a:p>
          <a:p>
            <a:pPr algn="l">
              <a:spcBef>
                <a:spcPts val="1400"/>
              </a:spcBef>
            </a:pPr>
            <a:r>
              <a:rPr sz="1600" b="0">
                <a:solidFill>
                  <a:srgbClr val="FFFFFF"/>
                </a:solidFill>
                <a:latin typeface="Calibri"/>
              </a:rPr>
              <a:t>  ›  You can spot a violated model and state the fix.</a:t>
            </a:r>
          </a:p>
          <a:p>
            <a:pPr algn="l">
              <a:spcBef>
                <a:spcPts val="1400"/>
              </a:spcBef>
            </a:pPr>
            <a:r>
              <a:rPr sz="1600" b="0">
                <a:solidFill>
                  <a:srgbClr val="FFFFFF"/>
                </a:solidFill>
                <a:latin typeface="Calibri"/>
              </a:rPr>
              <a:t>  ›  The harness changes an outcome from 'guess' to 'verified.'</a:t>
            </a:r>
          </a:p>
          <a:p>
            <a:pPr algn="l">
              <a:spcBef>
                <a:spcPts val="1400"/>
              </a:spcBef>
            </a:pPr>
            <a:r>
              <a:rPr sz="1600" b="0">
                <a:solidFill>
                  <a:srgbClr val="FFFFFF"/>
                </a:solidFill>
                <a:latin typeface="Calibri"/>
              </a:rPr>
              <a:t>  ›  Naming the models out loud is the bridge from concept to habit.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Commanding an Agent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The Harness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Engine + tools = agency</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Without tools the engine is a brain in a jar; with them it acts.</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Engine-Harness-Operator</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Three required parts</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Engine reasons, harness reaches, operator owns. All three or it breaks.</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Tool Calls</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Requests that execute outside the engine</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Verification and an audit trail — hallucinations get caught.</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Operator Posture</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Delegate, verify, own</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You sign for the result. Review before consequential actions.</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Delegate-Verify-Own</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Brief, check, fix and learn</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The whole skill of commanding an agent, run on every task.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state the one-line difference between a chatbot and an agent</a:t>
            </a:r>
          </a:p>
          <a:p>
            <a:pPr algn="l">
              <a:spcBef>
                <a:spcPts val="800"/>
              </a:spcBef>
            </a:pPr>
            <a:r>
              <a:rPr sz="1300" b="0">
                <a:solidFill>
                  <a:srgbClr val="A8B4C8"/>
                </a:solidFill>
                <a:latin typeface="Calibri"/>
              </a:rPr>
              <a:t>  ☐   I can name all three parts of the engine-harness-operator model</a:t>
            </a:r>
          </a:p>
          <a:p>
            <a:pPr algn="l">
              <a:spcBef>
                <a:spcPts val="800"/>
              </a:spcBef>
            </a:pPr>
            <a:r>
              <a:rPr sz="1300" b="0">
                <a:solidFill>
                  <a:srgbClr val="A8B4C8"/>
                </a:solidFill>
                <a:latin typeface="Calibri"/>
              </a:rPr>
              <a:t>  ☐   I can explain what read, write, and execute access means in practice</a:t>
            </a:r>
          </a:p>
          <a:p>
            <a:pPr algn="l">
              <a:spcBef>
                <a:spcPts val="800"/>
              </a:spcBef>
            </a:pPr>
            <a:r>
              <a:rPr sz="1300" b="0">
                <a:solidFill>
                  <a:srgbClr val="A8B4C8"/>
                </a:solidFill>
                <a:latin typeface="Calibri"/>
              </a:rPr>
              <a:t>  ☐   I can explain what a tool call is and why it enables verification</a:t>
            </a:r>
          </a:p>
          <a:p>
            <a:pPr algn="l">
              <a:spcBef>
                <a:spcPts val="800"/>
              </a:spcBef>
            </a:pPr>
            <a:r>
              <a:rPr sz="1300" b="0">
                <a:solidFill>
                  <a:srgbClr val="A8B4C8"/>
                </a:solidFill>
                <a:latin typeface="Calibri"/>
              </a:rPr>
              <a:t>  ☐   I know that an action narrated is not the same as an action verified</a:t>
            </a:r>
          </a:p>
          <a:p>
            <a:pPr algn="l">
              <a:spcBef>
                <a:spcPts val="800"/>
              </a:spcBef>
            </a:pPr>
            <a:r>
              <a:rPr sz="1300" b="0">
                <a:solidFill>
                  <a:srgbClr val="A8B4C8"/>
                </a:solidFill>
                <a:latin typeface="Calibri"/>
              </a:rPr>
              <a:t>  ☐   I can state the three duties of the operator: delegate, verify, own</a:t>
            </a:r>
          </a:p>
          <a:p>
            <a:pPr algn="l">
              <a:spcBef>
                <a:spcPts val="800"/>
              </a:spcBef>
            </a:pPr>
            <a:r>
              <a:rPr sz="1300" b="0">
                <a:solidFill>
                  <a:srgbClr val="A8B4C8"/>
                </a:solidFill>
                <a:latin typeface="Calibri"/>
              </a:rPr>
              <a:t>  ☐   I can name the three ways supervision breaks down and the fix for each</a:t>
            </a:r>
          </a:p>
          <a:p>
            <a:pPr algn="l">
              <a:spcBef>
                <a:spcPts val="800"/>
              </a:spcBef>
            </a:pPr>
            <a:r>
              <a:rPr sz="1300" b="0">
                <a:solidFill>
                  <a:srgbClr val="A8B4C8"/>
                </a:solidFill>
                <a:latin typeface="Calibri"/>
              </a:rPr>
              <a:t>  ☐   I know context files are the primary lever for steering an agent (Module 10)</a:t>
            </a:r>
          </a:p>
          <a:p>
            <a:pPr algn="l">
              <a:spcBef>
                <a:spcPts val="800"/>
              </a:spcBef>
            </a:pPr>
            <a:r>
              <a:rPr sz="1300" b="0">
                <a:solidFill>
                  <a:srgbClr val="A8B4C8"/>
                </a:solidFill>
                <a:latin typeface="Calibri"/>
              </a:rPr>
              <a:t>  ☐   I can read a transcript and name which models are in play</a:t>
            </a:r>
          </a:p>
          <a:p>
            <a:pPr algn="l">
              <a:spcBef>
                <a:spcPts val="800"/>
              </a:spcBef>
            </a:pPr>
            <a:r>
              <a:rPr sz="1300" b="0">
                <a:solidFill>
                  <a:srgbClr val="A8B4C8"/>
                </a:solidFill>
                <a:latin typeface="Calibri"/>
              </a:rPr>
              <a:t>  ☐   I am the commander, not the typist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Commanding
an Agent</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Complete all five hands-on exercises before continuing.</a:t>
            </a:r>
          </a:p>
          <a:p>
            <a:pPr algn="l">
              <a:spcBef>
                <a:spcPts val="1000"/>
              </a:spcBef>
            </a:pPr>
            <a:r>
              <a:rPr sz="1400" b="0">
                <a:solidFill>
                  <a:srgbClr val="A8B4C8"/>
                </a:solidFill>
                <a:latin typeface="Calibri"/>
              </a:rPr>
              <a:t>  2.   In your first Claude Code session, name out loud which access level you grant: read, write, or execute.</a:t>
            </a:r>
          </a:p>
          <a:p>
            <a:pPr algn="l">
              <a:spcBef>
                <a:spcPts val="1000"/>
              </a:spcBef>
            </a:pPr>
            <a:r>
              <a:rPr sz="1400" b="0">
                <a:solidFill>
                  <a:srgbClr val="A8B4C8"/>
                </a:solidFill>
                <a:latin typeface="Calibri"/>
              </a:rPr>
              <a:t>  3.   Before any agentic task: write the brief, verify the real output, own the result.</a:t>
            </a:r>
          </a:p>
          <a:p>
            <a:pPr algn="l">
              <a:spcBef>
                <a:spcPts val="1000"/>
              </a:spcBef>
            </a:pPr>
            <a:r>
              <a:rPr sz="1400" b="0">
                <a:solidFill>
                  <a:srgbClr val="A8B4C8"/>
                </a:solidFill>
                <a:latin typeface="Calibri"/>
              </a:rPr>
              <a:t>  4.   Next — Module 8: tokens, context, and cost (how to spend the agent's ammunition).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